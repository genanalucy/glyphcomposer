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d024f85ded43d8" /><Relationship Type="http://schemas.openxmlformats.org/officeDocument/2006/relationships/extended-properties" Target="/docProps/app.xml" Id="Rb4777393e5ba4fcd" /><Relationship Type="http://schemas.openxmlformats.org/officeDocument/2006/relationships/officeDocument" Target="/ppt/presentation.xml" Id="Rd399caf7074441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636bcaefc54657"/>
  </p:sldMasterIdLst>
  <p:notesMasterIdLst>
    <p:notesMasterId xmlns:r="http://schemas.openxmlformats.org/officeDocument/2006/relationships" r:id="Rfb16c092f4ea4e18"/>
  </p:notesMasterIdLst>
  <p:sldIdLst>
    <p:sldId xmlns:r="http://schemas.openxmlformats.org/officeDocument/2006/relationships" id="256" r:id="R0b1c35fb5e314592"/>
    <p:sldId xmlns:r="http://schemas.openxmlformats.org/officeDocument/2006/relationships" id="257" r:id="Rdebe9a49c91a4fed"/>
    <p:sldId xmlns:r="http://schemas.openxmlformats.org/officeDocument/2006/relationships" id="258" r:id="Rc39b15ecec6c4f36"/>
    <p:sldId xmlns:r="http://schemas.openxmlformats.org/officeDocument/2006/relationships" id="259" r:id="Rcbf91f1963d946e3"/>
    <p:sldId xmlns:r="http://schemas.openxmlformats.org/officeDocument/2006/relationships" id="260" r:id="R0ad97f2596ed460b"/>
    <p:sldId xmlns:r="http://schemas.openxmlformats.org/officeDocument/2006/relationships" id="261" r:id="R17566cbfa9a941a0"/>
    <p:sldId xmlns:r="http://schemas.openxmlformats.org/officeDocument/2006/relationships" id="262" r:id="R5a7ba6a0f31b4222"/>
    <p:sldId xmlns:r="http://schemas.openxmlformats.org/officeDocument/2006/relationships" id="263" r:id="R776b70dec6b04f71"/>
    <p:sldId xmlns:r="http://schemas.openxmlformats.org/officeDocument/2006/relationships" id="264" r:id="R76e71a567142447b"/>
    <p:sldId xmlns:r="http://schemas.openxmlformats.org/officeDocument/2006/relationships" id="265" r:id="R2a8204664e1a45bc"/>
    <p:sldId xmlns:r="http://schemas.openxmlformats.org/officeDocument/2006/relationships" id="266" r:id="Rc56b0e911ea24441"/>
    <p:sldId xmlns:r="http://schemas.openxmlformats.org/officeDocument/2006/relationships" id="267" r:id="R34c3e5595539453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36bcaefc54657" /><Relationship Type="http://schemas.openxmlformats.org/officeDocument/2006/relationships/theme" Target="/ppt/theme/theme1.xml" Id="Rc8ffda47c6a44d81" /><Relationship Type="http://schemas.openxmlformats.org/officeDocument/2006/relationships/notesMaster" Target="/ppt/notesMasters/notesMaster1.xml" Id="Rfb16c092f4ea4e18" /><Relationship Type="http://schemas.openxmlformats.org/officeDocument/2006/relationships/presProps" Target="/ppt/presProps.xml" Id="Rbb0d0c65538349b6" /><Relationship Type="http://schemas.openxmlformats.org/officeDocument/2006/relationships/viewProps" Target="/ppt/viewProps.xml" Id="R4a2f586cfce64011" /><Relationship Type="http://schemas.openxmlformats.org/officeDocument/2006/relationships/tableStyles" Target="/ppt/tableStyles.xml" Id="Rf7f062515b934837" /><Relationship Type="http://schemas.openxmlformats.org/officeDocument/2006/relationships/slide" Target="/ppt/slides/slide1.xml" Id="R0b1c35fb5e314592" /><Relationship Type="http://schemas.openxmlformats.org/officeDocument/2006/relationships/slide" Target="/ppt/slides/slide2.xml" Id="Rdebe9a49c91a4fed" /><Relationship Type="http://schemas.openxmlformats.org/officeDocument/2006/relationships/slide" Target="/ppt/slides/slide3.xml" Id="Rc39b15ecec6c4f36" /><Relationship Type="http://schemas.openxmlformats.org/officeDocument/2006/relationships/slide" Target="/ppt/slides/slide4.xml" Id="Rcbf91f1963d946e3" /><Relationship Type="http://schemas.openxmlformats.org/officeDocument/2006/relationships/slide" Target="/ppt/slides/slide5.xml" Id="R0ad97f2596ed460b" /><Relationship Type="http://schemas.openxmlformats.org/officeDocument/2006/relationships/slide" Target="/ppt/slides/slide6.xml" Id="R17566cbfa9a941a0" /><Relationship Type="http://schemas.openxmlformats.org/officeDocument/2006/relationships/slide" Target="/ppt/slides/slide7.xml" Id="R5a7ba6a0f31b4222" /><Relationship Type="http://schemas.openxmlformats.org/officeDocument/2006/relationships/slide" Target="/ppt/slides/slide8.xml" Id="R776b70dec6b04f71" /><Relationship Type="http://schemas.openxmlformats.org/officeDocument/2006/relationships/slide" Target="/ppt/slides/slide9.xml" Id="R76e71a567142447b" /><Relationship Type="http://schemas.openxmlformats.org/officeDocument/2006/relationships/slide" Target="/ppt/slides/slide10.xml" Id="R2a8204664e1a45bc" /><Relationship Type="http://schemas.openxmlformats.org/officeDocument/2006/relationships/slide" Target="/ppt/slides/slide11.xml" Id="Rc56b0e911ea24441" /><Relationship Type="http://schemas.openxmlformats.org/officeDocument/2006/relationships/slide" Target="/ppt/slides/slide12.xml" Id="R34c3e559553945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e183d358e4046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2d63c47c9e4a3c" /><Relationship Type="http://schemas.openxmlformats.org/officeDocument/2006/relationships/notesMaster" Target="/ppt/notesMasters/notesMaster1.xml" Id="R6a1c85e455004d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1edead34eb4d3a" /><Relationship Type="http://schemas.openxmlformats.org/officeDocument/2006/relationships/notesMaster" Target="/ppt/notesMasters/notesMaster1.xml" Id="Rdc68579ed79f48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e6169132d54c74" /><Relationship Type="http://schemas.openxmlformats.org/officeDocument/2006/relationships/notesMaster" Target="/ppt/notesMasters/notesMaster1.xml" Id="R2cdcf6a285bb44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b82ba4e0f443fb" /><Relationship Type="http://schemas.openxmlformats.org/officeDocument/2006/relationships/notesMaster" Target="/ppt/notesMasters/notesMaster1.xml" Id="R0cef701fb1fa47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ffeba16058469c" /><Relationship Type="http://schemas.openxmlformats.org/officeDocument/2006/relationships/notesMaster" Target="/ppt/notesMasters/notesMaster1.xml" Id="R07737f1311284b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829c3001b54bc1" /><Relationship Type="http://schemas.openxmlformats.org/officeDocument/2006/relationships/notesMaster" Target="/ppt/notesMasters/notesMaster1.xml" Id="R5da43475a3bd41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8e5c59e6ef4c52" /><Relationship Type="http://schemas.openxmlformats.org/officeDocument/2006/relationships/notesMaster" Target="/ppt/notesMasters/notesMaster1.xml" Id="R12646d4dbca34a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99e0428a174ac5" /><Relationship Type="http://schemas.openxmlformats.org/officeDocument/2006/relationships/notesMaster" Target="/ppt/notesMasters/notesMaster1.xml" Id="R660b81af3fc943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372935620f4a66" /><Relationship Type="http://schemas.openxmlformats.org/officeDocument/2006/relationships/notesMaster" Target="/ppt/notesMasters/notesMaster1.xml" Id="R6bc32afc219249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2df023ff714b70" /><Relationship Type="http://schemas.openxmlformats.org/officeDocument/2006/relationships/notesMaster" Target="/ppt/notesMasters/notesMaster1.xml" Id="R440517939fa14f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2338702e414601" /><Relationship Type="http://schemas.openxmlformats.org/officeDocument/2006/relationships/notesMaster" Target="/ppt/notesMasters/notesMaster1.xml" Id="Rb5ca39f1c51546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535c7665b54efc" /><Relationship Type="http://schemas.openxmlformats.org/officeDocument/2006/relationships/notesMaster" Target="/ppt/notesMasters/notesMaster1.xml" Id="R10f9472b639a42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是人工智能学院计算机科学与技术专业的黄子涵。今天汇报的题目是《基于部件与结构条件约束的方块字字形生成方法研究》。这项研究关注的不是一般意义上的文生图，而是一个边界更清晰的字形生成问题。接下来我会先说明为什么要做这个题目，再介绍具体的研究方案、创新点和后续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我按照六个部分展开。前面先交代研究背景和相关研究现状，把问题为什么成立讲清楚。中间重点介绍任务定义、总体研究方案和方法设计，也就是这次开题最核心的部分。最后再汇报我认为的创新点、目前具备的可行性基础，以及后续的时间安排和预期成果。这样组织的目的，是让整套论证从问题出发，逐步收束到可执行的研究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题目首先来自实际需求。对于现代常用汉字，现成字库通常已经够用，但一旦遇到生僻字、异体字、古籍整理中的未登录字符，传统补字方式就会很快暴露出成本高、周期长、依赖人工经验这些问题。另一方面，方块字本身又不是完全无结构的图案，它往往由若干部件按照固定空间关系组合而成。所以我关心的问题不是单纯把字当作图像去生成，而是想利用这种可分解的构形规律，探索一种更有约束、更可解释的字形生成方式。也正因为有这个前提，后面才会自然引出部件和结构条件为什么值得作为研究核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意义上看，这项工作首先是一个方法研究。它试图回答的是，部件信息和结构先验能不能直接驱动整字生成，而不只是服务于识别任务。如果这个问题能做通，它在应用上会有几个比较自然的延伸场景。比如字库补字和字体设计，可以借助这种方法快速得到结构正确的候选字形；再比如古籍整理和异体字数字化，当字符没有稳定编码入口时，研究者仍然可以从构形描述出发组织输入；另外在低资源字符处理场景里，这种统一接口也可能降低建模门槛。这里我想强调的是，应用价值是方法成立之后的外延，而不是把它包装成一个已经完成的工程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关研究大致可以分成三条线索。第一条是部件和结构表征，很多工作已经证明汉字不是一个不可分割的类别标签，而是具有内部构成的复合符号。第二条是字体迁移和字形生成，这类研究往往更关注风格一致性，也就是已知目标字符以后，怎么把它写成另一种风格。第三条是扩散模型和稀有字符处理，近几年这部分工作明显增多，但重点仍然更多落在识别、增强或者风格生成。综合起来看，现有工作分别回答了部件怎么表示、字形怎么迁移、扩散模型怎么生成高质量图像，却还没有自然汇聚成一个统一的“部件加结构条件驱动整字生成”的研究框架。这就是我这次开题想切入的研究空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前面的分析，我把任务定义为：输入两个部件和一个结构标签，输出一张完整的单字图像。这里的关键点有两个。前一个关键点是，这不是规则拼接，模型不能只是把两个部件机械贴在一起，而是要学习部件之间的比例分配、空间关系和轮廓衔接。后一个关键点是，这也不是开放域文生图，因为条件空间更小、监督更明确、研究边界也更清楚。像图中展示的“犭、句、左右结构生成狗”，以及“囗、木、全包围生成困”，都是这种设定下很直观的例子。围绕这个任务，我的研究目标主要是三点：生成结果要结构正确、要具备基本可辨识性，同时在没有见过的整字组合上仍然保持一定的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总体上，我准备按照一条比较稳妥的研究路线推进。先从数据构建做起，把目标字、部件、结构标签和样式信息组织成统一的数据协议；然后先训练一个条件 U-Net 基线，把任务在可控范围内跑通；在此基础上，再引入 VAE 和潜空间扩散模型，去比较更强生成机制在结构一致性和组合泛化上的表现；最后再补上评测与扩展验证，特别是整字留出场景和少量 OOV 样本场景。这样安排的原因很直接，就是不希望一上来就把问题做得过大。先把研究对象收窄，把基线做稳，再推进到主模型，这样既便于分析误差来源，也更符合开题之后的实际推进节奏。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方法设计里，我最看重的是条件接口和结构约束这两件事。首先，输入接口会统一兼容文本部件和图像部件。对现代汉字来说，文本部件输入更方便构造和管理；对未登录字符或者古壮字这类对象来说，图像部件输入又更贴近真实场景。其次，在模型设计上，我不会只给网络一个抽象标签就让它自己摸索布局，而是准备把结构先验显式注入进去，包括结构标签、布局热图以及辅助结构监督。原因也很简单，字形任务最容易出的问题往往不是模糊，而是部件摆错位置、比例失衡或者包围关系不成立。所以这里关注的重点，不只是出图好不好看，更是模型有没有真正学会怎样组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这套方案，我认为有三个关键难点需要正面处理。第一个难点是多模态条件怎么统一，也就是文本部件和图像部件进入同一框架以后，接口和编码方式怎样设计才不会让模型训练变得割裂。第二个难点是结构错误怎么控制，因为只看视觉相似度，模型很可能生成一个看起来像字、但结构其实不对的结果。第三个难点是组合泛化怎么验证，如果只在随机切分上测试，很容易把记忆训练样本误当成泛化能力。所以后面无论是损失设计还是评测协议，我都会围绕这三个问题展开，也希望最后的实验结论能够真正对应到这些关键矛盾上，而不是停留在表面图像质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如果从开题阶段来概括，我认为这项研究的创新主要体现在三个方面。一个是把文本部件输入和图像部件输入统一到同一条件对象里，使方法既能服务现代汉字主任务，也保留向 OOV 场景扩展的可能。一个是把结构先验显式引入生成过程，不把布局问题完全留给模型隐式学习。再一个是把整字留出切分放到比较关键的位置，用它来检验模型是不是掌握了部件组合规律。至于可行性，目前的数据来源、代码骨架和研究路线都比较明确。仓库里已经有数据构建、训练、推理和演示相关脚本，也有现成样例字形可供验证，所以这个题目不是从零起步。对老师来说，更重要的应该是它能不能做完、能不能收住，而从目前基础来看，我认为这个方向是可控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时间安排上，我准备把整个研究周期分成五个阶段。最近一段时间，重点是继续收口任务定义、样本协议和数据准备流程，把研究边界彻底固定下来。随后进入基线模型训练和初步分析阶段，先保证全链路可运行。之后再推进到 VAE 和潜空间扩散主模型，并完成核心对比实验。到后期，再补充少量 OOV 扩展验证和演示整合。最终的预期成果，一方面是论文层面的研究结论和完整写作材料，另一方面是数据准备、模型训练、评测和推理能够闭合的一套研究原型。我这里不会把成果说得过满，更看重的是每一步都能留下可复核、可继续推进的中间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就是我的开题汇报内容。整体上，这项研究希望在方块字场景里，把部件信息、结构先验和生成模型更自然地结合起来，形成一个边界清楚、方法可落地、后续也便于扩展的研究框架。后续我会按照刚才汇报的路线继续推进数据、模型和评测工作。我的汇报到这里结束，恳请各位老师批评指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02023f2bb48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2b5acf3c74f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eebd761814d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eebe7c31ce45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c4a8e7ddf483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da5ecf271416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e4f4ce9c14c2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7748237cd48d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97306527d416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b5d2e491b4ce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6e7f310a548a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6D5B7F-0F9B-40DE-BACF-A249632246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26899B-7B59-4139-9C50-DB7BF87BDB0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B0D7C5-8F9A-40AB-8B90-8B321078E0A9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2BB951-AD52-4D39-8F0C-20331F59FAA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179153-106F-46E3-BAA2-F506F913C0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72CCF0-01E6-4599-883E-8D98C636C15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2FF992-CF29-4965-A53E-DBF5279FBEA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ED38C0-4B5C-45D3-9681-D3D3E0C51CB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9CBD78-5FDE-4D80-96EE-FEE60448E3C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A13672-8CCC-4D46-8460-DA7BE89C012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5D8C0DA-48ED-475F-958D-FA18ED62399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E24F45-7666-45F7-9CE4-D6AC5910A09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180ECB-EB93-4D5C-89B5-9BC48010A879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868735C-6575-4358-8A02-4116BB3DD15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07C497F-43DB-4ED6-91AC-BE39ACE6A579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2C806AE-CA4D-4F56-A8DB-596D7AC0775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381541A-D8C4-43B9-8C3B-52E90BD15DC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7E24A3-4565-45E4-8721-A921D6FD4B36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1959CC4-23BA-4FB8-8598-99FB789699F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AD31FD2-9FE6-4D2C-A7CB-07B2F265329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CB3D1B6-2071-4652-8527-2D52F701A79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28B30D3-E4BA-4D04-B4B2-D214E9F295D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4BFAEE-FA35-4783-A3D8-16DDFD74698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DAAAE61-0E12-453A-83E6-EE5C96653B76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C221D3D-E6AE-4E62-AE05-BCBFD951FD4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06805E9-726A-4CA5-9436-916B809BD44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3B461A-2522-4093-A7F3-E82834480C7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B3C9CC6-8561-451D-B087-95A409B9F596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D10818-22BF-4D19-BC94-E76D9DC033A8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D14CA3F-9C18-4D07-907E-E83D5625E57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C7F5A48-C497-4988-8941-EAA33F33BC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87EF9C-EFAA-4F76-B651-0943E78ABE76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4CA9CEC-6616-40DA-8B2D-F4535E645C88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0C9CEF-1FD9-4875-900B-D7B3F33E47F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8027A8-BB0B-4710-B2B4-A0CA934A5FC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AB0373B-68D4-4F93-AF9F-4E88C4FCBEB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8F27AA-27C4-41BA-9E54-6DC9E596800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1C9D03-96EF-4C91-A764-56D50A1B4E4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BC9473-4711-4B3B-BA98-EC1F037B0F6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71d170bf70c457e" /><Relationship Type="http://schemas.openxmlformats.org/officeDocument/2006/relationships/slideLayout" Target="/ppt/slideLayouts/slideLayout2.xml" Id="Rda2a602c1b9a478c" /><Relationship Type="http://schemas.openxmlformats.org/officeDocument/2006/relationships/slideLayout" Target="/ppt/slideLayouts/slideLayout3.xml" Id="R525611bf6cf64a60" /><Relationship Type="http://schemas.openxmlformats.org/officeDocument/2006/relationships/slideLayout" Target="/ppt/slideLayouts/slideLayout4.xml" Id="R60f16b6ab9ae420e" /><Relationship Type="http://schemas.openxmlformats.org/officeDocument/2006/relationships/slideLayout" Target="/ppt/slideLayouts/slideLayout5.xml" Id="Rea8aca06b3424fa6" /><Relationship Type="http://schemas.openxmlformats.org/officeDocument/2006/relationships/slideLayout" Target="/ppt/slideLayouts/slideLayout6.xml" Id="R57e11d0b70b143f4" /><Relationship Type="http://schemas.openxmlformats.org/officeDocument/2006/relationships/slideLayout" Target="/ppt/slideLayouts/slideLayout7.xml" Id="Rfbb4f1e24f684e52" /><Relationship Type="http://schemas.openxmlformats.org/officeDocument/2006/relationships/slideLayout" Target="/ppt/slideLayouts/slideLayout8.xml" Id="R93b44f0f6b5d4282" /><Relationship Type="http://schemas.openxmlformats.org/officeDocument/2006/relationships/slideLayout" Target="/ppt/slideLayouts/slideLayout9.xml" Id="R9aac56366a5e44c7" /><Relationship Type="http://schemas.openxmlformats.org/officeDocument/2006/relationships/slideLayout" Target="/ppt/slideLayouts/slideLayout10.xml" Id="R41a746b95dae40c0" /><Relationship Type="http://schemas.openxmlformats.org/officeDocument/2006/relationships/slideLayout" Target="/ppt/slideLayouts/slideLayout11.xml" Id="Re124f61faed0473e" /><Relationship Type="http://schemas.openxmlformats.org/officeDocument/2006/relationships/slideLayout" Target="/ppt/slideLayouts/slideLayout12.xml" Id="Ra7a7efcf63e443b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F3BD1BB-47BD-44FF-BD38-4E5FD06B4F4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7C56F6-42BB-4241-899B-50A5B68AD66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7684FD-153B-4998-9042-BEAB783861A0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203375-07D7-46B6-AB67-D57F2C00FC1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6790E7-8DBB-4246-A197-849B4CB5E8A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2a602c1b9a478c"/>
    <p:sldLayoutId xmlns:r="http://schemas.openxmlformats.org/officeDocument/2006/relationships" id="2147483650" r:id="R525611bf6cf64a60"/>
    <p:sldLayoutId xmlns:r="http://schemas.openxmlformats.org/officeDocument/2006/relationships" id="2147483651" r:id="R60f16b6ab9ae420e"/>
    <p:sldLayoutId xmlns:r="http://schemas.openxmlformats.org/officeDocument/2006/relationships" id="2147483652" r:id="Rea8aca06b3424fa6"/>
    <p:sldLayoutId xmlns:r="http://schemas.openxmlformats.org/officeDocument/2006/relationships" id="2147483653" r:id="R57e11d0b70b143f4"/>
    <p:sldLayoutId xmlns:r="http://schemas.openxmlformats.org/officeDocument/2006/relationships" id="2147483654" r:id="Rfbb4f1e24f684e52"/>
    <p:sldLayoutId xmlns:r="http://schemas.openxmlformats.org/officeDocument/2006/relationships" id="2147483655" r:id="R93b44f0f6b5d4282"/>
    <p:sldLayoutId xmlns:r="http://schemas.openxmlformats.org/officeDocument/2006/relationships" id="2147483656" r:id="R9aac56366a5e44c7"/>
    <p:sldLayoutId xmlns:r="http://schemas.openxmlformats.org/officeDocument/2006/relationships" id="2147483657" r:id="R41a746b95dae40c0"/>
    <p:sldLayoutId xmlns:r="http://schemas.openxmlformats.org/officeDocument/2006/relationships" id="2147483658" r:id="Re124f61faed0473e"/>
    <p:sldLayoutId xmlns:r="http://schemas.openxmlformats.org/officeDocument/2006/relationships" id="2147483659" r:id="Ra7a7efcf63e443bc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f137caa7cab42e2" /><Relationship Type="http://schemas.openxmlformats.org/officeDocument/2006/relationships/image" Target="/ppt/media/image.png" Id="R5bdefee8086048ee" /><Relationship Type="http://schemas.openxmlformats.org/officeDocument/2006/relationships/image" Target="/ppt/media/image2.png" Id="Rbdc72579e60949d1" /><Relationship Type="http://schemas.openxmlformats.org/officeDocument/2006/relationships/image" Target="/ppt/media/image3.png" Id="Rb41eb904b4784ae1" /><Relationship Type="http://schemas.openxmlformats.org/officeDocument/2006/relationships/image" Target="/ppt/media/image4.png" Id="Rc088a03cd60443de" /><Relationship Type="http://schemas.openxmlformats.org/officeDocument/2006/relationships/notesSlide" Target="/ppt/notesSlides/notesSlide1.xml" Id="Rb51a1f2bc5154a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aed9ed14e9e4196" /><Relationship Type="http://schemas.openxmlformats.org/officeDocument/2006/relationships/notesSlide" Target="/ppt/notesSlides/notesSlide2.xml" Id="R9bdd4ba6cd934a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8f276de8273481b" /><Relationship Type="http://schemas.openxmlformats.org/officeDocument/2006/relationships/image" Target="/ppt/media/image5.png" Id="R94ed16eaf02745ae" /><Relationship Type="http://schemas.openxmlformats.org/officeDocument/2006/relationships/image" Target="/ppt/media/image6.png" Id="R51d9737b7df343f4" /><Relationship Type="http://schemas.openxmlformats.org/officeDocument/2006/relationships/image" Target="/ppt/media/image7.png" Id="Rca56a9021f2d4d41" /><Relationship Type="http://schemas.openxmlformats.org/officeDocument/2006/relationships/image" Target="/ppt/media/image8.png" Id="R28380655eb224d28" /><Relationship Type="http://schemas.openxmlformats.org/officeDocument/2006/relationships/notesSlide" Target="/ppt/notesSlides/notesSlide3.xml" Id="R601d4fd0dfa94b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06ad065abaa4aa9" /><Relationship Type="http://schemas.openxmlformats.org/officeDocument/2006/relationships/notesSlide" Target="/ppt/notesSlides/notesSlide4.xml" Id="Raf0d080b3c4b41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cc57060436649fe" /><Relationship Type="http://schemas.openxmlformats.org/officeDocument/2006/relationships/notesSlide" Target="/ppt/notesSlides/notesSlide5.xml" Id="Rd503f1a9b3d149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dfd1f256eef4547" /><Relationship Type="http://schemas.openxmlformats.org/officeDocument/2006/relationships/image" Target="/ppt/media/image9.png" Id="R141c26be6bec4782" /><Relationship Type="http://schemas.openxmlformats.org/officeDocument/2006/relationships/image" Target="/ppt/media/image10.png" Id="R36a48a2cef26416b" /><Relationship Type="http://schemas.openxmlformats.org/officeDocument/2006/relationships/image" Target="/ppt/media/image11.png" Id="Raf392b67c93643ea" /><Relationship Type="http://schemas.openxmlformats.org/officeDocument/2006/relationships/image" Target="/ppt/media/image12.png" Id="R06bdbbfa5d9042b6" /><Relationship Type="http://schemas.openxmlformats.org/officeDocument/2006/relationships/image" Target="/ppt/media/image13.png" Id="R5902ec7a511a47a3" /><Relationship Type="http://schemas.openxmlformats.org/officeDocument/2006/relationships/image" Target="/ppt/media/image14.png" Id="Rde51aea387744d9c" /><Relationship Type="http://schemas.openxmlformats.org/officeDocument/2006/relationships/notesSlide" Target="/ppt/notesSlides/notesSlide6.xml" Id="Re3dfd7a8f7794c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2f48c54846148f8" /><Relationship Type="http://schemas.openxmlformats.org/officeDocument/2006/relationships/notesSlide" Target="/ppt/notesSlides/notesSlide7.xml" Id="R48f2152032cc46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ca08ec9fef04b2e" /><Relationship Type="http://schemas.openxmlformats.org/officeDocument/2006/relationships/notesSlide" Target="/ppt/notesSlides/notesSlide8.xml" Id="R3ae0a02668a846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d6e6f9f6199494e" /><Relationship Type="http://schemas.openxmlformats.org/officeDocument/2006/relationships/notesSlide" Target="/ppt/notesSlides/notesSlide9.xml" Id="R4dcf3fd5fa2441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1561c169fc544c4" /><Relationship Type="http://schemas.openxmlformats.org/officeDocument/2006/relationships/notesSlide" Target="/ppt/notesSlides/notesSlide10.xml" Id="R2f09c010cf154e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a8ccc0a7eb34ca7" /><Relationship Type="http://schemas.openxmlformats.org/officeDocument/2006/relationships/notesSlide" Target="/ppt/notesSlides/notesSlide11.xml" Id="Rb5fd076cc02e46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48d3d132cd24d00" /><Relationship Type="http://schemas.openxmlformats.org/officeDocument/2006/relationships/notesSlide" Target="/ppt/notesSlides/notesSlide12.xml" Id="Rb41e4288b1e141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rawio2pptx:shape:2">
            <a:extLst xmlns:a="http://schemas.openxmlformats.org/drawingml/2006/main">
              <a:ext uri="{FF2B5EF4-FFF2-40B4-BE49-F238E27FC236}">
                <a16:creationId xmlns:a16="http://schemas.microsoft.com/office/drawing/2014/main" id="{9E9EE1DD-256D-4172-BFFA-4AC9CD20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drawio2pptx:shape:3">
            <a:extLst xmlns:a="http://schemas.openxmlformats.org/drawingml/2006/main">
              <a:ext uri="{FF2B5EF4-FFF2-40B4-BE49-F238E27FC236}">
                <a16:creationId xmlns:a16="http://schemas.microsoft.com/office/drawing/2014/main" id="{DE5AD157-ED19-4184-881D-3839AB7B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drawio2pptx:shape:4">
            <a:extLst xmlns:a="http://schemas.openxmlformats.org/drawingml/2006/main">
              <a:ext uri="{FF2B5EF4-FFF2-40B4-BE49-F238E27FC236}">
                <a16:creationId xmlns:a16="http://schemas.microsoft.com/office/drawing/2014/main" id="{C15E714C-147B-43D2-AB72-3275FEFC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rawio2pptx:shape:5">
            <a:extLst xmlns:a="http://schemas.openxmlformats.org/drawingml/2006/main">
              <a:ext uri="{FF2B5EF4-FFF2-40B4-BE49-F238E27FC236}">
                <a16:creationId xmlns:a16="http://schemas.microsoft.com/office/drawing/2014/main" id="{9B0B5369-9BD2-40B1-A283-FD87BC0E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828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广西民族大学硕士学位论文开题答辩</a:t>
            </a:r>
          </a:p>
        </p:txBody>
      </p:sp>
      <p:sp>
        <p:nvSpPr>
          <p:cNvPr id="6" name="drawio2pptx:shape:6">
            <a:extLst xmlns:a="http://schemas.openxmlformats.org/drawingml/2006/main">
              <a:ext uri="{FF2B5EF4-FFF2-40B4-BE49-F238E27FC236}">
                <a16:creationId xmlns:a16="http://schemas.microsoft.com/office/drawing/2014/main" id="{A3422978-8388-4227-A293-142699F2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基于部件与结构条件约束的
方块字字形生成方法研究</a:t>
            </a:r>
          </a:p>
        </p:txBody>
      </p:sp>
      <p:sp>
        <p:nvSpPr>
          <p:cNvPr id="7" name="drawio2pptx:shape:7">
            <a:extLst xmlns:a="http://schemas.openxmlformats.org/drawingml/2006/main">
              <a:ext uri="{FF2B5EF4-FFF2-40B4-BE49-F238E27FC236}">
                <a16:creationId xmlns:a16="http://schemas.microsoft.com/office/drawing/2014/main" id="{10FEC287-FB82-4EF7-AAD4-4C5420B9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人工智能学院
计算机科学与技术</a:t>
            </a:r>
          </a:p>
        </p:txBody>
      </p:sp>
      <p:sp>
        <p:nvSpPr>
          <p:cNvPr id="8" name="drawio2pptx:shape:8">
            <a:extLst xmlns:a="http://schemas.openxmlformats.org/drawingml/2006/main">
              <a:ext uri="{FF2B5EF4-FFF2-40B4-BE49-F238E27FC236}">
                <a16:creationId xmlns:a16="http://schemas.microsoft.com/office/drawing/2014/main" id="{43F85E1C-973D-44AF-904C-35350E5F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汇报人：黄子涵
指导教师：白凤波
时间：2026 年 4 月</a:t>
            </a:r>
          </a:p>
        </p:txBody>
      </p:sp>
      <p:sp>
        <p:nvSpPr>
          <p:cNvPr id="9" name="drawio2pptx:shape:9">
            <a:extLst xmlns:a="http://schemas.openxmlformats.org/drawingml/2006/main">
              <a:ext uri="{FF2B5EF4-FFF2-40B4-BE49-F238E27FC236}">
                <a16:creationId xmlns:a16="http://schemas.microsoft.com/office/drawing/2014/main" id="{24440936-90E6-4419-8433-63B1A87B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000250"/>
            <a:ext cx="4857750" cy="5810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drawio2pptx:shape:10">
            <a:extLst xmlns:a="http://schemas.openxmlformats.org/drawingml/2006/main">
              <a:ext uri="{FF2B5EF4-FFF2-40B4-BE49-F238E27FC236}">
                <a16:creationId xmlns:a16="http://schemas.microsoft.com/office/drawing/2014/main" id="{9DD3B6B9-3302-4299-82C0-9D12A65A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669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研究对象示意</a:t>
            </a:r>
          </a:p>
        </p:txBody>
      </p:sp>
      <p:sp>
        <p:nvSpPr>
          <p:cNvPr id="11" name="drawio2pptx:shape:11">
            <a:extLst xmlns:a="http://schemas.openxmlformats.org/drawingml/2006/main">
              <a:ext uri="{FF2B5EF4-FFF2-40B4-BE49-F238E27FC236}">
                <a16:creationId xmlns:a16="http://schemas.microsoft.com/office/drawing/2014/main" id="{2EFDD64D-D5C0-4992-9CBC-8E2285F9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048000"/>
            <a:ext cx="14287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drawio2pptx:shape:12">
            <a:extLst xmlns:a="http://schemas.openxmlformats.org/drawingml/2006/main">
              <a:ext uri="{FF2B5EF4-FFF2-40B4-BE49-F238E27FC236}">
                <a16:creationId xmlns:a16="http://schemas.microsoft.com/office/drawing/2014/main" id="{E648696C-F23C-4C9B-9432-6333890D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3181350"/>
            <a:ext cx="1162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drawio2pptx:shape:13">
            <a:extLst xmlns:a="http://schemas.openxmlformats.org/drawingml/2006/main">
              <a:ext uri="{FF2B5EF4-FFF2-40B4-BE49-F238E27FC236}">
                <a16:creationId xmlns:a16="http://schemas.microsoft.com/office/drawing/2014/main" id="{7F96E3D2-745E-44A3-916C-23225864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476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左右结构</a:t>
            </a:r>
          </a:p>
        </p:txBody>
      </p:sp>
      <p:sp>
        <p:nvSpPr>
          <p:cNvPr id="14" name="drawio2pptx:shape:14">
            <a:extLst xmlns:a="http://schemas.openxmlformats.org/drawingml/2006/main">
              <a:ext uri="{FF2B5EF4-FFF2-40B4-BE49-F238E27FC236}">
                <a16:creationId xmlns:a16="http://schemas.microsoft.com/office/drawing/2014/main" id="{EF09EEF0-664E-401D-8343-3217D5EB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048000"/>
            <a:ext cx="14287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drawio2pptx:shape:15">
            <a:extLst xmlns:a="http://schemas.openxmlformats.org/drawingml/2006/main">
              <a:ext uri="{FF2B5EF4-FFF2-40B4-BE49-F238E27FC236}">
                <a16:creationId xmlns:a16="http://schemas.microsoft.com/office/drawing/2014/main" id="{165797DA-5E84-4A88-B9EC-8A959A57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181350"/>
            <a:ext cx="1162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drawio2pptx:shape:16">
            <a:extLst xmlns:a="http://schemas.openxmlformats.org/drawingml/2006/main">
              <a:ext uri="{FF2B5EF4-FFF2-40B4-BE49-F238E27FC236}">
                <a16:creationId xmlns:a16="http://schemas.microsoft.com/office/drawing/2014/main" id="{F88E28AF-DE10-4C19-BDE7-5131857F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476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全包围结构</a:t>
            </a:r>
          </a:p>
        </p:txBody>
      </p:sp>
      <p:sp>
        <p:nvSpPr>
          <p:cNvPr id="17" name="drawio2pptx:shape:17">
            <a:extLst xmlns:a="http://schemas.openxmlformats.org/drawingml/2006/main">
              <a:ext uri="{FF2B5EF4-FFF2-40B4-BE49-F238E27FC236}">
                <a16:creationId xmlns:a16="http://schemas.microsoft.com/office/drawing/2014/main" id="{CFD4F320-4B35-4E75-BF29-294D7F80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143500"/>
            <a:ext cx="14287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drawio2pptx:shape:18">
            <a:extLst xmlns:a="http://schemas.openxmlformats.org/drawingml/2006/main">
              <a:ext uri="{FF2B5EF4-FFF2-40B4-BE49-F238E27FC236}">
                <a16:creationId xmlns:a16="http://schemas.microsoft.com/office/drawing/2014/main" id="{75794476-460B-481B-8DB6-5699A7F0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5276850"/>
            <a:ext cx="1162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drawio2pptx:shape:19">
            <a:extLst xmlns:a="http://schemas.openxmlformats.org/drawingml/2006/main">
              <a:ext uri="{FF2B5EF4-FFF2-40B4-BE49-F238E27FC236}">
                <a16:creationId xmlns:a16="http://schemas.microsoft.com/office/drawing/2014/main" id="{150C918E-AA3D-4E6A-8A0E-42D64B90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6572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半包围结构</a:t>
            </a:r>
          </a:p>
        </p:txBody>
      </p:sp>
      <p:sp>
        <p:nvSpPr>
          <p:cNvPr id="20" name="drawio2pptx:shape:20">
            <a:extLst xmlns:a="http://schemas.openxmlformats.org/drawingml/2006/main">
              <a:ext uri="{FF2B5EF4-FFF2-40B4-BE49-F238E27FC236}">
                <a16:creationId xmlns:a16="http://schemas.microsoft.com/office/drawing/2014/main" id="{4D570D2F-DC4B-4B4E-A1EF-9831E2F8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143500"/>
            <a:ext cx="14287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drawio2pptx:shape:21">
            <a:extLst xmlns:a="http://schemas.openxmlformats.org/drawingml/2006/main">
              <a:ext uri="{FF2B5EF4-FFF2-40B4-BE49-F238E27FC236}">
                <a16:creationId xmlns:a16="http://schemas.microsoft.com/office/drawing/2014/main" id="{A27D5F5E-84F4-4822-9139-F871E864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5276850"/>
            <a:ext cx="1162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drawio2pptx:shape:22">
            <a:extLst xmlns:a="http://schemas.openxmlformats.org/drawingml/2006/main">
              <a:ext uri="{FF2B5EF4-FFF2-40B4-BE49-F238E27FC236}">
                <a16:creationId xmlns:a16="http://schemas.microsoft.com/office/drawing/2014/main" id="{419FB0D5-5A3A-4054-9EA8-37D353F9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572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组合生成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efee8086048ee"/>
          <a:stretch xmlns:a="http://schemas.openxmlformats.org/drawingml/2006/main"/>
        </p:blipFill>
        <p:spPr>
          <a:xfrm xmlns:a="http://schemas.openxmlformats.org/drawingml/2006/main">
            <a:off x="12773025" y="3181350"/>
            <a:ext cx="1123950" cy="11239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72579e60949d1"/>
          <a:stretch xmlns:a="http://schemas.openxmlformats.org/drawingml/2006/main"/>
        </p:blipFill>
        <p:spPr>
          <a:xfrm xmlns:a="http://schemas.openxmlformats.org/drawingml/2006/main">
            <a:off x="14344650" y="3181350"/>
            <a:ext cx="1123950" cy="11239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eb904b4784ae1"/>
          <a:stretch xmlns:a="http://schemas.openxmlformats.org/drawingml/2006/main"/>
        </p:blipFill>
        <p:spPr>
          <a:xfrm xmlns:a="http://schemas.openxmlformats.org/drawingml/2006/main">
            <a:off x="12773025" y="5276850"/>
            <a:ext cx="1123950" cy="11239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8a03cd60443de"/>
          <a:stretch xmlns:a="http://schemas.openxmlformats.org/drawingml/2006/main"/>
        </p:blipFill>
        <p:spPr>
          <a:xfrm xmlns:a="http://schemas.openxmlformats.org/drawingml/2006/main">
            <a:off x="14344650" y="5276850"/>
            <a:ext cx="1123950" cy="1123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975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rawio2pptx:shape:2">
            <a:extLst xmlns:a="http://schemas.openxmlformats.org/drawingml/2006/main">
              <a:ext uri="{FF2B5EF4-FFF2-40B4-BE49-F238E27FC236}">
                <a16:creationId xmlns:a16="http://schemas.microsoft.com/office/drawing/2014/main" id="{F162D5FF-CD06-4B36-8B81-88A8064E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drawio2pptx:shape:3">
            <a:extLst xmlns:a="http://schemas.openxmlformats.org/drawingml/2006/main">
              <a:ext uri="{FF2B5EF4-FFF2-40B4-BE49-F238E27FC236}">
                <a16:creationId xmlns:a16="http://schemas.microsoft.com/office/drawing/2014/main" id="{F89F5727-C2E3-43A1-ACFD-779D49EA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drawio2pptx:shape:4">
            <a:extLst xmlns:a="http://schemas.openxmlformats.org/drawingml/2006/main">
              <a:ext uri="{FF2B5EF4-FFF2-40B4-BE49-F238E27FC236}">
                <a16:creationId xmlns:a16="http://schemas.microsoft.com/office/drawing/2014/main" id="{7C460040-AA89-4D7F-B0C5-54201F83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rawio2pptx:shape:5">
            <a:extLst xmlns:a="http://schemas.openxmlformats.org/drawingml/2006/main">
              <a:ext uri="{FF2B5EF4-FFF2-40B4-BE49-F238E27FC236}">
                <a16:creationId xmlns:a16="http://schemas.microsoft.com/office/drawing/2014/main" id="{09D6DCFE-C246-40CF-A8D1-AAE7B4B2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drawio2pptx:shape:6">
            <a:extLst xmlns:a="http://schemas.openxmlformats.org/drawingml/2006/main">
              <a:ext uri="{FF2B5EF4-FFF2-40B4-BE49-F238E27FC236}">
                <a16:creationId xmlns:a16="http://schemas.microsoft.com/office/drawing/2014/main" id="{7F7F7CE9-9936-4732-AFA2-8861FEB0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drawio2pptx:shape:7">
            <a:extLst xmlns:a="http://schemas.openxmlformats.org/drawingml/2006/main">
              <a:ext uri="{FF2B5EF4-FFF2-40B4-BE49-F238E27FC236}">
                <a16:creationId xmlns:a16="http://schemas.microsoft.com/office/drawing/2014/main" id="{0FA9F986-5DB5-492F-93F6-DA11ACE4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925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 xmlns:a="http://schemas.openxmlformats.org/drawingml/2006/main">
              <a:ext uri="{FF2B5EF4-FFF2-40B4-BE49-F238E27FC236}">
                <a16:creationId xmlns:a16="http://schemas.microsoft.com/office/drawing/2014/main" id="{715388DB-3CA3-4D13-B291-B378D42F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955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9" name="drawio2pptx:shape:9">
            <a:extLst xmlns:a="http://schemas.openxmlformats.org/drawingml/2006/main">
              <a:ext uri="{FF2B5EF4-FFF2-40B4-BE49-F238E27FC236}">
                <a16:creationId xmlns:a16="http://schemas.microsoft.com/office/drawing/2014/main" id="{D79C1D56-AD1A-4BC9-9AFB-56951961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955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drawio2pptx:shape:10">
            <a:extLst xmlns:a="http://schemas.openxmlformats.org/drawingml/2006/main">
              <a:ext uri="{FF2B5EF4-FFF2-40B4-BE49-F238E27FC236}">
                <a16:creationId xmlns:a16="http://schemas.microsoft.com/office/drawing/2014/main" id="{EB4B6952-E737-4099-A295-7A71B39F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01 研究背景与问题提出</a:t>
            </a:r>
          </a:p>
        </p:txBody>
      </p:sp>
      <p:sp>
        <p:nvSpPr>
          <p:cNvPr id="11" name="drawio2pptx:shape:11">
            <a:extLst xmlns:a="http://schemas.openxmlformats.org/drawingml/2006/main">
              <a:ext uri="{FF2B5EF4-FFF2-40B4-BE49-F238E27FC236}">
                <a16:creationId xmlns:a16="http://schemas.microsoft.com/office/drawing/2014/main" id="{D53F71E6-2D18-4146-820E-5D5D5DA3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drawio2pptx:shape:12">
            <a:extLst xmlns:a="http://schemas.openxmlformats.org/drawingml/2006/main">
              <a:ext uri="{FF2B5EF4-FFF2-40B4-BE49-F238E27FC236}">
                <a16:creationId xmlns:a16="http://schemas.microsoft.com/office/drawing/2014/main" id="{1EF4781F-CBF1-43EB-A4F2-7D95BBC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02 研究意义与应用场景</a:t>
            </a:r>
          </a:p>
        </p:txBody>
      </p:sp>
      <p:sp>
        <p:nvSpPr>
          <p:cNvPr id="13" name="drawio2pptx:shape:13">
            <a:extLst xmlns:a="http://schemas.openxmlformats.org/drawingml/2006/main">
              <a:ext uri="{FF2B5EF4-FFF2-40B4-BE49-F238E27FC236}">
                <a16:creationId xmlns:a16="http://schemas.microsoft.com/office/drawing/2014/main" id="{0A6A186B-C6BC-49EE-BB7B-058FD503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drawio2pptx:shape:14">
            <a:extLst xmlns:a="http://schemas.openxmlformats.org/drawingml/2006/main">
              <a:ext uri="{FF2B5EF4-FFF2-40B4-BE49-F238E27FC236}">
                <a16:creationId xmlns:a16="http://schemas.microsoft.com/office/drawing/2014/main" id="{8896A63D-76F2-4F90-9598-7E219D61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03 国内外研究现状与研究空缺</a:t>
            </a:r>
          </a:p>
        </p:txBody>
      </p:sp>
      <p:sp>
        <p:nvSpPr>
          <p:cNvPr id="15" name="drawio2pptx:shape:15">
            <a:extLst xmlns:a="http://schemas.openxmlformats.org/drawingml/2006/main">
              <a:ext uri="{FF2B5EF4-FFF2-40B4-BE49-F238E27FC236}">
                <a16:creationId xmlns:a16="http://schemas.microsoft.com/office/drawing/2014/main" id="{709E6EF6-A984-47D2-940C-79E76FAD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01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drawio2pptx:shape:16">
            <a:extLst xmlns:a="http://schemas.openxmlformats.org/drawingml/2006/main">
              <a:ext uri="{FF2B5EF4-FFF2-40B4-BE49-F238E27FC236}">
                <a16:creationId xmlns:a16="http://schemas.microsoft.com/office/drawing/2014/main" id="{842ABD2C-8E0B-4DBC-8B69-C612D69C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958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04 任务定义与研究方案</a:t>
            </a:r>
          </a:p>
        </p:txBody>
      </p:sp>
      <p:sp>
        <p:nvSpPr>
          <p:cNvPr id="17" name="drawio2pptx:shape:17">
            <a:extLst xmlns:a="http://schemas.openxmlformats.org/drawingml/2006/main">
              <a:ext uri="{FF2B5EF4-FFF2-40B4-BE49-F238E27FC236}">
                <a16:creationId xmlns:a16="http://schemas.microsoft.com/office/drawing/2014/main" id="{0FADB8CB-B3E1-4A30-B0D9-4F9B3C1B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483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drawio2pptx:shape:18">
            <a:extLst xmlns:a="http://schemas.openxmlformats.org/drawingml/2006/main">
              <a:ext uri="{FF2B5EF4-FFF2-40B4-BE49-F238E27FC236}">
                <a16:creationId xmlns:a16="http://schemas.microsoft.com/office/drawing/2014/main" id="{1B048472-6891-4F76-87D2-8936F53B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34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05 方法设计、创新点与可行性</a:t>
            </a:r>
          </a:p>
        </p:txBody>
      </p:sp>
      <p:sp>
        <p:nvSpPr>
          <p:cNvPr id="19" name="drawio2pptx:shape:19">
            <a:extLst xmlns:a="http://schemas.openxmlformats.org/drawingml/2006/main">
              <a:ext uri="{FF2B5EF4-FFF2-40B4-BE49-F238E27FC236}">
                <a16:creationId xmlns:a16="http://schemas.microsoft.com/office/drawing/2014/main" id="{F91AC9D7-68C4-48A2-AEB7-C5667025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865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drawio2pptx:shape:20">
            <a:extLst xmlns:a="http://schemas.openxmlformats.org/drawingml/2006/main">
              <a:ext uri="{FF2B5EF4-FFF2-40B4-BE49-F238E27FC236}">
                <a16:creationId xmlns:a16="http://schemas.microsoft.com/office/drawing/2014/main" id="{8B57AEDD-4B95-4CE7-9E49-DE7BDC58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5722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06 研究计划与预期成果</a:t>
            </a:r>
          </a:p>
        </p:txBody>
      </p:sp>
      <p:sp>
        <p:nvSpPr>
          <p:cNvPr id="21" name="drawio2pptx:shape:21">
            <a:extLst xmlns:a="http://schemas.openxmlformats.org/drawingml/2006/main">
              <a:ext uri="{FF2B5EF4-FFF2-40B4-BE49-F238E27FC236}">
                <a16:creationId xmlns:a16="http://schemas.microsoft.com/office/drawing/2014/main" id="{05704BF9-5EFC-4FAE-9F72-B61604DF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29000"/>
            <a:ext cx="5619750" cy="2762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drawio2pptx:shape:22">
            <a:extLst xmlns:a="http://schemas.openxmlformats.org/drawingml/2006/main">
              <a:ext uri="{FF2B5EF4-FFF2-40B4-BE49-F238E27FC236}">
                <a16:creationId xmlns:a16="http://schemas.microsoft.com/office/drawing/2014/main" id="{42BFACB7-14B9-4AC7-8080-7F97BCD3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60045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汇报逻辑</a:t>
            </a:r>
          </a:p>
        </p:txBody>
      </p:sp>
      <p:sp>
        <p:nvSpPr>
          <p:cNvPr id="23" name="drawio2pptx:shape:23">
            <a:extLst xmlns:a="http://schemas.openxmlformats.org/drawingml/2006/main">
              <a:ext uri="{FF2B5EF4-FFF2-40B4-BE49-F238E27FC236}">
                <a16:creationId xmlns:a16="http://schemas.microsoft.com/office/drawing/2014/main" id="{AEB34E88-8411-4DFD-A2DB-0371483F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019550"/>
            <a:ext cx="51625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从问题出发，而不是按表单逐项复述。
先说明为什么这个题目值得做，再交代现有研究的不足，随后收束到任务定义、研究方案和后续计划。</a:t>
            </a:r>
          </a:p>
        </p:txBody>
      </p:sp>
    </p:spTree>
    <p:extLst>
      <p:ext uri="{BB962C8B-B14F-4D97-AF65-F5344CB8AC3E}">
        <p14:creationId xmlns:p14="http://schemas.microsoft.com/office/powerpoint/2010/main" val="5820010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rawio2pptx:shape:2">
            <a:extLst xmlns:a="http://schemas.openxmlformats.org/drawingml/2006/main">
              <a:ext uri="{FF2B5EF4-FFF2-40B4-BE49-F238E27FC236}">
                <a16:creationId xmlns:a16="http://schemas.microsoft.com/office/drawing/2014/main" id="{140D4C48-371B-49B3-905C-2FC14418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drawio2pptx:shape:3">
            <a:extLst xmlns:a="http://schemas.openxmlformats.org/drawingml/2006/main">
              <a:ext uri="{FF2B5EF4-FFF2-40B4-BE49-F238E27FC236}">
                <a16:creationId xmlns:a16="http://schemas.microsoft.com/office/drawing/2014/main" id="{5183B734-7A7A-46FA-9B85-8F0999B7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drawio2pptx:shape:4">
            <a:extLst xmlns:a="http://schemas.openxmlformats.org/drawingml/2006/main">
              <a:ext uri="{FF2B5EF4-FFF2-40B4-BE49-F238E27FC236}">
                <a16:creationId xmlns:a16="http://schemas.microsoft.com/office/drawing/2014/main" id="{BBA756D2-72AB-4CC3-9AAA-461BFE34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rawio2pptx:shape:5">
            <a:extLst xmlns:a="http://schemas.openxmlformats.org/drawingml/2006/main">
              <a:ext uri="{FF2B5EF4-FFF2-40B4-BE49-F238E27FC236}">
                <a16:creationId xmlns:a16="http://schemas.microsoft.com/office/drawing/2014/main" id="{CBF0DBC6-C6B6-46E6-8ED4-A8CEBB4C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研究背景与问题提出</a:t>
            </a:r>
          </a:p>
        </p:txBody>
      </p:sp>
      <p:sp>
        <p:nvSpPr>
          <p:cNvPr id="6" name="drawio2pptx:shape:6">
            <a:extLst xmlns:a="http://schemas.openxmlformats.org/drawingml/2006/main">
              <a:ext uri="{FF2B5EF4-FFF2-40B4-BE49-F238E27FC236}">
                <a16:creationId xmlns:a16="http://schemas.microsoft.com/office/drawing/2014/main" id="{04896D0F-65BE-4B1C-B53C-E2DE77E4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drawio2pptx:shape:7">
            <a:extLst xmlns:a="http://schemas.openxmlformats.org/drawingml/2006/main">
              <a:ext uri="{FF2B5EF4-FFF2-40B4-BE49-F238E27FC236}">
                <a16:creationId xmlns:a16="http://schemas.microsoft.com/office/drawing/2014/main" id="{75FA2B7A-B32D-4191-83D6-A0480D04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925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 xmlns:a="http://schemas.openxmlformats.org/drawingml/2006/main">
              <a:ext uri="{FF2B5EF4-FFF2-40B4-BE49-F238E27FC236}">
                <a16:creationId xmlns:a16="http://schemas.microsoft.com/office/drawing/2014/main" id="{6E5C9DC9-3FD4-4710-A385-4E04D0AD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drawio2pptx:shape:9">
            <a:extLst xmlns:a="http://schemas.openxmlformats.org/drawingml/2006/main">
              <a:ext uri="{FF2B5EF4-FFF2-40B4-BE49-F238E27FC236}">
                <a16:creationId xmlns:a16="http://schemas.microsoft.com/office/drawing/2014/main" id="{3036ABD7-E795-4ED5-973B-0F0E3A05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335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为什么把“字形生成”收束到部件和结构条件上？</a:t>
            </a:r>
          </a:p>
        </p:txBody>
      </p:sp>
      <p:sp>
        <p:nvSpPr>
          <p:cNvPr id="10" name="drawio2pptx:shape:10">
            <a:extLst xmlns:a="http://schemas.openxmlformats.org/drawingml/2006/main">
              <a:ext uri="{FF2B5EF4-FFF2-40B4-BE49-F238E27FC236}">
                <a16:creationId xmlns:a16="http://schemas.microsoft.com/office/drawing/2014/main" id="{BC13D6F4-7DF4-499A-B076-D0DABB30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8667750" cy="5048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drawio2pptx:shape:11">
            <a:extLst xmlns:a="http://schemas.openxmlformats.org/drawingml/2006/main">
              <a:ext uri="{FF2B5EF4-FFF2-40B4-BE49-F238E27FC236}">
                <a16:creationId xmlns:a16="http://schemas.microsoft.com/office/drawing/2014/main" id="{E6AF6F2C-961B-46BB-8E11-3279FCF2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821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现实需求</a:t>
            </a:r>
          </a:p>
        </p:txBody>
      </p:sp>
      <p:sp>
        <p:nvSpPr>
          <p:cNvPr id="12" name="drawio2pptx:shape:12">
            <a:extLst xmlns:a="http://schemas.openxmlformats.org/drawingml/2006/main">
              <a:ext uri="{FF2B5EF4-FFF2-40B4-BE49-F238E27FC236}">
                <a16:creationId xmlns:a16="http://schemas.microsoft.com/office/drawing/2014/main" id="{60EEBF6C-E397-4246-9F41-6CEB7368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7050"/>
            <a:ext cx="821055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现代常用字已有成熟字库，但面对生僻字、异体字和未登录字符时，传统补字流程往往成本高、周期长，而且高度依赖人工经验。
在古籍整理、地方志数字化、少数民族文字信息化等场景中，字符数量不一定大，但对结构正确性和快速试排的需求很强。</a:t>
            </a:r>
          </a:p>
        </p:txBody>
      </p:sp>
      <p:sp>
        <p:nvSpPr>
          <p:cNvPr id="13" name="drawio2pptx:shape:13">
            <a:extLst xmlns:a="http://schemas.openxmlformats.org/drawingml/2006/main">
              <a:ext uri="{FF2B5EF4-FFF2-40B4-BE49-F238E27FC236}">
                <a16:creationId xmlns:a16="http://schemas.microsoft.com/office/drawing/2014/main" id="{D4ABB9B6-9555-4572-B342-4DC9F9F7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810500"/>
            <a:ext cx="8667750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drawio2pptx:shape:14">
            <a:extLst xmlns:a="http://schemas.openxmlformats.org/drawingml/2006/main">
              <a:ext uri="{FF2B5EF4-FFF2-40B4-BE49-F238E27FC236}">
                <a16:creationId xmlns:a16="http://schemas.microsoft.com/office/drawing/2014/main" id="{A3258052-1B4A-4CC3-B0CE-B6C047B3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981950"/>
            <a:ext cx="821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问题提出</a:t>
            </a:r>
          </a:p>
        </p:txBody>
      </p:sp>
      <p:sp>
        <p:nvSpPr>
          <p:cNvPr id="15" name="drawio2pptx:shape:15">
            <a:extLst xmlns:a="http://schemas.openxmlformats.org/drawingml/2006/main">
              <a:ext uri="{FF2B5EF4-FFF2-40B4-BE49-F238E27FC236}">
                <a16:creationId xmlns:a16="http://schemas.microsoft.com/office/drawing/2014/main" id="{682BC732-70BA-4F65-91D4-321BD493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8401050"/>
            <a:ext cx="821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与其把字当作普通图像去生成，不如直接利用方块字的构形规律，把部件和结构关系作为显式条件纳入模型。</a:t>
            </a:r>
          </a:p>
        </p:txBody>
      </p:sp>
      <p:sp>
        <p:nvSpPr>
          <p:cNvPr id="16" name="drawio2pptx:shape:16">
            <a:extLst xmlns:a="http://schemas.openxmlformats.org/drawingml/2006/main">
              <a:ext uri="{FF2B5EF4-FFF2-40B4-BE49-F238E27FC236}">
                <a16:creationId xmlns:a16="http://schemas.microsoft.com/office/drawing/2014/main" id="{81179A15-F0EB-4D0F-8ABC-38D8D498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6762750" cy="704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drawio2pptx:shape:17">
            <a:extLst xmlns:a="http://schemas.openxmlformats.org/drawingml/2006/main">
              <a:ext uri="{FF2B5EF4-FFF2-40B4-BE49-F238E27FC236}">
                <a16:creationId xmlns:a16="http://schemas.microsoft.com/office/drawing/2014/main" id="{32AF41AF-849D-4651-8B4F-112EA3DA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6220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现有样例字形</a:t>
            </a:r>
          </a:p>
        </p:txBody>
      </p:sp>
      <p:sp>
        <p:nvSpPr>
          <p:cNvPr id="18" name="drawio2pptx:shape:18">
            <a:extLst xmlns:a="http://schemas.openxmlformats.org/drawingml/2006/main">
              <a:ext uri="{FF2B5EF4-FFF2-40B4-BE49-F238E27FC236}">
                <a16:creationId xmlns:a16="http://schemas.microsoft.com/office/drawing/2014/main" id="{66AB57B7-540B-4679-9F60-B1834DF6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143250"/>
            <a:ext cx="2190750" cy="209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drawio2pptx:shape:19">
            <a:extLst xmlns:a="http://schemas.openxmlformats.org/drawingml/2006/main">
              <a:ext uri="{FF2B5EF4-FFF2-40B4-BE49-F238E27FC236}">
                <a16:creationId xmlns:a16="http://schemas.microsoft.com/office/drawing/2014/main" id="{B7643422-718F-4579-9AD9-BE784C69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276600"/>
            <a:ext cx="1924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drawio2pptx:shape:20">
            <a:extLst xmlns:a="http://schemas.openxmlformats.org/drawingml/2006/main">
              <a:ext uri="{FF2B5EF4-FFF2-40B4-BE49-F238E27FC236}">
                <a16:creationId xmlns:a16="http://schemas.microsoft.com/office/drawing/2014/main" id="{769ED4C8-8FD4-4C46-8554-AA15E491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857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狗</a:t>
            </a:r>
          </a:p>
        </p:txBody>
      </p:sp>
      <p:sp>
        <p:nvSpPr>
          <p:cNvPr id="21" name="drawio2pptx:shape:21">
            <a:extLst xmlns:a="http://schemas.openxmlformats.org/drawingml/2006/main">
              <a:ext uri="{FF2B5EF4-FFF2-40B4-BE49-F238E27FC236}">
                <a16:creationId xmlns:a16="http://schemas.microsoft.com/office/drawing/2014/main" id="{406C6DC2-CCEC-4BC3-808D-ED7117CC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143250"/>
            <a:ext cx="2190750" cy="209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drawio2pptx:shape:22">
            <a:extLst xmlns:a="http://schemas.openxmlformats.org/drawingml/2006/main">
              <a:ext uri="{FF2B5EF4-FFF2-40B4-BE49-F238E27FC236}">
                <a16:creationId xmlns:a16="http://schemas.microsoft.com/office/drawing/2014/main" id="{40D24745-E782-4EF4-A455-1421FD33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276600"/>
            <a:ext cx="1924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drawio2pptx:shape:23">
            <a:extLst xmlns:a="http://schemas.openxmlformats.org/drawingml/2006/main">
              <a:ext uri="{FF2B5EF4-FFF2-40B4-BE49-F238E27FC236}">
                <a16:creationId xmlns:a16="http://schemas.microsoft.com/office/drawing/2014/main" id="{2182C3BC-2DAB-45F7-93A4-95DBBF52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4857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困</a:t>
            </a:r>
          </a:p>
        </p:txBody>
      </p:sp>
      <p:sp>
        <p:nvSpPr>
          <p:cNvPr id="24" name="drawio2pptx:shape:24">
            <a:extLst xmlns:a="http://schemas.openxmlformats.org/drawingml/2006/main">
              <a:ext uri="{FF2B5EF4-FFF2-40B4-BE49-F238E27FC236}">
                <a16:creationId xmlns:a16="http://schemas.microsoft.com/office/drawing/2014/main" id="{ECB5B57B-F6D7-458E-B5DF-F67A92A9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810250"/>
            <a:ext cx="2190750" cy="209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drawio2pptx:shape:25">
            <a:extLst xmlns:a="http://schemas.openxmlformats.org/drawingml/2006/main">
              <a:ext uri="{FF2B5EF4-FFF2-40B4-BE49-F238E27FC236}">
                <a16:creationId xmlns:a16="http://schemas.microsoft.com/office/drawing/2014/main" id="{A61660AE-6884-41F9-875D-0DC630D1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943600"/>
            <a:ext cx="1924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drawio2pptx:shape:26">
            <a:extLst xmlns:a="http://schemas.openxmlformats.org/drawingml/2006/main">
              <a:ext uri="{FF2B5EF4-FFF2-40B4-BE49-F238E27FC236}">
                <a16:creationId xmlns:a16="http://schemas.microsoft.com/office/drawing/2014/main" id="{B02779A2-67CA-4BB8-A138-184B1363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524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间</a:t>
            </a:r>
          </a:p>
        </p:txBody>
      </p:sp>
      <p:sp>
        <p:nvSpPr>
          <p:cNvPr id="27" name="drawio2pptx:shape:27">
            <a:extLst xmlns:a="http://schemas.openxmlformats.org/drawingml/2006/main">
              <a:ext uri="{FF2B5EF4-FFF2-40B4-BE49-F238E27FC236}">
                <a16:creationId xmlns:a16="http://schemas.microsoft.com/office/drawing/2014/main" id="{D41AAC8A-8653-45F8-9522-F390CA3B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5810250"/>
            <a:ext cx="2190750" cy="209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drawio2pptx:shape:28">
            <a:extLst xmlns:a="http://schemas.openxmlformats.org/drawingml/2006/main">
              <a:ext uri="{FF2B5EF4-FFF2-40B4-BE49-F238E27FC236}">
                <a16:creationId xmlns:a16="http://schemas.microsoft.com/office/drawing/2014/main" id="{8A3EE9F7-001B-4D46-A1B5-DF1CC346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5943600"/>
            <a:ext cx="1924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drawio2pptx:shape:29">
            <a:extLst xmlns:a="http://schemas.openxmlformats.org/drawingml/2006/main">
              <a:ext uri="{FF2B5EF4-FFF2-40B4-BE49-F238E27FC236}">
                <a16:creationId xmlns:a16="http://schemas.microsoft.com/office/drawing/2014/main" id="{6A7E34BB-44B5-4BB0-86B2-1E7D2596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7524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闪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d16eaf02745ae"/>
          <a:stretch xmlns:a="http://schemas.openxmlformats.org/drawingml/2006/main"/>
        </p:blipFill>
        <p:spPr>
          <a:xfrm xmlns:a="http://schemas.openxmlformats.org/drawingml/2006/main">
            <a:off x="11268075" y="3276600"/>
            <a:ext cx="1466850" cy="14668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9737b7df343f4"/>
          <a:stretch xmlns:a="http://schemas.openxmlformats.org/drawingml/2006/main"/>
        </p:blipFill>
        <p:spPr>
          <a:xfrm xmlns:a="http://schemas.openxmlformats.org/drawingml/2006/main">
            <a:off x="14125575" y="3276600"/>
            <a:ext cx="1466850" cy="14668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6a9021f2d4d41"/>
          <a:stretch xmlns:a="http://schemas.openxmlformats.org/drawingml/2006/main"/>
        </p:blipFill>
        <p:spPr>
          <a:xfrm xmlns:a="http://schemas.openxmlformats.org/drawingml/2006/main">
            <a:off x="11268075" y="5943600"/>
            <a:ext cx="1466850" cy="146685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80655eb224d28"/>
          <a:stretch xmlns:a="http://schemas.openxmlformats.org/drawingml/2006/main"/>
        </p:blipFill>
        <p:spPr>
          <a:xfrm xmlns:a="http://schemas.openxmlformats.org/drawingml/2006/main">
            <a:off x="14125575" y="5943600"/>
            <a:ext cx="1466850" cy="1466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207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rawio2pptx:shape:2">
            <a:extLst xmlns:a="http://schemas.openxmlformats.org/drawingml/2006/main">
              <a:ext uri="{FF2B5EF4-FFF2-40B4-BE49-F238E27FC236}">
                <a16:creationId xmlns:a16="http://schemas.microsoft.com/office/drawing/2014/main" id="{0623D08E-6CF6-4F85-BCF1-6E6C2A75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drawio2pptx:shape:3">
            <a:extLst xmlns:a="http://schemas.openxmlformats.org/drawingml/2006/main">
              <a:ext uri="{FF2B5EF4-FFF2-40B4-BE49-F238E27FC236}">
                <a16:creationId xmlns:a16="http://schemas.microsoft.com/office/drawing/2014/main" id="{E776006F-8474-4339-BBD7-97C650C0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drawio2pptx:shape:4">
            <a:extLst xmlns:a="http://schemas.openxmlformats.org/drawingml/2006/main">
              <a:ext uri="{FF2B5EF4-FFF2-40B4-BE49-F238E27FC236}">
                <a16:creationId xmlns:a16="http://schemas.microsoft.com/office/drawing/2014/main" id="{F5B17FEA-1BB0-40A0-82F6-5CA785F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rawio2pptx:shape:5">
            <a:extLst xmlns:a="http://schemas.openxmlformats.org/drawingml/2006/main">
              <a:ext uri="{FF2B5EF4-FFF2-40B4-BE49-F238E27FC236}">
                <a16:creationId xmlns:a16="http://schemas.microsoft.com/office/drawing/2014/main" id="{FE92C210-45F2-4BD9-B647-309D45C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研究意义与应用场景</a:t>
            </a:r>
          </a:p>
        </p:txBody>
      </p:sp>
      <p:sp>
        <p:nvSpPr>
          <p:cNvPr id="6" name="drawio2pptx:shape:6">
            <a:extLst xmlns:a="http://schemas.openxmlformats.org/drawingml/2006/main">
              <a:ext uri="{FF2B5EF4-FFF2-40B4-BE49-F238E27FC236}">
                <a16:creationId xmlns:a16="http://schemas.microsoft.com/office/drawing/2014/main" id="{9BDB61B7-671F-4051-83F8-733848E2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drawio2pptx:shape:7">
            <a:extLst xmlns:a="http://schemas.openxmlformats.org/drawingml/2006/main">
              <a:ext uri="{FF2B5EF4-FFF2-40B4-BE49-F238E27FC236}">
                <a16:creationId xmlns:a16="http://schemas.microsoft.com/office/drawing/2014/main" id="{65E7D7A0-91CC-40C5-87D1-5AFB04A6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925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 xmlns:a="http://schemas.openxmlformats.org/drawingml/2006/main">
              <a:ext uri="{FF2B5EF4-FFF2-40B4-BE49-F238E27FC236}">
                <a16:creationId xmlns:a16="http://schemas.microsoft.com/office/drawing/2014/main" id="{9CC7C821-C4F9-42FB-965A-9AD3354B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drawio2pptx:shape:9">
            <a:extLst xmlns:a="http://schemas.openxmlformats.org/drawingml/2006/main">
              <a:ext uri="{FF2B5EF4-FFF2-40B4-BE49-F238E27FC236}">
                <a16:creationId xmlns:a16="http://schemas.microsoft.com/office/drawing/2014/main" id="{8C46D4A7-AC21-44AC-AB75-8A150FAC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方法研究先行，应用价值作为自然外延</a:t>
            </a:r>
          </a:p>
        </p:txBody>
      </p:sp>
      <p:sp>
        <p:nvSpPr>
          <p:cNvPr id="10" name="drawio2pptx:shape:10">
            <a:extLst xmlns:a="http://schemas.openxmlformats.org/drawingml/2006/main">
              <a:ext uri="{FF2B5EF4-FFF2-40B4-BE49-F238E27FC236}">
                <a16:creationId xmlns:a16="http://schemas.microsoft.com/office/drawing/2014/main" id="{7E09E7C0-C2A8-4805-B2F0-E01486AE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953000" cy="4000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drawio2pptx:shape:11">
            <a:extLst xmlns:a="http://schemas.openxmlformats.org/drawingml/2006/main">
              <a:ext uri="{FF2B5EF4-FFF2-40B4-BE49-F238E27FC236}">
                <a16:creationId xmlns:a16="http://schemas.microsoft.com/office/drawing/2014/main" id="{1553C6A6-A441-4162-8CAE-4E79AC02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289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字库补字与字体设计</a:t>
            </a:r>
          </a:p>
        </p:txBody>
      </p:sp>
      <p:sp>
        <p:nvSpPr>
          <p:cNvPr id="12" name="drawio2pptx:shape:12">
            <a:extLst xmlns:a="http://schemas.openxmlformats.org/drawingml/2006/main">
              <a:ext uri="{FF2B5EF4-FFF2-40B4-BE49-F238E27FC236}">
                <a16:creationId xmlns:a16="http://schemas.microsoft.com/office/drawing/2014/main" id="{827D4603-C42B-4262-87EC-179BD1F6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48050"/>
            <a:ext cx="4495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在目标字符缺失时，为字体设计和快速试排提供结构正确的候选字形，而不是完全依赖人工描绘。</a:t>
            </a:r>
          </a:p>
        </p:txBody>
      </p:sp>
      <p:sp>
        <p:nvSpPr>
          <p:cNvPr id="13" name="drawio2pptx:shape:13">
            <a:extLst xmlns:a="http://schemas.openxmlformats.org/drawingml/2006/main">
              <a:ext uri="{FF2B5EF4-FFF2-40B4-BE49-F238E27FC236}">
                <a16:creationId xmlns:a16="http://schemas.microsoft.com/office/drawing/2014/main" id="{7F6344AC-FD6D-46BD-900F-25BBA5F2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953000" cy="4000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drawio2pptx:shape:14">
            <a:extLst xmlns:a="http://schemas.openxmlformats.org/drawingml/2006/main">
              <a:ext uri="{FF2B5EF4-FFF2-40B4-BE49-F238E27FC236}">
                <a16:creationId xmlns:a16="http://schemas.microsoft.com/office/drawing/2014/main" id="{5550AEF3-B12C-40F5-BD1D-7E6485F3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289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古籍整理与异体字数字化</a:t>
            </a:r>
          </a:p>
        </p:txBody>
      </p:sp>
      <p:sp>
        <p:nvSpPr>
          <p:cNvPr id="15" name="drawio2pptx:shape:15">
            <a:extLst xmlns:a="http://schemas.openxmlformats.org/drawingml/2006/main">
              <a:ext uri="{FF2B5EF4-FFF2-40B4-BE49-F238E27FC236}">
                <a16:creationId xmlns:a16="http://schemas.microsoft.com/office/drawing/2014/main" id="{A31613D0-B09B-4D25-A33E-68A3F4AC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48050"/>
            <a:ext cx="4495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许多字符没有稳定编码入口，但研究者通常能给出构形描述或局部部件图像，这使统一条件接口有了真实使用场景。</a:t>
            </a:r>
          </a:p>
        </p:txBody>
      </p:sp>
      <p:sp>
        <p:nvSpPr>
          <p:cNvPr id="16" name="drawio2pptx:shape:16">
            <a:extLst xmlns:a="http://schemas.openxmlformats.org/drawingml/2006/main">
              <a:ext uri="{FF2B5EF4-FFF2-40B4-BE49-F238E27FC236}">
                <a16:creationId xmlns:a16="http://schemas.microsoft.com/office/drawing/2014/main" id="{53DA5DDD-3211-4A7D-B54D-0375DFF6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4953000" cy="4000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drawio2pptx:shape:17">
            <a:extLst xmlns:a="http://schemas.openxmlformats.org/drawingml/2006/main">
              <a:ext uri="{FF2B5EF4-FFF2-40B4-BE49-F238E27FC236}">
                <a16:creationId xmlns:a16="http://schemas.microsoft.com/office/drawing/2014/main" id="{FDD1F127-B552-43E2-A403-9DACEA7C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0289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低资源字符处理</a:t>
            </a:r>
          </a:p>
        </p:txBody>
      </p:sp>
      <p:sp>
        <p:nvSpPr>
          <p:cNvPr id="18" name="drawio2pptx:shape:18">
            <a:extLst xmlns:a="http://schemas.openxmlformats.org/drawingml/2006/main">
              <a:ext uri="{FF2B5EF4-FFF2-40B4-BE49-F238E27FC236}">
                <a16:creationId xmlns:a16="http://schemas.microsoft.com/office/drawing/2014/main" id="{71940E17-BB33-416A-AB58-1F57D4EB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448050"/>
            <a:ext cx="4495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若模型能够在有限样本下维持结构约束，就有机会把现代汉字主任务平滑延伸到 OOV 字符、古壮字等边缘场景。</a:t>
            </a:r>
          </a:p>
        </p:txBody>
      </p:sp>
      <p:sp>
        <p:nvSpPr>
          <p:cNvPr id="19" name="drawio2pptx:shape:19">
            <a:extLst xmlns:a="http://schemas.openxmlformats.org/drawingml/2006/main">
              <a:ext uri="{FF2B5EF4-FFF2-40B4-BE49-F238E27FC236}">
                <a16:creationId xmlns:a16="http://schemas.microsoft.com/office/drawing/2014/main" id="{4E74EA56-D492-42C5-8EF5-C0845C62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429500"/>
            <a:ext cx="1447800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drawio2pptx:shape:20">
            <a:extLst xmlns:a="http://schemas.openxmlformats.org/drawingml/2006/main">
              <a:ext uri="{FF2B5EF4-FFF2-40B4-BE49-F238E27FC236}">
                <a16:creationId xmlns:a16="http://schemas.microsoft.com/office/drawing/2014/main" id="{9CEB165A-0CF1-4B29-BF99-F39F476E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7600950"/>
            <a:ext cx="1402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研究定位</a:t>
            </a:r>
          </a:p>
        </p:txBody>
      </p:sp>
      <p:sp>
        <p:nvSpPr>
          <p:cNvPr id="21" name="drawio2pptx:shape:21">
            <a:extLst xmlns:a="http://schemas.openxmlformats.org/drawingml/2006/main">
              <a:ext uri="{FF2B5EF4-FFF2-40B4-BE49-F238E27FC236}">
                <a16:creationId xmlns:a16="http://schemas.microsoft.com/office/drawing/2014/main" id="{2D92F00B-6717-4AFC-B6B6-BB24B3BB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020050"/>
            <a:ext cx="1402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本课题首先讨论的是“部件与结构条件如何驱动整字生成”，不是把系统包装成已经成熟落地的工程产品。</a:t>
            </a:r>
          </a:p>
        </p:txBody>
      </p:sp>
    </p:spTree>
    <p:extLst>
      <p:ext uri="{BB962C8B-B14F-4D97-AF65-F5344CB8AC3E}">
        <p14:creationId xmlns:p14="http://schemas.microsoft.com/office/powerpoint/2010/main" val="11942849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rawio2pptx:shape:2">
            <a:extLst xmlns:a="http://schemas.openxmlformats.org/drawingml/2006/main">
              <a:ext uri="{FF2B5EF4-FFF2-40B4-BE49-F238E27FC236}">
                <a16:creationId xmlns:a16="http://schemas.microsoft.com/office/drawing/2014/main" id="{A8AB897F-B749-4866-BB86-3E509619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drawio2pptx:shape:3">
            <a:extLst xmlns:a="http://schemas.openxmlformats.org/drawingml/2006/main">
              <a:ext uri="{FF2B5EF4-FFF2-40B4-BE49-F238E27FC236}">
                <a16:creationId xmlns:a16="http://schemas.microsoft.com/office/drawing/2014/main" id="{D834C9C0-9882-4546-87EE-AF7A7CC1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drawio2pptx:shape:4">
            <a:extLst xmlns:a="http://schemas.openxmlformats.org/drawingml/2006/main">
              <a:ext uri="{FF2B5EF4-FFF2-40B4-BE49-F238E27FC236}">
                <a16:creationId xmlns:a16="http://schemas.microsoft.com/office/drawing/2014/main" id="{015A1C2A-6624-4117-814A-EDD72BCE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rawio2pptx:shape:5">
            <a:extLst xmlns:a="http://schemas.openxmlformats.org/drawingml/2006/main">
              <a:ext uri="{FF2B5EF4-FFF2-40B4-BE49-F238E27FC236}">
                <a16:creationId xmlns:a16="http://schemas.microsoft.com/office/drawing/2014/main" id="{900E982F-F528-47EC-BDC0-7A604075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国内外研究现状与研究空缺</a:t>
            </a:r>
          </a:p>
        </p:txBody>
      </p:sp>
      <p:sp>
        <p:nvSpPr>
          <p:cNvPr id="6" name="drawio2pptx:shape:6">
            <a:extLst xmlns:a="http://schemas.openxmlformats.org/drawingml/2006/main">
              <a:ext uri="{FF2B5EF4-FFF2-40B4-BE49-F238E27FC236}">
                <a16:creationId xmlns:a16="http://schemas.microsoft.com/office/drawing/2014/main" id="{3F435B7D-5719-47B0-B2DF-4BC6438B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drawio2pptx:shape:7">
            <a:extLst xmlns:a="http://schemas.openxmlformats.org/drawingml/2006/main">
              <a:ext uri="{FF2B5EF4-FFF2-40B4-BE49-F238E27FC236}">
                <a16:creationId xmlns:a16="http://schemas.microsoft.com/office/drawing/2014/main" id="{0A067508-D935-483E-A153-DA4AB34A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925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 xmlns:a="http://schemas.openxmlformats.org/drawingml/2006/main">
              <a:ext uri="{FF2B5EF4-FFF2-40B4-BE49-F238E27FC236}">
                <a16:creationId xmlns:a16="http://schemas.microsoft.com/office/drawing/2014/main" id="{84325802-0D5A-4BB1-8E6D-43A42B1D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drawio2pptx:shape:9">
            <a:extLst xmlns:a="http://schemas.openxmlformats.org/drawingml/2006/main">
              <a:ext uri="{FF2B5EF4-FFF2-40B4-BE49-F238E27FC236}">
                <a16:creationId xmlns:a16="http://schemas.microsoft.com/office/drawing/2014/main" id="{EE5A16C7-CBD3-486B-984D-9C89C307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相关研究已经很多，但尚未自然汇聚成统一任务框架</a:t>
            </a:r>
          </a:p>
        </p:txBody>
      </p:sp>
      <p:sp>
        <p:nvSpPr>
          <p:cNvPr id="10" name="drawio2pptx:shape:10">
            <a:extLst xmlns:a="http://schemas.openxmlformats.org/drawingml/2006/main">
              <a:ext uri="{FF2B5EF4-FFF2-40B4-BE49-F238E27FC236}">
                <a16:creationId xmlns:a16="http://schemas.microsoft.com/office/drawing/2014/main" id="{8F41D9A5-188E-4E9E-895A-989EE752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5143500" cy="4095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drawio2pptx:shape:11">
            <a:extLst xmlns:a="http://schemas.openxmlformats.org/drawingml/2006/main">
              <a:ext uri="{FF2B5EF4-FFF2-40B4-BE49-F238E27FC236}">
                <a16:creationId xmlns:a16="http://schemas.microsoft.com/office/drawing/2014/main" id="{3EB4EB1B-6AFC-4A34-9CDF-F110C78D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部件与结构表征</a:t>
            </a:r>
          </a:p>
        </p:txBody>
      </p:sp>
      <p:sp>
        <p:nvSpPr>
          <p:cNvPr id="12" name="drawio2pptx:shape:12">
            <a:extLst xmlns:a="http://schemas.openxmlformats.org/drawingml/2006/main">
              <a:ext uri="{FF2B5EF4-FFF2-40B4-BE49-F238E27FC236}">
                <a16:creationId xmlns:a16="http://schemas.microsoft.com/office/drawing/2014/main" id="{F0AA8228-D218-4A13-89D1-E6AC360B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46863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零样本汉字识别、显式偏旁编码、IDS 对齐、formation tree 等工作说明：汉字可以被拆解，也值得以结构化方式表示。</a:t>
            </a:r>
          </a:p>
        </p:txBody>
      </p:sp>
      <p:sp>
        <p:nvSpPr>
          <p:cNvPr id="13" name="drawio2pptx:shape:13">
            <a:extLst xmlns:a="http://schemas.openxmlformats.org/drawingml/2006/main">
              <a:ext uri="{FF2B5EF4-FFF2-40B4-BE49-F238E27FC236}">
                <a16:creationId xmlns:a16="http://schemas.microsoft.com/office/drawing/2014/main" id="{5038F874-E21E-4660-A7F7-DDB0D36C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5143500" cy="4095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drawio2pptx:shape:14">
            <a:extLst xmlns:a="http://schemas.openxmlformats.org/drawingml/2006/main">
              <a:ext uri="{FF2B5EF4-FFF2-40B4-BE49-F238E27FC236}">
                <a16:creationId xmlns:a16="http://schemas.microsoft.com/office/drawing/2014/main" id="{D0F74D02-3B40-4E99-9FEF-A1AA444D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字体迁移与字形生成</a:t>
            </a:r>
          </a:p>
        </p:txBody>
      </p:sp>
      <p:sp>
        <p:nvSpPr>
          <p:cNvPr id="15" name="drawio2pptx:shape:15">
            <a:extLst xmlns:a="http://schemas.openxmlformats.org/drawingml/2006/main">
              <a:ext uri="{FF2B5EF4-FFF2-40B4-BE49-F238E27FC236}">
                <a16:creationId xmlns:a16="http://schemas.microsoft.com/office/drawing/2014/main" id="{2A7464F0-309E-41C7-B9D4-A26E37EB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48050"/>
            <a:ext cx="46863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GAN、Transformer 和扩散模型显著提升了字形生成质量，但多数研究默认目标字符身份已知，关注的是风格迁移而非“部件到整字”的组合生成。</a:t>
            </a:r>
          </a:p>
        </p:txBody>
      </p:sp>
      <p:sp>
        <p:nvSpPr>
          <p:cNvPr id="16" name="drawio2pptx:shape:16">
            <a:extLst xmlns:a="http://schemas.openxmlformats.org/drawingml/2006/main">
              <a:ext uri="{FF2B5EF4-FFF2-40B4-BE49-F238E27FC236}">
                <a16:creationId xmlns:a16="http://schemas.microsoft.com/office/drawing/2014/main" id="{8B1F7A2A-4015-44AE-B668-AA26D7EB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5143500" cy="4095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drawio2pptx:shape:17">
            <a:extLst xmlns:a="http://schemas.openxmlformats.org/drawingml/2006/main">
              <a:ext uri="{FF2B5EF4-FFF2-40B4-BE49-F238E27FC236}">
                <a16:creationId xmlns:a16="http://schemas.microsoft.com/office/drawing/2014/main" id="{6A15653D-045F-41DB-8028-17B1FF4D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02895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扩散模型与稀有字符处理</a:t>
            </a:r>
          </a:p>
        </p:txBody>
      </p:sp>
      <p:sp>
        <p:nvSpPr>
          <p:cNvPr id="18" name="drawio2pptx:shape:18">
            <a:extLst xmlns:a="http://schemas.openxmlformats.org/drawingml/2006/main">
              <a:ext uri="{FF2B5EF4-FFF2-40B4-BE49-F238E27FC236}">
                <a16:creationId xmlns:a16="http://schemas.microsoft.com/office/drawing/2014/main" id="{DA3F5C95-70ED-4B14-8B01-5A8EFD39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448050"/>
            <a:ext cx="46863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近年的相关工作证明生成模型能够服务字体合成和低资源字符任务。
但在这些研究中，结构约束通常还不是最核心的控制信号。</a:t>
            </a:r>
          </a:p>
        </p:txBody>
      </p:sp>
      <p:sp>
        <p:nvSpPr>
          <p:cNvPr id="19" name="drawio2pptx:shape:19">
            <a:extLst xmlns:a="http://schemas.openxmlformats.org/drawingml/2006/main">
              <a:ext uri="{FF2B5EF4-FFF2-40B4-BE49-F238E27FC236}">
                <a16:creationId xmlns:a16="http://schemas.microsoft.com/office/drawing/2014/main" id="{CCFE51A0-B0B3-48FA-9CE5-DB248953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524750"/>
            <a:ext cx="15621000" cy="1381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9525">
            <a:solidFill>
              <a:srgbClr val="1F497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drawio2pptx:shape:20">
            <a:extLst xmlns:a="http://schemas.openxmlformats.org/drawingml/2006/main">
              <a:ext uri="{FF2B5EF4-FFF2-40B4-BE49-F238E27FC236}">
                <a16:creationId xmlns:a16="http://schemas.microsoft.com/office/drawing/2014/main" id="{13A77246-CECB-4A90-BC62-F4C0774E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810500"/>
            <a:ext cx="1504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研究空缺：现有工作分别回答了“如何表示部件”“如何迁移字体风格”“如何提升图像生成质量”，
但还没有形成成熟的“部件 + 结构条件 -&gt; 整字图像”的统一研究框架。</a:t>
            </a:r>
          </a:p>
        </p:txBody>
      </p:sp>
    </p:spTree>
    <p:extLst>
      <p:ext uri="{BB962C8B-B14F-4D97-AF65-F5344CB8AC3E}">
        <p14:creationId xmlns:p14="http://schemas.microsoft.com/office/powerpoint/2010/main" val="10288787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rawio2pptx:shape:2">
            <a:extLst xmlns:a="http://schemas.openxmlformats.org/drawingml/2006/main">
              <a:ext uri="{FF2B5EF4-FFF2-40B4-BE49-F238E27FC236}">
                <a16:creationId xmlns:a16="http://schemas.microsoft.com/office/drawing/2014/main" id="{78F3F08B-03E9-415A-99C3-BD0E4DAC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drawio2pptx:shape:3">
            <a:extLst xmlns:a="http://schemas.openxmlformats.org/drawingml/2006/main">
              <a:ext uri="{FF2B5EF4-FFF2-40B4-BE49-F238E27FC236}">
                <a16:creationId xmlns:a16="http://schemas.microsoft.com/office/drawing/2014/main" id="{1F837993-7F45-458C-AE05-708A0B36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drawio2pptx:shape:4">
            <a:extLst xmlns:a="http://schemas.openxmlformats.org/drawingml/2006/main">
              <a:ext uri="{FF2B5EF4-FFF2-40B4-BE49-F238E27FC236}">
                <a16:creationId xmlns:a16="http://schemas.microsoft.com/office/drawing/2014/main" id="{B6494F44-1310-4345-9AC5-994C5EC3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rawio2pptx:shape:5">
            <a:extLst xmlns:a="http://schemas.openxmlformats.org/drawingml/2006/main">
              <a:ext uri="{FF2B5EF4-FFF2-40B4-BE49-F238E27FC236}">
                <a16:creationId xmlns:a16="http://schemas.microsoft.com/office/drawing/2014/main" id="{42E6CD70-8857-43FD-A050-67C7716B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任务定义与研究目标</a:t>
            </a:r>
          </a:p>
        </p:txBody>
      </p:sp>
      <p:sp>
        <p:nvSpPr>
          <p:cNvPr id="6" name="drawio2pptx:shape:6">
            <a:extLst xmlns:a="http://schemas.openxmlformats.org/drawingml/2006/main">
              <a:ext uri="{FF2B5EF4-FFF2-40B4-BE49-F238E27FC236}">
                <a16:creationId xmlns:a16="http://schemas.microsoft.com/office/drawing/2014/main" id="{FE9C468A-0316-471A-BAE2-C0B5E2E9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drawio2pptx:shape:7">
            <a:extLst xmlns:a="http://schemas.openxmlformats.org/drawingml/2006/main">
              <a:ext uri="{FF2B5EF4-FFF2-40B4-BE49-F238E27FC236}">
                <a16:creationId xmlns:a16="http://schemas.microsoft.com/office/drawing/2014/main" id="{FEEC715D-E634-4680-8C6C-CA458BE4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925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 xmlns:a="http://schemas.openxmlformats.org/drawingml/2006/main">
              <a:ext uri="{FF2B5EF4-FFF2-40B4-BE49-F238E27FC236}">
                <a16:creationId xmlns:a16="http://schemas.microsoft.com/office/drawing/2014/main" id="{3A6867A4-AFDB-4836-B1AE-40AC3842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drawio2pptx:shape:9">
            <a:extLst xmlns:a="http://schemas.openxmlformats.org/drawingml/2006/main">
              <a:ext uri="{FF2B5EF4-FFF2-40B4-BE49-F238E27FC236}">
                <a16:creationId xmlns:a16="http://schemas.microsoft.com/office/drawing/2014/main" id="{14560949-3401-4853-8E81-58100A8A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33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输入部件和结构条件，输出完整字形图像</a:t>
            </a:r>
          </a:p>
        </p:txBody>
      </p:sp>
      <p:sp>
        <p:nvSpPr>
          <p:cNvPr id="10" name="drawio2pptx:shape:10">
            <a:extLst xmlns:a="http://schemas.openxmlformats.org/drawingml/2006/main">
              <a:ext uri="{FF2B5EF4-FFF2-40B4-BE49-F238E27FC236}">
                <a16:creationId xmlns:a16="http://schemas.microsoft.com/office/drawing/2014/main" id="{A98E1AB5-31D8-483B-B6A5-9A97E8AF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20955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drawio2pptx:shape:11">
            <a:extLst xmlns:a="http://schemas.openxmlformats.org/drawingml/2006/main">
              <a:ext uri="{FF2B5EF4-FFF2-40B4-BE49-F238E27FC236}">
                <a16:creationId xmlns:a16="http://schemas.microsoft.com/office/drawing/2014/main" id="{7415F562-8C91-4587-A52D-EAD72BD1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示例一：左右结构</a:t>
            </a:r>
          </a:p>
        </p:txBody>
      </p:sp>
      <p:sp>
        <p:nvSpPr>
          <p:cNvPr id="12" name="drawio2pptx:shape:12">
            <a:extLst xmlns:a="http://schemas.openxmlformats.org/drawingml/2006/main">
              <a:ext uri="{FF2B5EF4-FFF2-40B4-BE49-F238E27FC236}">
                <a16:creationId xmlns:a16="http://schemas.microsoft.com/office/drawing/2014/main" id="{A4A94013-7698-4A5F-9D38-6929808C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5240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drawio2pptx:shape:13">
            <a:extLst xmlns:a="http://schemas.openxmlformats.org/drawingml/2006/main">
              <a:ext uri="{FF2B5EF4-FFF2-40B4-BE49-F238E27FC236}">
                <a16:creationId xmlns:a16="http://schemas.microsoft.com/office/drawing/2014/main" id="{F84D91D6-6047-488E-9138-0439D3F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33725"/>
            <a:ext cx="1257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drawio2pptx:shape:14">
            <a:extLst xmlns:a="http://schemas.openxmlformats.org/drawingml/2006/main">
              <a:ext uri="{FF2B5EF4-FFF2-40B4-BE49-F238E27FC236}">
                <a16:creationId xmlns:a16="http://schemas.microsoft.com/office/drawing/2014/main" id="{9980B025-33AF-4AE7-87DA-78596E83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部件 A：犭</a:t>
            </a:r>
          </a:p>
        </p:txBody>
      </p:sp>
      <p:sp>
        <p:nvSpPr>
          <p:cNvPr id="15" name="drawio2pptx:shape:15">
            <a:extLst xmlns:a="http://schemas.openxmlformats.org/drawingml/2006/main">
              <a:ext uri="{FF2B5EF4-FFF2-40B4-BE49-F238E27FC236}">
                <a16:creationId xmlns:a16="http://schemas.microsoft.com/office/drawing/2014/main" id="{BC88F997-1B40-4A1F-B61A-5002EF4F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290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16" name="drawio2pptx:shape:16">
            <a:extLst xmlns:a="http://schemas.openxmlformats.org/drawingml/2006/main">
              <a:ext uri="{FF2B5EF4-FFF2-40B4-BE49-F238E27FC236}">
                <a16:creationId xmlns:a16="http://schemas.microsoft.com/office/drawing/2014/main" id="{BE74EEA2-34F9-47C3-8D6A-8DF465A8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00375"/>
            <a:ext cx="15240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drawio2pptx:shape:17">
            <a:extLst xmlns:a="http://schemas.openxmlformats.org/drawingml/2006/main">
              <a:ext uri="{FF2B5EF4-FFF2-40B4-BE49-F238E27FC236}">
                <a16:creationId xmlns:a16="http://schemas.microsoft.com/office/drawing/2014/main" id="{036B0BB1-B26A-4C22-9AA2-AE10A17A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33725"/>
            <a:ext cx="1257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drawio2pptx:shape:18">
            <a:extLst xmlns:a="http://schemas.openxmlformats.org/drawingml/2006/main">
              <a:ext uri="{FF2B5EF4-FFF2-40B4-BE49-F238E27FC236}">
                <a16:creationId xmlns:a16="http://schemas.microsoft.com/office/drawing/2014/main" id="{298ECAC2-1888-49F8-9C2B-F5CE890B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338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部件 B：句</a:t>
            </a:r>
          </a:p>
        </p:txBody>
      </p:sp>
      <p:sp>
        <p:nvSpPr>
          <p:cNvPr id="19" name="drawio2pptx:shape:19">
            <a:extLst xmlns:a="http://schemas.openxmlformats.org/drawingml/2006/main">
              <a:ext uri="{FF2B5EF4-FFF2-40B4-BE49-F238E27FC236}">
                <a16:creationId xmlns:a16="http://schemas.microsoft.com/office/drawing/2014/main" id="{3F8BA7AF-9964-4630-A7E8-47B85932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drawio2pptx:shape:20">
            <a:extLst xmlns:a="http://schemas.openxmlformats.org/drawingml/2006/main">
              <a:ext uri="{FF2B5EF4-FFF2-40B4-BE49-F238E27FC236}">
                <a16:creationId xmlns:a16="http://schemas.microsoft.com/office/drawing/2014/main" id="{6EB848F4-7747-4D4C-ADD0-CBAE3801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90925"/>
            <a:ext cx="23812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9525">
            <a:solidFill>
              <a:srgbClr val="1F497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drawio2pptx:shape:21">
            <a:extLst xmlns:a="http://schemas.openxmlformats.org/drawingml/2006/main">
              <a:ext uri="{FF2B5EF4-FFF2-40B4-BE49-F238E27FC236}">
                <a16:creationId xmlns:a16="http://schemas.microsoft.com/office/drawing/2014/main" id="{0DFFF8B8-EC33-4B11-82DB-B9996192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90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结构标签：left_right</a:t>
            </a:r>
          </a:p>
        </p:txBody>
      </p:sp>
      <p:sp>
        <p:nvSpPr>
          <p:cNvPr id="22" name="drawio2pptx:shape:22">
            <a:extLst xmlns:a="http://schemas.openxmlformats.org/drawingml/2006/main">
              <a:ext uri="{FF2B5EF4-FFF2-40B4-BE49-F238E27FC236}">
                <a16:creationId xmlns:a16="http://schemas.microsoft.com/office/drawing/2014/main" id="{DAA1D0AB-507B-464C-A8F7-F31910D9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809750" cy="209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drawio2pptx:shape:23">
            <a:extLst xmlns:a="http://schemas.openxmlformats.org/drawingml/2006/main">
              <a:ext uri="{FF2B5EF4-FFF2-40B4-BE49-F238E27FC236}">
                <a16:creationId xmlns:a16="http://schemas.microsoft.com/office/drawing/2014/main" id="{0A3A9201-A207-4DCC-B337-039E6AE2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90850"/>
            <a:ext cx="1543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drawio2pptx:shape:24">
            <a:extLst xmlns:a="http://schemas.openxmlformats.org/drawingml/2006/main">
              <a:ext uri="{FF2B5EF4-FFF2-40B4-BE49-F238E27FC236}">
                <a16:creationId xmlns:a16="http://schemas.microsoft.com/office/drawing/2014/main" id="{17752615-8EA2-4F57-89B3-0E14E05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72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输出：狗</a:t>
            </a:r>
          </a:p>
        </p:txBody>
      </p:sp>
      <p:sp>
        <p:nvSpPr>
          <p:cNvPr id="25" name="drawio2pptx:shape:25">
            <a:extLst xmlns:a="http://schemas.openxmlformats.org/drawingml/2006/main">
              <a:ext uri="{FF2B5EF4-FFF2-40B4-BE49-F238E27FC236}">
                <a16:creationId xmlns:a16="http://schemas.microsoft.com/office/drawing/2014/main" id="{6B8C1531-74F6-4B98-85C9-82E822ED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23812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drawio2pptx:shape:26">
            <a:extLst xmlns:a="http://schemas.openxmlformats.org/drawingml/2006/main">
              <a:ext uri="{FF2B5EF4-FFF2-40B4-BE49-F238E27FC236}">
                <a16:creationId xmlns:a16="http://schemas.microsoft.com/office/drawing/2014/main" id="{5269C6FC-F546-4957-ABAA-5BB4DA54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示例二：全包围结构</a:t>
            </a:r>
          </a:p>
        </p:txBody>
      </p:sp>
      <p:sp>
        <p:nvSpPr>
          <p:cNvPr id="27" name="drawio2pptx:shape:27">
            <a:extLst xmlns:a="http://schemas.openxmlformats.org/drawingml/2006/main">
              <a:ext uri="{FF2B5EF4-FFF2-40B4-BE49-F238E27FC236}">
                <a16:creationId xmlns:a16="http://schemas.microsoft.com/office/drawing/2014/main" id="{F4144B93-5D71-41F9-9D73-7F6BDA8B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15240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drawio2pptx:shape:28">
            <a:extLst xmlns:a="http://schemas.openxmlformats.org/drawingml/2006/main">
              <a:ext uri="{FF2B5EF4-FFF2-40B4-BE49-F238E27FC236}">
                <a16:creationId xmlns:a16="http://schemas.microsoft.com/office/drawing/2014/main" id="{FE808E00-80DF-4151-8F7C-695CF825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181725"/>
            <a:ext cx="1257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drawio2pptx:shape:29">
            <a:extLst xmlns:a="http://schemas.openxmlformats.org/drawingml/2006/main">
              <a:ext uri="{FF2B5EF4-FFF2-40B4-BE49-F238E27FC236}">
                <a16:creationId xmlns:a16="http://schemas.microsoft.com/office/drawing/2014/main" id="{6909F8DC-B8BA-420C-9A75-D7AF1DE0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818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部件 A：囗</a:t>
            </a:r>
          </a:p>
        </p:txBody>
      </p:sp>
      <p:sp>
        <p:nvSpPr>
          <p:cNvPr id="30" name="drawio2pptx:shape:30">
            <a:extLst xmlns:a="http://schemas.openxmlformats.org/drawingml/2006/main">
              <a:ext uri="{FF2B5EF4-FFF2-40B4-BE49-F238E27FC236}">
                <a16:creationId xmlns:a16="http://schemas.microsoft.com/office/drawing/2014/main" id="{0BFCBCDB-BBDC-4EBF-B8DD-CB725F57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4770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31" name="drawio2pptx:shape:31">
            <a:extLst xmlns:a="http://schemas.openxmlformats.org/drawingml/2006/main">
              <a:ext uri="{FF2B5EF4-FFF2-40B4-BE49-F238E27FC236}">
                <a16:creationId xmlns:a16="http://schemas.microsoft.com/office/drawing/2014/main" id="{F3CB2D9D-34C9-4F37-B3FA-B9798E4F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048375"/>
            <a:ext cx="15240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drawio2pptx:shape:32">
            <a:extLst xmlns:a="http://schemas.openxmlformats.org/drawingml/2006/main">
              <a:ext uri="{FF2B5EF4-FFF2-40B4-BE49-F238E27FC236}">
                <a16:creationId xmlns:a16="http://schemas.microsoft.com/office/drawing/2014/main" id="{49E62AC7-44F8-4BBC-8252-39158D45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6181725"/>
            <a:ext cx="1257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drawio2pptx:shape:33">
            <a:extLst xmlns:a="http://schemas.openxmlformats.org/drawingml/2006/main">
              <a:ext uri="{FF2B5EF4-FFF2-40B4-BE49-F238E27FC236}">
                <a16:creationId xmlns:a16="http://schemas.microsoft.com/office/drawing/2014/main" id="{80933385-6961-424A-B603-437865F7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73818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部件 B：木</a:t>
            </a:r>
          </a:p>
        </p:txBody>
      </p:sp>
      <p:sp>
        <p:nvSpPr>
          <p:cNvPr id="34" name="drawio2pptx:shape:34">
            <a:extLst xmlns:a="http://schemas.openxmlformats.org/drawingml/2006/main">
              <a:ext uri="{FF2B5EF4-FFF2-40B4-BE49-F238E27FC236}">
                <a16:creationId xmlns:a16="http://schemas.microsoft.com/office/drawing/2014/main" id="{89CDC007-82B5-4BAD-BDC2-E4889B02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770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5" name="drawio2pptx:shape:35">
            <a:extLst xmlns:a="http://schemas.openxmlformats.org/drawingml/2006/main">
              <a:ext uri="{FF2B5EF4-FFF2-40B4-BE49-F238E27FC236}">
                <a16:creationId xmlns:a16="http://schemas.microsoft.com/office/drawing/2014/main" id="{C957185F-D6F0-4D76-A1CB-661B863A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638925"/>
            <a:ext cx="26670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9525">
            <a:solidFill>
              <a:srgbClr val="1F497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drawio2pptx:shape:36">
            <a:extLst xmlns:a="http://schemas.openxmlformats.org/drawingml/2006/main">
              <a:ext uri="{FF2B5EF4-FFF2-40B4-BE49-F238E27FC236}">
                <a16:creationId xmlns:a16="http://schemas.microsoft.com/office/drawing/2014/main" id="{D61D305C-3CCA-4609-A68E-6F0F9CF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6389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结构标签：full_surround</a:t>
            </a:r>
          </a:p>
        </p:txBody>
      </p:sp>
      <p:sp>
        <p:nvSpPr>
          <p:cNvPr id="37" name="drawio2pptx:shape:37">
            <a:extLst xmlns:a="http://schemas.openxmlformats.org/drawingml/2006/main">
              <a:ext uri="{FF2B5EF4-FFF2-40B4-BE49-F238E27FC236}">
                <a16:creationId xmlns:a16="http://schemas.microsoft.com/office/drawing/2014/main" id="{3A5440ED-A69C-410A-8096-B75839A9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1809750" cy="209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drawio2pptx:shape:38">
            <a:extLst xmlns:a="http://schemas.openxmlformats.org/drawingml/2006/main">
              <a:ext uri="{FF2B5EF4-FFF2-40B4-BE49-F238E27FC236}">
                <a16:creationId xmlns:a16="http://schemas.microsoft.com/office/drawing/2014/main" id="{ADB64E67-E325-472F-B8F0-28CC98B0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038850"/>
            <a:ext cx="1543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drawio2pptx:shape:39">
            <a:extLst xmlns:a="http://schemas.openxmlformats.org/drawingml/2006/main">
              <a:ext uri="{FF2B5EF4-FFF2-40B4-BE49-F238E27FC236}">
                <a16:creationId xmlns:a16="http://schemas.microsoft.com/office/drawing/2014/main" id="{AADE32FE-0044-4FC8-ABE1-126E68BF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输出：困</a:t>
            </a:r>
          </a:p>
        </p:txBody>
      </p:sp>
      <p:sp>
        <p:nvSpPr>
          <p:cNvPr id="40" name="drawio2pptx:shape:40">
            <a:extLst xmlns:a="http://schemas.openxmlformats.org/drawingml/2006/main">
              <a:ext uri="{FF2B5EF4-FFF2-40B4-BE49-F238E27FC236}">
                <a16:creationId xmlns:a16="http://schemas.microsoft.com/office/drawing/2014/main" id="{54A2639E-7B9C-400A-8DC2-87DDB4A3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76500"/>
            <a:ext cx="4762500" cy="609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drawio2pptx:shape:41">
            <a:extLst xmlns:a="http://schemas.openxmlformats.org/drawingml/2006/main">
              <a:ext uri="{FF2B5EF4-FFF2-40B4-BE49-F238E27FC236}">
                <a16:creationId xmlns:a16="http://schemas.microsoft.com/office/drawing/2014/main" id="{38D6112E-97FF-4D74-AE47-EFB24F15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647950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42" name="drawio2pptx:shape:42">
            <a:extLst xmlns:a="http://schemas.openxmlformats.org/drawingml/2006/main">
              <a:ext uri="{FF2B5EF4-FFF2-40B4-BE49-F238E27FC236}">
                <a16:creationId xmlns:a16="http://schemas.microsoft.com/office/drawing/2014/main" id="{ED836FF0-9693-4D01-A5D8-2EB3281B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067050"/>
            <a:ext cx="43053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1. 生成结果在结构上正确、在视觉上可辨识。
2. 在随机切分之外，还要在未见整字组合上保持一定泛化能力。
3. 条件接口同时兼容文本部件输入和图像部件输入，为后续 OOV 扩展验证留下空间。
4. 任务不是规则拼接，也不是开放域文生图，而是一个边界清楚的结构化条件生成问题。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c26be6bec4782"/>
          <a:stretch xmlns:a="http://schemas.openxmlformats.org/drawingml/2006/main"/>
        </p:blipFill>
        <p:spPr>
          <a:xfrm xmlns:a="http://schemas.openxmlformats.org/drawingml/2006/main">
            <a:off x="1657350" y="3133725"/>
            <a:ext cx="1066800" cy="106680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48a2cef26416b"/>
          <a:stretch xmlns:a="http://schemas.openxmlformats.org/drawingml/2006/main"/>
        </p:blipFill>
        <p:spPr>
          <a:xfrm xmlns:a="http://schemas.openxmlformats.org/drawingml/2006/main">
            <a:off x="4181475" y="3133725"/>
            <a:ext cx="1066800" cy="106680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92b67c93643ea"/>
          <a:stretch xmlns:a="http://schemas.openxmlformats.org/drawingml/2006/main"/>
        </p:blipFill>
        <p:spPr>
          <a:xfrm xmlns:a="http://schemas.openxmlformats.org/drawingml/2006/main">
            <a:off x="9791700" y="2990850"/>
            <a:ext cx="1466850" cy="146685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dbbfa5d9042b6"/>
          <a:stretch xmlns:a="http://schemas.openxmlformats.org/drawingml/2006/main"/>
        </p:blipFill>
        <p:spPr>
          <a:xfrm xmlns:a="http://schemas.openxmlformats.org/drawingml/2006/main">
            <a:off x="1657350" y="6181725"/>
            <a:ext cx="1066800" cy="106680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2ec7a511a47a3"/>
          <a:stretch xmlns:a="http://schemas.openxmlformats.org/drawingml/2006/main"/>
        </p:blipFill>
        <p:spPr>
          <a:xfrm xmlns:a="http://schemas.openxmlformats.org/drawingml/2006/main">
            <a:off x="4181475" y="6181725"/>
            <a:ext cx="1066800" cy="10668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1aea387744d9c"/>
          <a:stretch xmlns:a="http://schemas.openxmlformats.org/drawingml/2006/main"/>
        </p:blipFill>
        <p:spPr>
          <a:xfrm xmlns:a="http://schemas.openxmlformats.org/drawingml/2006/main">
            <a:off x="9982200" y="6038850"/>
            <a:ext cx="1466850" cy="1466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920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rawio2pptx:shape:2">
            <a:extLst xmlns:a="http://schemas.openxmlformats.org/drawingml/2006/main">
              <a:ext uri="{FF2B5EF4-FFF2-40B4-BE49-F238E27FC236}">
                <a16:creationId xmlns:a16="http://schemas.microsoft.com/office/drawing/2014/main" id="{963D3BED-2256-4CA1-A3C1-E2A2AC87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drawio2pptx:shape:3">
            <a:extLst xmlns:a="http://schemas.openxmlformats.org/drawingml/2006/main">
              <a:ext uri="{FF2B5EF4-FFF2-40B4-BE49-F238E27FC236}">
                <a16:creationId xmlns:a16="http://schemas.microsoft.com/office/drawing/2014/main" id="{7C406F2C-B31C-47F8-850A-8E56C609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drawio2pptx:shape:4">
            <a:extLst xmlns:a="http://schemas.openxmlformats.org/drawingml/2006/main">
              <a:ext uri="{FF2B5EF4-FFF2-40B4-BE49-F238E27FC236}">
                <a16:creationId xmlns:a16="http://schemas.microsoft.com/office/drawing/2014/main" id="{06AEF253-D9EB-4985-A1CF-AB042F5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rawio2pptx:shape:5">
            <a:extLst xmlns:a="http://schemas.openxmlformats.org/drawingml/2006/main">
              <a:ext uri="{FF2B5EF4-FFF2-40B4-BE49-F238E27FC236}">
                <a16:creationId xmlns:a16="http://schemas.microsoft.com/office/drawing/2014/main" id="{DCD53034-BAF1-4D90-947B-294912CE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总体研究方案</a:t>
            </a:r>
          </a:p>
        </p:txBody>
      </p:sp>
      <p:sp>
        <p:nvSpPr>
          <p:cNvPr id="6" name="drawio2pptx:shape:6">
            <a:extLst xmlns:a="http://schemas.openxmlformats.org/drawingml/2006/main">
              <a:ext uri="{FF2B5EF4-FFF2-40B4-BE49-F238E27FC236}">
                <a16:creationId xmlns:a16="http://schemas.microsoft.com/office/drawing/2014/main" id="{831FA930-0242-45E7-9EAB-C00B5772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drawio2pptx:shape:7">
            <a:extLst xmlns:a="http://schemas.openxmlformats.org/drawingml/2006/main">
              <a:ext uri="{FF2B5EF4-FFF2-40B4-BE49-F238E27FC236}">
                <a16:creationId xmlns:a16="http://schemas.microsoft.com/office/drawing/2014/main" id="{150A78F3-7B60-4CF8-AE80-CFADB8DA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925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 xmlns:a="http://schemas.openxmlformats.org/drawingml/2006/main">
              <a:ext uri="{FF2B5EF4-FFF2-40B4-BE49-F238E27FC236}">
                <a16:creationId xmlns:a16="http://schemas.microsoft.com/office/drawing/2014/main" id="{5C235BEB-5657-4712-98AA-88321936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drawio2pptx:shape:9">
            <a:extLst xmlns:a="http://schemas.openxmlformats.org/drawingml/2006/main">
              <a:ext uri="{FF2B5EF4-FFF2-40B4-BE49-F238E27FC236}">
                <a16:creationId xmlns:a16="http://schemas.microsoft.com/office/drawing/2014/main" id="{F290EEB9-1B50-4385-A33A-7C1FF249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先把任务做小、做稳，再推进到主模型</a:t>
            </a:r>
          </a:p>
        </p:txBody>
      </p:sp>
      <p:sp>
        <p:nvSpPr>
          <p:cNvPr id="10" name="drawio2pptx:shape:10">
            <a:extLst xmlns:a="http://schemas.openxmlformats.org/drawingml/2006/main">
              <a:ext uri="{FF2B5EF4-FFF2-40B4-BE49-F238E27FC236}">
                <a16:creationId xmlns:a16="http://schemas.microsoft.com/office/drawing/2014/main" id="{6D12AAD9-2239-4844-82D7-74FCF5A1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85750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drawio2pptx:shape:11">
            <a:extLst xmlns:a="http://schemas.openxmlformats.org/drawingml/2006/main">
              <a:ext uri="{FF2B5EF4-FFF2-40B4-BE49-F238E27FC236}">
                <a16:creationId xmlns:a16="http://schemas.microsoft.com/office/drawing/2014/main" id="{073B0FAB-4636-4DED-95A8-092DB353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drawio2pptx:shape:12">
            <a:extLst xmlns:a="http://schemas.openxmlformats.org/drawingml/2006/main">
              <a:ext uri="{FF2B5EF4-FFF2-40B4-BE49-F238E27FC236}">
                <a16:creationId xmlns:a16="http://schemas.microsoft.com/office/drawing/2014/main" id="{881C15C8-4F90-432D-9E54-9F638574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13" name="drawio2pptx:shape:13">
            <a:extLst xmlns:a="http://schemas.openxmlformats.org/drawingml/2006/main">
              <a:ext uri="{FF2B5EF4-FFF2-40B4-BE49-F238E27FC236}">
                <a16:creationId xmlns:a16="http://schemas.microsoft.com/office/drawing/2014/main" id="{002611E0-A63C-405E-8E2F-EB809A02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2362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字体渲染 + 拆字表
生成目标字、部件图、结构标签和样式信息</a:t>
            </a:r>
          </a:p>
        </p:txBody>
      </p:sp>
      <p:sp>
        <p:nvSpPr>
          <p:cNvPr id="14" name="drawio2pptx:shape:14">
            <a:extLst xmlns:a="http://schemas.openxmlformats.org/drawingml/2006/main">
              <a:ext uri="{FF2B5EF4-FFF2-40B4-BE49-F238E27FC236}">
                <a16:creationId xmlns:a16="http://schemas.microsoft.com/office/drawing/2014/main" id="{FA6306DC-CA6D-4645-8872-48A28B70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drawio2pptx:shape:15">
            <a:extLst xmlns:a="http://schemas.openxmlformats.org/drawingml/2006/main">
              <a:ext uri="{FF2B5EF4-FFF2-40B4-BE49-F238E27FC236}">
                <a16:creationId xmlns:a16="http://schemas.microsoft.com/office/drawing/2014/main" id="{079D1287-B855-45FC-80AD-CC046BB6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285750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drawio2pptx:shape:16">
            <a:extLst xmlns:a="http://schemas.openxmlformats.org/drawingml/2006/main">
              <a:ext uri="{FF2B5EF4-FFF2-40B4-BE49-F238E27FC236}">
                <a16:creationId xmlns:a16="http://schemas.microsoft.com/office/drawing/2014/main" id="{8BE40CA3-D75E-4B8C-8F67-F862D4B3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67125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drawio2pptx:shape:17">
            <a:extLst xmlns:a="http://schemas.openxmlformats.org/drawingml/2006/main">
              <a:ext uri="{FF2B5EF4-FFF2-40B4-BE49-F238E27FC236}">
                <a16:creationId xmlns:a16="http://schemas.microsoft.com/office/drawing/2014/main" id="{33EABD06-B1BA-4DCE-BA3B-7F401035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14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基线模型</a:t>
            </a:r>
          </a:p>
        </p:txBody>
      </p:sp>
      <p:sp>
        <p:nvSpPr>
          <p:cNvPr id="18" name="drawio2pptx:shape:18">
            <a:extLst xmlns:a="http://schemas.openxmlformats.org/drawingml/2006/main">
              <a:ext uri="{FF2B5EF4-FFF2-40B4-BE49-F238E27FC236}">
                <a16:creationId xmlns:a16="http://schemas.microsoft.com/office/drawing/2014/main" id="{EB940E6A-76FE-4A69-A5B9-F10FD0D8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476750"/>
            <a:ext cx="2362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先训练条件 U-Net
验证任务是否能稳定跑通</a:t>
            </a:r>
          </a:p>
        </p:txBody>
      </p:sp>
      <p:sp>
        <p:nvSpPr>
          <p:cNvPr id="19" name="drawio2pptx:shape:19">
            <a:extLst xmlns:a="http://schemas.openxmlformats.org/drawingml/2006/main">
              <a:ext uri="{FF2B5EF4-FFF2-40B4-BE49-F238E27FC236}">
                <a16:creationId xmlns:a16="http://schemas.microsoft.com/office/drawing/2014/main" id="{E5FDE7B5-D904-40EE-A54A-56A815A2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767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drawio2pptx:shape:20">
            <a:extLst xmlns:a="http://schemas.openxmlformats.org/drawingml/2006/main">
              <a:ext uri="{FF2B5EF4-FFF2-40B4-BE49-F238E27FC236}">
                <a16:creationId xmlns:a16="http://schemas.microsoft.com/office/drawing/2014/main" id="{31E0CA9E-DE9F-470C-ACA5-FAC7FB8A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66700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drawio2pptx:shape:21">
            <a:extLst xmlns:a="http://schemas.openxmlformats.org/drawingml/2006/main">
              <a:ext uri="{FF2B5EF4-FFF2-40B4-BE49-F238E27FC236}">
                <a16:creationId xmlns:a16="http://schemas.microsoft.com/office/drawing/2014/main" id="{F0902581-8672-45D5-8C20-06C20CC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2" name="drawio2pptx:shape:22">
            <a:extLst xmlns:a="http://schemas.openxmlformats.org/drawingml/2006/main">
              <a:ext uri="{FF2B5EF4-FFF2-40B4-BE49-F238E27FC236}">
                <a16:creationId xmlns:a16="http://schemas.microsoft.com/office/drawing/2014/main" id="{93759382-309B-4134-956E-A6578604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表征压缩</a:t>
            </a:r>
          </a:p>
        </p:txBody>
      </p:sp>
      <p:sp>
        <p:nvSpPr>
          <p:cNvPr id="23" name="drawio2pptx:shape:23">
            <a:extLst xmlns:a="http://schemas.openxmlformats.org/drawingml/2006/main">
              <a:ext uri="{FF2B5EF4-FFF2-40B4-BE49-F238E27FC236}">
                <a16:creationId xmlns:a16="http://schemas.microsoft.com/office/drawing/2014/main" id="{7511CEAC-9F8A-4648-B2FF-D8E80507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2171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训练 VAE
把字形映射到潜空间</a:t>
            </a:r>
          </a:p>
        </p:txBody>
      </p:sp>
      <p:sp>
        <p:nvSpPr>
          <p:cNvPr id="24" name="drawio2pptx:shape:24">
            <a:extLst xmlns:a="http://schemas.openxmlformats.org/drawingml/2006/main">
              <a:ext uri="{FF2B5EF4-FFF2-40B4-BE49-F238E27FC236}">
                <a16:creationId xmlns:a16="http://schemas.microsoft.com/office/drawing/2014/main" id="{3AD6138B-F966-42C3-8064-253048D3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767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drawio2pptx:shape:25">
            <a:extLst xmlns:a="http://schemas.openxmlformats.org/drawingml/2006/main">
              <a:ext uri="{FF2B5EF4-FFF2-40B4-BE49-F238E27FC236}">
                <a16:creationId xmlns:a16="http://schemas.microsoft.com/office/drawing/2014/main" id="{F650FF11-3D12-46BA-AC51-362F40A9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33750"/>
            <a:ext cx="285750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drawio2pptx:shape:26">
            <a:extLst xmlns:a="http://schemas.openxmlformats.org/drawingml/2006/main">
              <a:ext uri="{FF2B5EF4-FFF2-40B4-BE49-F238E27FC236}">
                <a16:creationId xmlns:a16="http://schemas.microsoft.com/office/drawing/2014/main" id="{C0788F14-CAA0-4848-AF5C-5CF6FA3B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67125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drawio2pptx:shape:27">
            <a:extLst xmlns:a="http://schemas.openxmlformats.org/drawingml/2006/main">
              <a:ext uri="{FF2B5EF4-FFF2-40B4-BE49-F238E27FC236}">
                <a16:creationId xmlns:a16="http://schemas.microsoft.com/office/drawing/2014/main" id="{798949E1-CCF9-469F-B18A-8D1D8794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714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主模型</a:t>
            </a:r>
          </a:p>
        </p:txBody>
      </p:sp>
      <p:sp>
        <p:nvSpPr>
          <p:cNvPr id="28" name="drawio2pptx:shape:28">
            <a:extLst xmlns:a="http://schemas.openxmlformats.org/drawingml/2006/main">
              <a:ext uri="{FF2B5EF4-FFF2-40B4-BE49-F238E27FC236}">
                <a16:creationId xmlns:a16="http://schemas.microsoft.com/office/drawing/2014/main" id="{E80931A9-0092-4E4A-9294-246153C0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476750"/>
            <a:ext cx="2362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在潜空间中做条件扩散
比较结构一致性与生成质量</a:t>
            </a:r>
          </a:p>
        </p:txBody>
      </p:sp>
      <p:sp>
        <p:nvSpPr>
          <p:cNvPr id="29" name="drawio2pptx:shape:29">
            <a:extLst xmlns:a="http://schemas.openxmlformats.org/drawingml/2006/main">
              <a:ext uri="{FF2B5EF4-FFF2-40B4-BE49-F238E27FC236}">
                <a16:creationId xmlns:a16="http://schemas.microsoft.com/office/drawing/2014/main" id="{DDA6CF62-197F-48DE-95FA-F6E43AF5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4767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0" name="drawio2pptx:shape:30">
            <a:extLst xmlns:a="http://schemas.openxmlformats.org/drawingml/2006/main">
              <a:ext uri="{FF2B5EF4-FFF2-40B4-BE49-F238E27FC236}">
                <a16:creationId xmlns:a16="http://schemas.microsoft.com/office/drawing/2014/main" id="{204F5F12-1CF2-460D-9C17-701A4F71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333750"/>
            <a:ext cx="400050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drawio2pptx:shape:31">
            <a:extLst xmlns:a="http://schemas.openxmlformats.org/drawingml/2006/main">
              <a:ext uri="{FF2B5EF4-FFF2-40B4-BE49-F238E27FC236}">
                <a16:creationId xmlns:a16="http://schemas.microsoft.com/office/drawing/2014/main" id="{1D2215A0-0D5D-43D2-9250-BCC6E526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667125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2" name="drawio2pptx:shape:32">
            <a:extLst xmlns:a="http://schemas.openxmlformats.org/drawingml/2006/main">
              <a:ext uri="{FF2B5EF4-FFF2-40B4-BE49-F238E27FC236}">
                <a16:creationId xmlns:a16="http://schemas.microsoft.com/office/drawing/2014/main" id="{870DC179-42F1-474E-ADF3-03174117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37147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评测与扩展</a:t>
            </a:r>
          </a:p>
        </p:txBody>
      </p:sp>
      <p:sp>
        <p:nvSpPr>
          <p:cNvPr id="33" name="drawio2pptx:shape:33">
            <a:extLst xmlns:a="http://schemas.openxmlformats.org/drawingml/2006/main">
              <a:ext uri="{FF2B5EF4-FFF2-40B4-BE49-F238E27FC236}">
                <a16:creationId xmlns:a16="http://schemas.microsoft.com/office/drawing/2014/main" id="{0A2BEA8A-EA0B-44AE-8CE5-76F6AC80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4476750"/>
            <a:ext cx="3505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整字留出评测
加少量 OOV/古壮字扩展验证</a:t>
            </a:r>
          </a:p>
        </p:txBody>
      </p:sp>
      <p:sp>
        <p:nvSpPr>
          <p:cNvPr id="34" name="drawio2pptx:shape:34">
            <a:extLst xmlns:a="http://schemas.openxmlformats.org/drawingml/2006/main">
              <a:ext uri="{FF2B5EF4-FFF2-40B4-BE49-F238E27FC236}">
                <a16:creationId xmlns:a16="http://schemas.microsoft.com/office/drawing/2014/main" id="{6522665C-5078-48E0-8492-4C806BCA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429500"/>
            <a:ext cx="14478000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drawio2pptx:shape:35">
            <a:extLst xmlns:a="http://schemas.openxmlformats.org/drawingml/2006/main">
              <a:ext uri="{FF2B5EF4-FFF2-40B4-BE49-F238E27FC236}">
                <a16:creationId xmlns:a16="http://schemas.microsoft.com/office/drawing/2014/main" id="{C573C6A7-CBD8-4984-B133-274D1E5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7600950"/>
            <a:ext cx="1402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推进原则</a:t>
            </a:r>
          </a:p>
        </p:txBody>
      </p:sp>
      <p:sp>
        <p:nvSpPr>
          <p:cNvPr id="36" name="drawio2pptx:shape:36">
            <a:extLst xmlns:a="http://schemas.openxmlformats.org/drawingml/2006/main">
              <a:ext uri="{FF2B5EF4-FFF2-40B4-BE49-F238E27FC236}">
                <a16:creationId xmlns:a16="http://schemas.microsoft.com/office/drawing/2014/main" id="{031F2E85-B108-4CCC-B687-4245352E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020050"/>
            <a:ext cx="1402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主任务以现代汉字为核心，OOV 或古壮字只作为方法外延验证。研究路线优先保证问题定义清楚、数据协议稳定和基线可复现。</a:t>
            </a:r>
          </a:p>
        </p:txBody>
      </p:sp>
    </p:spTree>
    <p:extLst>
      <p:ext uri="{BB962C8B-B14F-4D97-AF65-F5344CB8AC3E}">
        <p14:creationId xmlns:p14="http://schemas.microsoft.com/office/powerpoint/2010/main" val="13872026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rawio2pptx:shape:2">
            <a:extLst xmlns:a="http://schemas.openxmlformats.org/drawingml/2006/main">
              <a:ext uri="{FF2B5EF4-FFF2-40B4-BE49-F238E27FC236}">
                <a16:creationId xmlns:a16="http://schemas.microsoft.com/office/drawing/2014/main" id="{96E0C7AE-E763-41AB-9CC9-C0A867A8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drawio2pptx:shape:3">
            <a:extLst xmlns:a="http://schemas.openxmlformats.org/drawingml/2006/main">
              <a:ext uri="{FF2B5EF4-FFF2-40B4-BE49-F238E27FC236}">
                <a16:creationId xmlns:a16="http://schemas.microsoft.com/office/drawing/2014/main" id="{1C7D9B8A-AFD4-4008-B293-7A630CAF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drawio2pptx:shape:4">
            <a:extLst xmlns:a="http://schemas.openxmlformats.org/drawingml/2006/main">
              <a:ext uri="{FF2B5EF4-FFF2-40B4-BE49-F238E27FC236}">
                <a16:creationId xmlns:a16="http://schemas.microsoft.com/office/drawing/2014/main" id="{9C085285-78D0-40FF-A178-961B401D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rawio2pptx:shape:5">
            <a:extLst xmlns:a="http://schemas.openxmlformats.org/drawingml/2006/main">
              <a:ext uri="{FF2B5EF4-FFF2-40B4-BE49-F238E27FC236}">
                <a16:creationId xmlns:a16="http://schemas.microsoft.com/office/drawing/2014/main" id="{054EB803-2AAD-443A-AC60-9ED90D3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核心方法设计</a:t>
            </a:r>
          </a:p>
        </p:txBody>
      </p:sp>
      <p:sp>
        <p:nvSpPr>
          <p:cNvPr id="6" name="drawio2pptx:shape:6">
            <a:extLst xmlns:a="http://schemas.openxmlformats.org/drawingml/2006/main">
              <a:ext uri="{FF2B5EF4-FFF2-40B4-BE49-F238E27FC236}">
                <a16:creationId xmlns:a16="http://schemas.microsoft.com/office/drawing/2014/main" id="{98AA725F-BA73-43A1-B2EF-FE804FAA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drawio2pptx:shape:7">
            <a:extLst xmlns:a="http://schemas.openxmlformats.org/drawingml/2006/main">
              <a:ext uri="{FF2B5EF4-FFF2-40B4-BE49-F238E27FC236}">
                <a16:creationId xmlns:a16="http://schemas.microsoft.com/office/drawing/2014/main" id="{F599E0EA-2E51-4C12-8FB4-50C72C27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925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 xmlns:a="http://schemas.openxmlformats.org/drawingml/2006/main">
              <a:ext uri="{FF2B5EF4-FFF2-40B4-BE49-F238E27FC236}">
                <a16:creationId xmlns:a16="http://schemas.microsoft.com/office/drawing/2014/main" id="{45E13ECB-4F0E-48AA-B8A7-F5F4D719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drawio2pptx:shape:9">
            <a:extLst xmlns:a="http://schemas.openxmlformats.org/drawingml/2006/main">
              <a:ext uri="{FF2B5EF4-FFF2-40B4-BE49-F238E27FC236}">
                <a16:creationId xmlns:a16="http://schemas.microsoft.com/office/drawing/2014/main" id="{042C428B-6C89-4332-9955-A015CAF2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统一条件接口 + 显式结构约束</a:t>
            </a:r>
          </a:p>
        </p:txBody>
      </p:sp>
      <p:sp>
        <p:nvSpPr>
          <p:cNvPr id="10" name="drawio2pptx:shape:10">
            <a:extLst xmlns:a="http://schemas.openxmlformats.org/drawingml/2006/main">
              <a:ext uri="{FF2B5EF4-FFF2-40B4-BE49-F238E27FC236}">
                <a16:creationId xmlns:a16="http://schemas.microsoft.com/office/drawing/2014/main" id="{1BF5271A-949A-41A8-A97E-4B58B2E0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5334000" cy="53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drawio2pptx:shape:11">
            <a:extLst xmlns:a="http://schemas.openxmlformats.org/drawingml/2006/main">
              <a:ext uri="{FF2B5EF4-FFF2-40B4-BE49-F238E27FC236}">
                <a16:creationId xmlns:a16="http://schemas.microsoft.com/office/drawing/2014/main" id="{CC581F72-F40C-40AA-9FA2-CA98BAEC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33700"/>
            <a:ext cx="487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统一条件接口</a:t>
            </a:r>
          </a:p>
        </p:txBody>
      </p:sp>
      <p:sp>
        <p:nvSpPr>
          <p:cNvPr id="12" name="drawio2pptx:shape:12">
            <a:extLst xmlns:a="http://schemas.openxmlformats.org/drawingml/2006/main">
              <a:ext uri="{FF2B5EF4-FFF2-40B4-BE49-F238E27FC236}">
                <a16:creationId xmlns:a16="http://schemas.microsoft.com/office/drawing/2014/main" id="{B5829515-BC44-45FF-9EDC-CB879A32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52800"/>
            <a:ext cx="4876800" cy="453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文本部件输入适合现代汉字的数据构造与词表管理。
图像部件输入更适合未登录字符、古壮字和异体字场景。
结构标签与样式信息与两类输入共同进入同一条件对象，避免形成彼此割裂的两套方法。</a:t>
            </a:r>
          </a:p>
        </p:txBody>
      </p:sp>
      <p:sp>
        <p:nvSpPr>
          <p:cNvPr id="13" name="drawio2pptx:shape:13">
            <a:extLst xmlns:a="http://schemas.openxmlformats.org/drawingml/2006/main">
              <a:ext uri="{FF2B5EF4-FFF2-40B4-BE49-F238E27FC236}">
                <a16:creationId xmlns:a16="http://schemas.microsoft.com/office/drawing/2014/main" id="{B5596C34-4E7D-4796-AF9C-17FDC45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495300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drawio2pptx:shape:14">
            <a:extLst xmlns:a="http://schemas.openxmlformats.org/drawingml/2006/main">
              <a:ext uri="{FF2B5EF4-FFF2-40B4-BE49-F238E27FC236}">
                <a16:creationId xmlns:a16="http://schemas.microsoft.com/office/drawing/2014/main" id="{576882D2-296B-4E67-9A94-68D196BD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条件 U-Net 基线</a:t>
            </a:r>
          </a:p>
        </p:txBody>
      </p:sp>
      <p:sp>
        <p:nvSpPr>
          <p:cNvPr id="15" name="drawio2pptx:shape:15">
            <a:extLst xmlns:a="http://schemas.openxmlformats.org/drawingml/2006/main">
              <a:ext uri="{FF2B5EF4-FFF2-40B4-BE49-F238E27FC236}">
                <a16:creationId xmlns:a16="http://schemas.microsoft.com/office/drawing/2014/main" id="{F3288F7A-402A-409E-9715-2BF012DD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52800"/>
            <a:ext cx="44958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从部件图像、部件 ID、结构标签和样式信息中提取条件，尽早建立一个稳定、可分析的生成基线。</a:t>
            </a:r>
          </a:p>
        </p:txBody>
      </p:sp>
      <p:sp>
        <p:nvSpPr>
          <p:cNvPr id="16" name="drawio2pptx:shape:16">
            <a:extLst xmlns:a="http://schemas.openxmlformats.org/drawingml/2006/main">
              <a:ext uri="{FF2B5EF4-FFF2-40B4-BE49-F238E27FC236}">
                <a16:creationId xmlns:a16="http://schemas.microsoft.com/office/drawing/2014/main" id="{066D96DF-0742-4E78-877A-F0DA8E11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95300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drawio2pptx:shape:17">
            <a:extLst xmlns:a="http://schemas.openxmlformats.org/drawingml/2006/main">
              <a:ext uri="{FF2B5EF4-FFF2-40B4-BE49-F238E27FC236}">
                <a16:creationId xmlns:a16="http://schemas.microsoft.com/office/drawing/2014/main" id="{B8198FD9-BB42-4D2E-B923-1DF42910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912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VAE + 潜空间扩散</a:t>
            </a:r>
          </a:p>
        </p:txBody>
      </p:sp>
      <p:sp>
        <p:nvSpPr>
          <p:cNvPr id="18" name="drawio2pptx:shape:18">
            <a:extLst xmlns:a="http://schemas.openxmlformats.org/drawingml/2006/main">
              <a:ext uri="{FF2B5EF4-FFF2-40B4-BE49-F238E27FC236}">
                <a16:creationId xmlns:a16="http://schemas.microsoft.com/office/drawing/2014/main" id="{3004D1B1-7983-4500-91A7-7C083D6C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210300"/>
            <a:ext cx="44958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先用 VAE 压缩字形，再在潜空间中做条件去噪生成，降低计算压力，同时比较主模型与基线在结构一致性上的差异。</a:t>
            </a:r>
          </a:p>
        </p:txBody>
      </p:sp>
      <p:sp>
        <p:nvSpPr>
          <p:cNvPr id="19" name="drawio2pptx:shape:19">
            <a:extLst xmlns:a="http://schemas.openxmlformats.org/drawingml/2006/main">
              <a:ext uri="{FF2B5EF4-FFF2-40B4-BE49-F238E27FC236}">
                <a16:creationId xmlns:a16="http://schemas.microsoft.com/office/drawing/2014/main" id="{3ABA7847-3FCC-43AE-9925-B7AF540A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762250"/>
            <a:ext cx="4953000" cy="53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drawio2pptx:shape:20">
            <a:extLst xmlns:a="http://schemas.openxmlformats.org/drawingml/2006/main">
              <a:ext uri="{FF2B5EF4-FFF2-40B4-BE49-F238E27FC236}">
                <a16:creationId xmlns:a16="http://schemas.microsoft.com/office/drawing/2014/main" id="{D588FA5C-AF46-4398-8C70-B510455B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9337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显式结构约束</a:t>
            </a:r>
          </a:p>
        </p:txBody>
      </p:sp>
      <p:sp>
        <p:nvSpPr>
          <p:cNvPr id="21" name="drawio2pptx:shape:21">
            <a:extLst xmlns:a="http://schemas.openxmlformats.org/drawingml/2006/main">
              <a:ext uri="{FF2B5EF4-FFF2-40B4-BE49-F238E27FC236}">
                <a16:creationId xmlns:a16="http://schemas.microsoft.com/office/drawing/2014/main" id="{D2889670-82A0-4D68-B954-CAF913ED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352800"/>
            <a:ext cx="4495800" cy="453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布局热图不只是可视化，而是作为空间先验进入模型。
结构监督和后续结构探针共同服务于一个目标：避免模型只记住整字外观，而没有真正学会部件之间该怎样组合。</a:t>
            </a:r>
          </a:p>
        </p:txBody>
      </p:sp>
    </p:spTree>
    <p:extLst>
      <p:ext uri="{BB962C8B-B14F-4D97-AF65-F5344CB8AC3E}">
        <p14:creationId xmlns:p14="http://schemas.microsoft.com/office/powerpoint/2010/main" val="2969720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rawio2pptx:shape:2">
            <a:extLst xmlns:a="http://schemas.openxmlformats.org/drawingml/2006/main">
              <a:ext uri="{FF2B5EF4-FFF2-40B4-BE49-F238E27FC236}">
                <a16:creationId xmlns:a16="http://schemas.microsoft.com/office/drawing/2014/main" id="{9FA1F6C6-12C3-4181-9158-98FD1B0F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drawio2pptx:shape:3">
            <a:extLst xmlns:a="http://schemas.openxmlformats.org/drawingml/2006/main">
              <a:ext uri="{FF2B5EF4-FFF2-40B4-BE49-F238E27FC236}">
                <a16:creationId xmlns:a16="http://schemas.microsoft.com/office/drawing/2014/main" id="{993BD4C8-365C-490F-BC6B-F50331F0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drawio2pptx:shape:4">
            <a:extLst xmlns:a="http://schemas.openxmlformats.org/drawingml/2006/main">
              <a:ext uri="{FF2B5EF4-FFF2-40B4-BE49-F238E27FC236}">
                <a16:creationId xmlns:a16="http://schemas.microsoft.com/office/drawing/2014/main" id="{4D597033-0AF0-439F-97A1-22CFE18B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rawio2pptx:shape:5">
            <a:extLst xmlns:a="http://schemas.openxmlformats.org/drawingml/2006/main">
              <a:ext uri="{FF2B5EF4-FFF2-40B4-BE49-F238E27FC236}">
                <a16:creationId xmlns:a16="http://schemas.microsoft.com/office/drawing/2014/main" id="{3AA98EDF-E6F8-4659-BBC0-F98D11B2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拟解决的关键问题</a:t>
            </a:r>
          </a:p>
        </p:txBody>
      </p:sp>
      <p:sp>
        <p:nvSpPr>
          <p:cNvPr id="6" name="drawio2pptx:shape:6">
            <a:extLst xmlns:a="http://schemas.openxmlformats.org/drawingml/2006/main">
              <a:ext uri="{FF2B5EF4-FFF2-40B4-BE49-F238E27FC236}">
                <a16:creationId xmlns:a16="http://schemas.microsoft.com/office/drawing/2014/main" id="{254ADBB1-4E79-4B29-AFE6-6D123A33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drawio2pptx:shape:7">
            <a:extLst xmlns:a="http://schemas.openxmlformats.org/drawingml/2006/main">
              <a:ext uri="{FF2B5EF4-FFF2-40B4-BE49-F238E27FC236}">
                <a16:creationId xmlns:a16="http://schemas.microsoft.com/office/drawing/2014/main" id="{C73C46B2-9F57-43AB-8784-CF1F1454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925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 xmlns:a="http://schemas.openxmlformats.org/drawingml/2006/main">
              <a:ext uri="{FF2B5EF4-FFF2-40B4-BE49-F238E27FC236}">
                <a16:creationId xmlns:a16="http://schemas.microsoft.com/office/drawing/2014/main" id="{CBC5D681-0B72-44DA-9CEC-70130D94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drawio2pptx:shape:9">
            <a:extLst xmlns:a="http://schemas.openxmlformats.org/drawingml/2006/main">
              <a:ext uri="{FF2B5EF4-FFF2-40B4-BE49-F238E27FC236}">
                <a16:creationId xmlns:a16="http://schemas.microsoft.com/office/drawing/2014/main" id="{33C4033D-E665-41DD-8774-91AAD466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真正困难的地方，不是“能不能出图”，而是“是否学会怎样组合”</a:t>
            </a:r>
          </a:p>
        </p:txBody>
      </p:sp>
      <p:sp>
        <p:nvSpPr>
          <p:cNvPr id="10" name="drawio2pptx:shape:10">
            <a:extLst xmlns:a="http://schemas.openxmlformats.org/drawingml/2006/main">
              <a:ext uri="{FF2B5EF4-FFF2-40B4-BE49-F238E27FC236}">
                <a16:creationId xmlns:a16="http://schemas.microsoft.com/office/drawing/2014/main" id="{437D7E03-F418-455D-9BB5-45C1B07F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495300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drawio2pptx:shape:11">
            <a:extLst xmlns:a="http://schemas.openxmlformats.org/drawingml/2006/main">
              <a:ext uri="{FF2B5EF4-FFF2-40B4-BE49-F238E27FC236}">
                <a16:creationId xmlns:a16="http://schemas.microsoft.com/office/drawing/2014/main" id="{F72F577E-7163-4642-834D-0171CE3C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多模态条件如何统一</a:t>
            </a:r>
          </a:p>
        </p:txBody>
      </p:sp>
      <p:sp>
        <p:nvSpPr>
          <p:cNvPr id="12" name="drawio2pptx:shape:12">
            <a:extLst xmlns:a="http://schemas.openxmlformats.org/drawingml/2006/main">
              <a:ext uri="{FF2B5EF4-FFF2-40B4-BE49-F238E27FC236}">
                <a16:creationId xmlns:a16="http://schemas.microsoft.com/office/drawing/2014/main" id="{5FA40DF5-DBB6-47C4-A36D-A9897E58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114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drawio2pptx:shape:13">
            <a:extLst xmlns:a="http://schemas.openxmlformats.org/drawingml/2006/main">
              <a:ext uri="{FF2B5EF4-FFF2-40B4-BE49-F238E27FC236}">
                <a16:creationId xmlns:a16="http://schemas.microsoft.com/office/drawing/2014/main" id="{D71A54A6-E813-43CE-9B9F-C16D0A05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88582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drawio2pptx:shape:14">
            <a:extLst xmlns:a="http://schemas.openxmlformats.org/drawingml/2006/main">
              <a:ext uri="{FF2B5EF4-FFF2-40B4-BE49-F238E27FC236}">
                <a16:creationId xmlns:a16="http://schemas.microsoft.com/office/drawing/2014/main" id="{31E08465-A60D-4780-B07D-B97AE7EB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670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文本部件与图像部件在接口层和编码层同时保持兼容，避免训练过程出现条件割裂。</a:t>
            </a:r>
          </a:p>
        </p:txBody>
      </p:sp>
      <p:sp>
        <p:nvSpPr>
          <p:cNvPr id="15" name="drawio2pptx:shape:15">
            <a:extLst xmlns:a="http://schemas.openxmlformats.org/drawingml/2006/main">
              <a:ext uri="{FF2B5EF4-FFF2-40B4-BE49-F238E27FC236}">
                <a16:creationId xmlns:a16="http://schemas.microsoft.com/office/drawing/2014/main" id="{714C1EB6-4CE1-429B-A4C4-12815A4E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495300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drawio2pptx:shape:16">
            <a:extLst xmlns:a="http://schemas.openxmlformats.org/drawingml/2006/main">
              <a:ext uri="{FF2B5EF4-FFF2-40B4-BE49-F238E27FC236}">
                <a16:creationId xmlns:a16="http://schemas.microsoft.com/office/drawing/2014/main" id="{5D293E19-DFC1-40FA-BF93-2B2BDA75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结构错误如何显式控制</a:t>
            </a:r>
          </a:p>
        </p:txBody>
      </p:sp>
      <p:sp>
        <p:nvSpPr>
          <p:cNvPr id="17" name="drawio2pptx:shape:17">
            <a:extLst xmlns:a="http://schemas.openxmlformats.org/drawingml/2006/main">
              <a:ext uri="{FF2B5EF4-FFF2-40B4-BE49-F238E27FC236}">
                <a16:creationId xmlns:a16="http://schemas.microsoft.com/office/drawing/2014/main" id="{87A93C7C-9459-4723-84CB-9CB73EBA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15000"/>
            <a:ext cx="114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drawio2pptx:shape:18">
            <a:extLst xmlns:a="http://schemas.openxmlformats.org/drawingml/2006/main">
              <a:ext uri="{FF2B5EF4-FFF2-40B4-BE49-F238E27FC236}">
                <a16:creationId xmlns:a16="http://schemas.microsoft.com/office/drawing/2014/main" id="{873602FA-F727-4A43-8142-84D1D7CE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88582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drawio2pptx:shape:19">
            <a:extLst xmlns:a="http://schemas.openxmlformats.org/drawingml/2006/main">
              <a:ext uri="{FF2B5EF4-FFF2-40B4-BE49-F238E27FC236}">
                <a16:creationId xmlns:a16="http://schemas.microsoft.com/office/drawing/2014/main" id="{FE6C8EAD-2ADC-4D0C-84B8-994566D5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410200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通过布局热图、结构监督和辅助探针约束部件比例、位置关系和包围结构，降低“看起来像字但结构不对”的风险。</a:t>
            </a:r>
          </a:p>
        </p:txBody>
      </p:sp>
      <p:sp>
        <p:nvSpPr>
          <p:cNvPr id="20" name="drawio2pptx:shape:20">
            <a:extLst xmlns:a="http://schemas.openxmlformats.org/drawingml/2006/main">
              <a:ext uri="{FF2B5EF4-FFF2-40B4-BE49-F238E27FC236}">
                <a16:creationId xmlns:a16="http://schemas.microsoft.com/office/drawing/2014/main" id="{4FF50378-1DFA-4A45-B859-DB50DC5A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91375"/>
            <a:ext cx="495300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drawio2pptx:shape:21">
            <a:extLst xmlns:a="http://schemas.openxmlformats.org/drawingml/2006/main">
              <a:ext uri="{FF2B5EF4-FFF2-40B4-BE49-F238E27FC236}">
                <a16:creationId xmlns:a16="http://schemas.microsoft.com/office/drawing/2014/main" id="{35F26586-C212-4505-8FC8-6F548B14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580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组合泛化如何被证明</a:t>
            </a:r>
          </a:p>
        </p:txBody>
      </p:sp>
      <p:sp>
        <p:nvSpPr>
          <p:cNvPr id="22" name="drawio2pptx:shape:22">
            <a:extLst xmlns:a="http://schemas.openxmlformats.org/drawingml/2006/main">
              <a:ext uri="{FF2B5EF4-FFF2-40B4-BE49-F238E27FC236}">
                <a16:creationId xmlns:a16="http://schemas.microsoft.com/office/drawing/2014/main" id="{F1331745-A2F1-4480-8B31-A35E8F56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58125"/>
            <a:ext cx="114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drawio2pptx:shape:23">
            <a:extLst xmlns:a="http://schemas.openxmlformats.org/drawingml/2006/main">
              <a:ext uri="{FF2B5EF4-FFF2-40B4-BE49-F238E27FC236}">
                <a16:creationId xmlns:a16="http://schemas.microsoft.com/office/drawing/2014/main" id="{5CE55029-BC01-48D8-B786-17F99C5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191375"/>
            <a:ext cx="88582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drawio2pptx:shape:24">
            <a:extLst xmlns:a="http://schemas.openxmlformats.org/drawingml/2006/main">
              <a:ext uri="{FF2B5EF4-FFF2-40B4-BE49-F238E27FC236}">
                <a16:creationId xmlns:a16="http://schemas.microsoft.com/office/drawing/2014/main" id="{B3B5FCAA-4C50-4B7F-B854-55DF8CC1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755332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把整字留出切分放到关键位置，结合结构正确性分析和典型案例，区分真正泛化与训练样本记忆。</a:t>
            </a:r>
          </a:p>
        </p:txBody>
      </p:sp>
    </p:spTree>
    <p:extLst>
      <p:ext uri="{BB962C8B-B14F-4D97-AF65-F5344CB8AC3E}">
        <p14:creationId xmlns:p14="http://schemas.microsoft.com/office/powerpoint/2010/main" val="187818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rawio2pptx:shape:2">
            <a:extLst xmlns:a="http://schemas.openxmlformats.org/drawingml/2006/main">
              <a:ext uri="{FF2B5EF4-FFF2-40B4-BE49-F238E27FC236}">
                <a16:creationId xmlns:a16="http://schemas.microsoft.com/office/drawing/2014/main" id="{A32085BF-F275-4E7D-AD1F-5FD4A6C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drawio2pptx:shape:3">
            <a:extLst xmlns:a="http://schemas.openxmlformats.org/drawingml/2006/main">
              <a:ext uri="{FF2B5EF4-FFF2-40B4-BE49-F238E27FC236}">
                <a16:creationId xmlns:a16="http://schemas.microsoft.com/office/drawing/2014/main" id="{A53CA0DE-4D6C-401F-A2A7-AF5F68C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drawio2pptx:shape:4">
            <a:extLst xmlns:a="http://schemas.openxmlformats.org/drawingml/2006/main">
              <a:ext uri="{FF2B5EF4-FFF2-40B4-BE49-F238E27FC236}">
                <a16:creationId xmlns:a16="http://schemas.microsoft.com/office/drawing/2014/main" id="{08FED2D6-7E95-4431-AEFA-F62A9762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rawio2pptx:shape:5">
            <a:extLst xmlns:a="http://schemas.openxmlformats.org/drawingml/2006/main">
              <a:ext uri="{FF2B5EF4-FFF2-40B4-BE49-F238E27FC236}">
                <a16:creationId xmlns:a16="http://schemas.microsoft.com/office/drawing/2014/main" id="{E4886BDF-9C29-4FF4-9007-BEE2DEFD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创新点与可行性分析</a:t>
            </a:r>
          </a:p>
        </p:txBody>
      </p:sp>
      <p:sp>
        <p:nvSpPr>
          <p:cNvPr id="6" name="drawio2pptx:shape:6">
            <a:extLst xmlns:a="http://schemas.openxmlformats.org/drawingml/2006/main">
              <a:ext uri="{FF2B5EF4-FFF2-40B4-BE49-F238E27FC236}">
                <a16:creationId xmlns:a16="http://schemas.microsoft.com/office/drawing/2014/main" id="{7AF1D62F-E00A-4A63-95AE-45CEFE72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drawio2pptx:shape:7">
            <a:extLst xmlns:a="http://schemas.openxmlformats.org/drawingml/2006/main">
              <a:ext uri="{FF2B5EF4-FFF2-40B4-BE49-F238E27FC236}">
                <a16:creationId xmlns:a16="http://schemas.microsoft.com/office/drawing/2014/main" id="{A3DFBE80-0BA8-4CCF-83DE-E5DB51AB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925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 xmlns:a="http://schemas.openxmlformats.org/drawingml/2006/main">
              <a:ext uri="{FF2B5EF4-FFF2-40B4-BE49-F238E27FC236}">
                <a16:creationId xmlns:a16="http://schemas.microsoft.com/office/drawing/2014/main" id="{C2CBB845-7852-4625-B8F0-01E986B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drawio2pptx:shape:9">
            <a:extLst xmlns:a="http://schemas.openxmlformats.org/drawingml/2006/main">
              <a:ext uri="{FF2B5EF4-FFF2-40B4-BE49-F238E27FC236}">
                <a16:creationId xmlns:a16="http://schemas.microsoft.com/office/drawing/2014/main" id="{33B47C9E-8B7B-4A2E-8F4B-4F3CF2BA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创新要讲清楚，可行性也要讲扎实</a:t>
            </a:r>
          </a:p>
        </p:txBody>
      </p:sp>
      <p:sp>
        <p:nvSpPr>
          <p:cNvPr id="10" name="drawio2pptx:shape:10">
            <a:extLst xmlns:a="http://schemas.openxmlformats.org/drawingml/2006/main">
              <a:ext uri="{FF2B5EF4-FFF2-40B4-BE49-F238E27FC236}">
                <a16:creationId xmlns:a16="http://schemas.microsoft.com/office/drawing/2014/main" id="{9899579A-D440-41F2-9E6B-4605B8A6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7239000" cy="590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drawio2pptx:shape:11">
            <a:extLst xmlns:a="http://schemas.openxmlformats.org/drawingml/2006/main">
              <a:ext uri="{FF2B5EF4-FFF2-40B4-BE49-F238E27FC236}">
                <a16:creationId xmlns:a16="http://schemas.microsoft.com/office/drawing/2014/main" id="{76307A31-9EBB-4F0C-A6B8-E6CC0618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28950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创新点</a:t>
            </a:r>
          </a:p>
        </p:txBody>
      </p:sp>
      <p:sp>
        <p:nvSpPr>
          <p:cNvPr id="12" name="drawio2pptx:shape:12">
            <a:extLst xmlns:a="http://schemas.openxmlformats.org/drawingml/2006/main">
              <a:ext uri="{FF2B5EF4-FFF2-40B4-BE49-F238E27FC236}">
                <a16:creationId xmlns:a16="http://schemas.microsoft.com/office/drawing/2014/main" id="{3ACAAEA9-E76F-4F06-84E5-09A9ED7C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48050"/>
            <a:ext cx="6781800" cy="510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1. 把文本部件输入和图像部件输入统一到同一条件接口中。
2. 将结构标签、布局热图和结构监督显式引入生成过程，而不是完全依赖模型隐式学习。
3. 将整字留出切分放到更关键的位置，用组合泛化而不是单纯随机切分来检验方法是否成立。</a:t>
            </a:r>
          </a:p>
        </p:txBody>
      </p:sp>
      <p:sp>
        <p:nvSpPr>
          <p:cNvPr id="13" name="drawio2pptx:shape:13">
            <a:extLst xmlns:a="http://schemas.openxmlformats.org/drawingml/2006/main">
              <a:ext uri="{FF2B5EF4-FFF2-40B4-BE49-F238E27FC236}">
                <a16:creationId xmlns:a16="http://schemas.microsoft.com/office/drawing/2014/main" id="{99129F1F-67F9-4C94-92E0-E605247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8001000" cy="590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drawio2pptx:shape:14">
            <a:extLst xmlns:a="http://schemas.openxmlformats.org/drawingml/2006/main">
              <a:ext uri="{FF2B5EF4-FFF2-40B4-BE49-F238E27FC236}">
                <a16:creationId xmlns:a16="http://schemas.microsoft.com/office/drawing/2014/main" id="{30E6B1F8-B095-460D-AF03-67207368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28950"/>
            <a:ext cx="754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可行性基础</a:t>
            </a:r>
          </a:p>
        </p:txBody>
      </p:sp>
      <p:sp>
        <p:nvSpPr>
          <p:cNvPr id="15" name="drawio2pptx:shape:15">
            <a:extLst xmlns:a="http://schemas.openxmlformats.org/drawingml/2006/main">
              <a:ext uri="{FF2B5EF4-FFF2-40B4-BE49-F238E27FC236}">
                <a16:creationId xmlns:a16="http://schemas.microsoft.com/office/drawing/2014/main" id="{26B36E6D-6D7D-42E7-BD35-91EA918E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48050"/>
            <a:ext cx="7543800" cy="510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数据来源明确：公开字体与拆字表可以支持自动构造首版样本。
研究路线可控：先做条件 U-Net 基线，再推进到 VAE 与潜空间扩散。
工程基础已具备：仓库中已有 build_dataset、train_baseline、train_diffusion、run_demo 等脚本，说明这项工作不是从零起步。
风险应对清楚：先低分辨率跑通链路，再逐步提升标准分辨率，并把 OOV 验证控制在小样本轻量适配范围内。</a:t>
            </a:r>
          </a:p>
        </p:txBody>
      </p:sp>
    </p:spTree>
    <p:extLst>
      <p:ext uri="{BB962C8B-B14F-4D97-AF65-F5344CB8AC3E}">
        <p14:creationId xmlns:p14="http://schemas.microsoft.com/office/powerpoint/2010/main" val="5059041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rawio2pptx:shape:2">
            <a:extLst xmlns:a="http://schemas.openxmlformats.org/drawingml/2006/main">
              <a:ext uri="{FF2B5EF4-FFF2-40B4-BE49-F238E27FC236}">
                <a16:creationId xmlns:a16="http://schemas.microsoft.com/office/drawing/2014/main" id="{4AFA9ED8-30A4-4B5A-A19E-591923CC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drawio2pptx:shape:3">
            <a:extLst xmlns:a="http://schemas.openxmlformats.org/drawingml/2006/main">
              <a:ext uri="{FF2B5EF4-FFF2-40B4-BE49-F238E27FC236}">
                <a16:creationId xmlns:a16="http://schemas.microsoft.com/office/drawing/2014/main" id="{56949B8C-CB6D-4634-AB9D-ECC12EE8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drawio2pptx:shape:4">
            <a:extLst xmlns:a="http://schemas.openxmlformats.org/drawingml/2006/main">
              <a:ext uri="{FF2B5EF4-FFF2-40B4-BE49-F238E27FC236}">
                <a16:creationId xmlns:a16="http://schemas.microsoft.com/office/drawing/2014/main" id="{C86103ED-8BF2-4048-B25B-5E13FBC2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rawio2pptx:shape:5">
            <a:extLst xmlns:a="http://schemas.openxmlformats.org/drawingml/2006/main">
              <a:ext uri="{FF2B5EF4-FFF2-40B4-BE49-F238E27FC236}">
                <a16:creationId xmlns:a16="http://schemas.microsoft.com/office/drawing/2014/main" id="{BBD5F5E4-1351-4F90-B2D1-8A6C8480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 研究计划与预期成果</a:t>
            </a:r>
          </a:p>
        </p:txBody>
      </p:sp>
      <p:sp>
        <p:nvSpPr>
          <p:cNvPr id="6" name="drawio2pptx:shape:6">
            <a:extLst xmlns:a="http://schemas.openxmlformats.org/drawingml/2006/main">
              <a:ext uri="{FF2B5EF4-FFF2-40B4-BE49-F238E27FC236}">
                <a16:creationId xmlns:a16="http://schemas.microsoft.com/office/drawing/2014/main" id="{784C7394-5315-464B-B434-E0E9CA91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drawio2pptx:shape:7">
            <a:extLst xmlns:a="http://schemas.openxmlformats.org/drawingml/2006/main">
              <a:ext uri="{FF2B5EF4-FFF2-40B4-BE49-F238E27FC236}">
                <a16:creationId xmlns:a16="http://schemas.microsoft.com/office/drawing/2014/main" id="{2C15E07C-21AC-43AE-B5CB-A67FA796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925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 xmlns:a="http://schemas.openxmlformats.org/drawingml/2006/main">
              <a:ext uri="{FF2B5EF4-FFF2-40B4-BE49-F238E27FC236}">
                <a16:creationId xmlns:a16="http://schemas.microsoft.com/office/drawing/2014/main" id="{7BB4042D-C07F-4CE6-BD90-F42C1E6E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drawio2pptx:shape:9">
            <a:extLst xmlns:a="http://schemas.openxmlformats.org/drawingml/2006/main">
              <a:ext uri="{FF2B5EF4-FFF2-40B4-BE49-F238E27FC236}">
                <a16:creationId xmlns:a16="http://schemas.microsoft.com/office/drawing/2014/main" id="{34D2E68E-D67B-47EA-ACC2-5F05D6D0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按阶段推进，保证每一步都能形成可复核结果</a:t>
            </a:r>
          </a:p>
        </p:txBody>
      </p:sp>
      <p:sp>
        <p:nvSpPr>
          <p:cNvPr id="10" name="drawio2pptx:shape:10">
            <a:extLst xmlns:a="http://schemas.openxmlformats.org/drawingml/2006/main">
              <a:ext uri="{FF2B5EF4-FFF2-40B4-BE49-F238E27FC236}">
                <a16:creationId xmlns:a16="http://schemas.microsoft.com/office/drawing/2014/main" id="{12DCBE58-07BE-4D65-A1C6-93DD1A95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0572750" cy="590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drawio2pptx:shape:11">
            <a:extLst xmlns:a="http://schemas.openxmlformats.org/drawingml/2006/main">
              <a:ext uri="{FF2B5EF4-FFF2-40B4-BE49-F238E27FC236}">
                <a16:creationId xmlns:a16="http://schemas.microsoft.com/office/drawing/2014/main" id="{49D58762-949D-4CEC-94AF-B727BC16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29000"/>
            <a:ext cx="2286000" cy="628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9525">
            <a:solidFill>
              <a:srgbClr val="1F497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drawio2pptx:shape:12">
            <a:extLst xmlns:a="http://schemas.openxmlformats.org/drawingml/2006/main">
              <a:ext uri="{FF2B5EF4-FFF2-40B4-BE49-F238E27FC236}">
                <a16:creationId xmlns:a16="http://schemas.microsoft.com/office/drawing/2014/main" id="{E19C58E1-4ED2-464E-B58E-C64DBC3B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290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2026.04-2026.06</a:t>
            </a:r>
          </a:p>
        </p:txBody>
      </p:sp>
      <p:sp>
        <p:nvSpPr>
          <p:cNvPr id="13" name="drawio2pptx:shape:13">
            <a:extLst xmlns:a="http://schemas.openxmlformats.org/drawingml/2006/main">
              <a:ext uri="{FF2B5EF4-FFF2-40B4-BE49-F238E27FC236}">
                <a16:creationId xmlns:a16="http://schemas.microsoft.com/office/drawing/2014/main" id="{5A029167-5FDA-4A3C-ADF4-FC84A2AC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33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文献梳理与任务收口</a:t>
            </a:r>
          </a:p>
        </p:txBody>
      </p:sp>
      <p:sp>
        <p:nvSpPr>
          <p:cNvPr id="14" name="drawio2pptx:shape:14">
            <a:extLst xmlns:a="http://schemas.openxmlformats.org/drawingml/2006/main">
              <a:ext uri="{FF2B5EF4-FFF2-40B4-BE49-F238E27FC236}">
                <a16:creationId xmlns:a16="http://schemas.microsoft.com/office/drawing/2014/main" id="{FC55D5A6-DB57-4F94-81CC-C45F9941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明确部件集合、结构标签、数据协议和实验划分方式。</a:t>
            </a:r>
          </a:p>
        </p:txBody>
      </p:sp>
      <p:sp>
        <p:nvSpPr>
          <p:cNvPr id="15" name="drawio2pptx:shape:15">
            <a:extLst xmlns:a="http://schemas.openxmlformats.org/drawingml/2006/main">
              <a:ext uri="{FF2B5EF4-FFF2-40B4-BE49-F238E27FC236}">
                <a16:creationId xmlns:a16="http://schemas.microsoft.com/office/drawing/2014/main" id="{D83A2AB9-4531-4A4F-A3A8-EBD247E1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91000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drawio2pptx:shape:16">
            <a:extLst xmlns:a="http://schemas.openxmlformats.org/drawingml/2006/main">
              <a:ext uri="{FF2B5EF4-FFF2-40B4-BE49-F238E27FC236}">
                <a16:creationId xmlns:a16="http://schemas.microsoft.com/office/drawing/2014/main" id="{EA49499E-8507-4B61-B215-9EB51D8E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2286000" cy="628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drawio2pptx:shape:17">
            <a:extLst xmlns:a="http://schemas.openxmlformats.org/drawingml/2006/main">
              <a:ext uri="{FF2B5EF4-FFF2-40B4-BE49-F238E27FC236}">
                <a16:creationId xmlns:a16="http://schemas.microsoft.com/office/drawing/2014/main" id="{5B99D1B3-AEF8-42DD-9DF5-E1A5DBE0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2026.07-2026.09</a:t>
            </a:r>
          </a:p>
        </p:txBody>
      </p:sp>
      <p:sp>
        <p:nvSpPr>
          <p:cNvPr id="18" name="drawio2pptx:shape:18">
            <a:extLst xmlns:a="http://schemas.openxmlformats.org/drawingml/2006/main">
              <a:ext uri="{FF2B5EF4-FFF2-40B4-BE49-F238E27FC236}">
                <a16:creationId xmlns:a16="http://schemas.microsoft.com/office/drawing/2014/main" id="{F5A4D5F5-530D-4CAA-89AE-09909505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基线模型训练</a:t>
            </a:r>
          </a:p>
        </p:txBody>
      </p:sp>
      <p:sp>
        <p:nvSpPr>
          <p:cNvPr id="19" name="drawio2pptx:shape:19">
            <a:extLst xmlns:a="http://schemas.openxmlformats.org/drawingml/2006/main">
              <a:ext uri="{FF2B5EF4-FFF2-40B4-BE49-F238E27FC236}">
                <a16:creationId xmlns:a16="http://schemas.microsoft.com/office/drawing/2014/main" id="{0E44AC85-28F8-4FE3-9E0F-18B61377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434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先在较低分辨率下跑通训练、保存、加载和推理全链路。</a:t>
            </a:r>
          </a:p>
        </p:txBody>
      </p:sp>
      <p:sp>
        <p:nvSpPr>
          <p:cNvPr id="20" name="drawio2pptx:shape:20">
            <a:extLst xmlns:a="http://schemas.openxmlformats.org/drawingml/2006/main">
              <a:ext uri="{FF2B5EF4-FFF2-40B4-BE49-F238E27FC236}">
                <a16:creationId xmlns:a16="http://schemas.microsoft.com/office/drawing/2014/main" id="{18721F24-AD65-4B01-A8FF-27703DCE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drawio2pptx:shape:21">
            <a:extLst xmlns:a="http://schemas.openxmlformats.org/drawingml/2006/main">
              <a:ext uri="{FF2B5EF4-FFF2-40B4-BE49-F238E27FC236}">
                <a16:creationId xmlns:a16="http://schemas.microsoft.com/office/drawing/2014/main" id="{6735222A-85AD-4959-A939-ABA8D035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86400"/>
            <a:ext cx="2286000" cy="628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drawio2pptx:shape:22">
            <a:extLst xmlns:a="http://schemas.openxmlformats.org/drawingml/2006/main">
              <a:ext uri="{FF2B5EF4-FFF2-40B4-BE49-F238E27FC236}">
                <a16:creationId xmlns:a16="http://schemas.microsoft.com/office/drawing/2014/main" id="{8567B524-B5C5-4ACD-9449-B0D0FE3D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864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2026.10-2026.12</a:t>
            </a:r>
          </a:p>
        </p:txBody>
      </p:sp>
      <p:sp>
        <p:nvSpPr>
          <p:cNvPr id="23" name="drawio2pptx:shape:23">
            <a:extLst xmlns:a="http://schemas.openxmlformats.org/drawingml/2006/main">
              <a:ext uri="{FF2B5EF4-FFF2-40B4-BE49-F238E27FC236}">
                <a16:creationId xmlns:a16="http://schemas.microsoft.com/office/drawing/2014/main" id="{30AE41CB-92A0-4C60-BEB8-0BD98195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91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主模型与核心对比</a:t>
            </a:r>
          </a:p>
        </p:txBody>
      </p:sp>
      <p:sp>
        <p:nvSpPr>
          <p:cNvPr id="24" name="drawio2pptx:shape:24">
            <a:extLst xmlns:a="http://schemas.openxmlformats.org/drawingml/2006/main">
              <a:ext uri="{FF2B5EF4-FFF2-40B4-BE49-F238E27FC236}">
                <a16:creationId xmlns:a16="http://schemas.microsoft.com/office/drawing/2014/main" id="{607618B5-B20B-4141-A37D-BC2B11B8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721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完成 VAE 与潜空间扩散训练，开展整字留出条件下的核心实验。</a:t>
            </a:r>
          </a:p>
        </p:txBody>
      </p:sp>
      <p:sp>
        <p:nvSpPr>
          <p:cNvPr id="25" name="drawio2pptx:shape:25">
            <a:extLst xmlns:a="http://schemas.openxmlformats.org/drawingml/2006/main">
              <a:ext uri="{FF2B5EF4-FFF2-40B4-BE49-F238E27FC236}">
                <a16:creationId xmlns:a16="http://schemas.microsoft.com/office/drawing/2014/main" id="{E37FBF9F-CCF3-4540-BCEA-0FE8151A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48400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drawio2pptx:shape:26">
            <a:extLst xmlns:a="http://schemas.openxmlformats.org/drawingml/2006/main">
              <a:ext uri="{FF2B5EF4-FFF2-40B4-BE49-F238E27FC236}">
                <a16:creationId xmlns:a16="http://schemas.microsoft.com/office/drawing/2014/main" id="{4CA57488-7C32-4415-9A5B-D165006E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515100"/>
            <a:ext cx="2286000" cy="628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drawio2pptx:shape:27">
            <a:extLst xmlns:a="http://schemas.openxmlformats.org/drawingml/2006/main">
              <a:ext uri="{FF2B5EF4-FFF2-40B4-BE49-F238E27FC236}">
                <a16:creationId xmlns:a16="http://schemas.microsoft.com/office/drawing/2014/main" id="{CC73E9EC-F330-45D7-8681-29671EA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5151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2027.01-2027.02</a:t>
            </a:r>
          </a:p>
        </p:txBody>
      </p:sp>
      <p:sp>
        <p:nvSpPr>
          <p:cNvPr id="28" name="drawio2pptx:shape:28">
            <a:extLst xmlns:a="http://schemas.openxmlformats.org/drawingml/2006/main">
              <a:ext uri="{FF2B5EF4-FFF2-40B4-BE49-F238E27FC236}">
                <a16:creationId xmlns:a16="http://schemas.microsoft.com/office/drawing/2014/main" id="{D9CFA904-70DA-4646-BB22-27A7EB68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19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扩展验证与演示整合</a:t>
            </a:r>
          </a:p>
        </p:txBody>
      </p:sp>
      <p:sp>
        <p:nvSpPr>
          <p:cNvPr id="29" name="drawio2pptx:shape:29">
            <a:extLst xmlns:a="http://schemas.openxmlformats.org/drawingml/2006/main">
              <a:ext uri="{FF2B5EF4-FFF2-40B4-BE49-F238E27FC236}">
                <a16:creationId xmlns:a16="http://schemas.microsoft.com/office/drawing/2014/main" id="{0DB09FD5-893C-42A4-8A47-29EC4E0A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8008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选取少量 OOV 样本进行图像条件适配与演示整合。</a:t>
            </a:r>
          </a:p>
        </p:txBody>
      </p:sp>
      <p:sp>
        <p:nvSpPr>
          <p:cNvPr id="30" name="drawio2pptx:shape:30">
            <a:extLst xmlns:a="http://schemas.openxmlformats.org/drawingml/2006/main">
              <a:ext uri="{FF2B5EF4-FFF2-40B4-BE49-F238E27FC236}">
                <a16:creationId xmlns:a16="http://schemas.microsoft.com/office/drawing/2014/main" id="{14EFA7BC-C6CE-4B8B-9A8A-BE80CE91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7277100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drawio2pptx:shape:31">
            <a:extLst xmlns:a="http://schemas.openxmlformats.org/drawingml/2006/main">
              <a:ext uri="{FF2B5EF4-FFF2-40B4-BE49-F238E27FC236}">
                <a16:creationId xmlns:a16="http://schemas.microsoft.com/office/drawing/2014/main" id="{F1466CCF-80A9-45C1-AAD8-54FF2359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543800"/>
            <a:ext cx="2286000" cy="628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drawio2pptx:shape:32">
            <a:extLst xmlns:a="http://schemas.openxmlformats.org/drawingml/2006/main">
              <a:ext uri="{FF2B5EF4-FFF2-40B4-BE49-F238E27FC236}">
                <a16:creationId xmlns:a16="http://schemas.microsoft.com/office/drawing/2014/main" id="{F6E8AAA8-DEB8-4D54-B7FA-EC5490CF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5438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2027.03-2027.05</a:t>
            </a:r>
          </a:p>
        </p:txBody>
      </p:sp>
      <p:sp>
        <p:nvSpPr>
          <p:cNvPr id="33" name="drawio2pptx:shape:33">
            <a:extLst xmlns:a="http://schemas.openxmlformats.org/drawingml/2006/main">
              <a:ext uri="{FF2B5EF4-FFF2-40B4-BE49-F238E27FC236}">
                <a16:creationId xmlns:a16="http://schemas.microsoft.com/office/drawing/2014/main" id="{E6B8548E-B75C-4452-B46E-7E07EC16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4485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论文写作与答辩准备</a:t>
            </a:r>
          </a:p>
        </p:txBody>
      </p:sp>
      <p:sp>
        <p:nvSpPr>
          <p:cNvPr id="34" name="drawio2pptx:shape:34">
            <a:extLst xmlns:a="http://schemas.openxmlformats.org/drawingml/2006/main">
              <a:ext uri="{FF2B5EF4-FFF2-40B4-BE49-F238E27FC236}">
                <a16:creationId xmlns:a16="http://schemas.microsoft.com/office/drawing/2014/main" id="{73FB762C-B9F9-4B9F-889E-FB188F01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8295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完成图表整理、结果复核、论文写作和答辩材料收束。</a:t>
            </a:r>
          </a:p>
        </p:txBody>
      </p:sp>
      <p:sp>
        <p:nvSpPr>
          <p:cNvPr id="35" name="drawio2pptx:shape:35">
            <a:extLst xmlns:a="http://schemas.openxmlformats.org/drawingml/2006/main">
              <a:ext uri="{FF2B5EF4-FFF2-40B4-BE49-F238E27FC236}">
                <a16:creationId xmlns:a16="http://schemas.microsoft.com/office/drawing/2014/main" id="{C88EBD1F-FAFB-43B5-B1E8-0433FB94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857500"/>
            <a:ext cx="4762500" cy="590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drawio2pptx:shape:36">
            <a:extLst xmlns:a="http://schemas.openxmlformats.org/drawingml/2006/main">
              <a:ext uri="{FF2B5EF4-FFF2-40B4-BE49-F238E27FC236}">
                <a16:creationId xmlns:a16="http://schemas.microsoft.com/office/drawing/2014/main" id="{458519E1-6CB6-471F-B51A-E270543C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028950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37" name="drawio2pptx:shape:37">
            <a:extLst xmlns:a="http://schemas.openxmlformats.org/drawingml/2006/main">
              <a:ext uri="{FF2B5EF4-FFF2-40B4-BE49-F238E27FC236}">
                <a16:creationId xmlns:a16="http://schemas.microsoft.com/office/drawing/2014/main" id="{30870BDD-7317-4BC6-8F12-9F594BBC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448050"/>
            <a:ext cx="4305300" cy="510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1. 形成覆盖数据准备、模型训练、评测和推理的研究原型。
2. 完成条件 U-Net 基线与潜空间扩散主模型的系统对比。
3. 建立以整字留出切分为核心的评测协议。
4. 通过小规模 OOV 扩展验证统一条件接口的可迁移性。
5. 完成硕士开题后的持续研究与论文写作材料。</a:t>
            </a:r>
          </a:p>
        </p:txBody>
      </p:sp>
    </p:spTree>
    <p:extLst>
      <p:ext uri="{BB962C8B-B14F-4D97-AF65-F5344CB8AC3E}">
        <p14:creationId xmlns:p14="http://schemas.microsoft.com/office/powerpoint/2010/main" val="14306978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rawio2pptx:shape:2">
            <a:extLst xmlns:a="http://schemas.openxmlformats.org/drawingml/2006/main">
              <a:ext uri="{FF2B5EF4-FFF2-40B4-BE49-F238E27FC236}">
                <a16:creationId xmlns:a16="http://schemas.microsoft.com/office/drawing/2014/main" id="{C7D89429-094E-4D63-9689-468D0FDA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drawio2pptx:shape:3">
            <a:extLst xmlns:a="http://schemas.openxmlformats.org/drawingml/2006/main">
              <a:ext uri="{FF2B5EF4-FFF2-40B4-BE49-F238E27FC236}">
                <a16:creationId xmlns:a16="http://schemas.microsoft.com/office/drawing/2014/main" id="{79400874-0B77-492B-8427-C2D15E62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drawio2pptx:shape:4">
            <a:extLst xmlns:a="http://schemas.openxmlformats.org/drawingml/2006/main">
              <a:ext uri="{FF2B5EF4-FFF2-40B4-BE49-F238E27FC236}">
                <a16:creationId xmlns:a16="http://schemas.microsoft.com/office/drawing/2014/main" id="{5089EA23-6A1E-47B5-B8CF-C418C951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rawio2pptx:shape:5">
            <a:extLst xmlns:a="http://schemas.openxmlformats.org/drawingml/2006/main">
              <a:ext uri="{FF2B5EF4-FFF2-40B4-BE49-F238E27FC236}">
                <a16:creationId xmlns:a16="http://schemas.microsoft.com/office/drawing/2014/main" id="{FF2D94BF-33F6-4A11-A45E-E9B8A6E4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257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感谢各位老师的聆听与指导</a:t>
            </a:r>
          </a:p>
        </p:txBody>
      </p:sp>
      <p:sp>
        <p:nvSpPr>
          <p:cNvPr id="6" name="drawio2pptx:shape:6">
            <a:extLst xmlns:a="http://schemas.openxmlformats.org/drawingml/2006/main">
              <a:ext uri="{FF2B5EF4-FFF2-40B4-BE49-F238E27FC236}">
                <a16:creationId xmlns:a16="http://schemas.microsoft.com/office/drawing/2014/main" id="{7515CC02-5CE9-4485-98DD-F83BD27A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Q &amp; A</a:t>
            </a:r>
          </a:p>
        </p:txBody>
      </p:sp>
      <p:sp>
        <p:nvSpPr>
          <p:cNvPr id="7" name="drawio2pptx:shape:7">
            <a:extLst xmlns:a="http://schemas.openxmlformats.org/drawingml/2006/main">
              <a:ext uri="{FF2B5EF4-FFF2-40B4-BE49-F238E27FC236}">
                <a16:creationId xmlns:a16="http://schemas.microsoft.com/office/drawing/2014/main" id="{94943163-0CB9-473B-B158-7A827D22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572250"/>
            <a:ext cx="1143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汇报人：黄子涵    指导教师：白凤波    2026 年 4 月</a:t>
            </a:r>
          </a:p>
        </p:txBody>
      </p:sp>
      <p:sp>
        <p:nvSpPr>
          <p:cNvPr id="8" name="drawio2pptx:shape:8">
            <a:extLst xmlns:a="http://schemas.openxmlformats.org/drawingml/2006/main">
              <a:ext uri="{FF2B5EF4-FFF2-40B4-BE49-F238E27FC236}">
                <a16:creationId xmlns:a16="http://schemas.microsoft.com/office/drawing/2014/main" id="{06512ECE-7581-4EFC-BE91-C23A9B46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3342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19050" rIns="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80415619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2026-04-21T07:45:42.8280000Z</dcterms:created>
  <dcterms:modified xsi:type="dcterms:W3CDTF">2026-04-21T07:45:42.8280000Z</dcterms:modified>
</coreProperties>
</file>