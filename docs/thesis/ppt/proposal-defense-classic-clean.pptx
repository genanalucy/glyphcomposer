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72" d="100"/>
          <a:sy n="72" d="100"/>
        </p:scale>
        <p:origin x="480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D5B7F-0F9B-40DE-BACF-A249632246F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26899B-7B59-4139-9C50-DB7BF87BDB0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0D7C5-8F9A-40AB-8B90-8B321078E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2BB951-AD52-4D39-8F0C-20331F59FAA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179153-106F-46E3-BAA2-F506F913C00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2CCF0-01E6-4599-883E-8D98C636C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/>
            </a:lvl1pPr>
          </a:lstStyle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2FF992-CF29-4965-A53E-DBF5279FBE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ED38C0-4B5C-45D3-9681-D3D3E0C51CB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CBD78-5FDE-4D80-96EE-FEE60448E3C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13672-8CCC-4D46-8460-DA7BE89C0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D8C0DA-48ED-475F-958D-FA18ED62399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E24F45-7666-45F7-9CE4-D6AC5910A09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80ECB-EB93-4D5C-89B5-9BC48010A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68735C-6575-4358-8A02-4116BB3DD1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endParaRPr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7C497F-43DB-4ED6-91AC-BE39ACE6A579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endParaRPr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C806AE-CA4D-4F56-A8DB-596D7AC0775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81541A-D8C4-43B9-8C3B-52E90BD15DC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E24A3-4565-45E4-8721-A921D6FD4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959CC4-23BA-4FB8-8598-99FB789699F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D31FD2-9FE6-4D2C-A7CB-07B2F265329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B3D1B6-2071-4652-8527-2D52F701A79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8B30D3-E4BA-4D04-B4B2-D214E9F295D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BFAEE-FA35-4783-A3D8-16DDFD746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AAAE61-0E12-453A-83E6-EE5C96653B7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endParaRPr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221D3D-E6AE-4E62-AE05-BCBFD951FD4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6805E9-726A-4CA5-9436-916B809BD44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B461A-2522-4093-A7F3-E82834480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endParaRPr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3C9CC6-8561-451D-B087-95A409B9F5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D10818-22BF-4D19-BC94-E76D9DC033A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endParaRPr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14CA3F-9C18-4D07-907E-E83D5625E57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7F5A48-C497-4988-8941-EAA33F33BC0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7EF9C-EFAA-4F76-B651-0943E78AB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CA9CEC-6616-40DA-8B2D-F4535E645C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0C9CEF-1FD9-4875-900B-D7B3F33E47F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027A8-BB0B-4710-B2B4-A0CA934A5FC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B0373B-68D4-4F93-AF9F-4E88C4FCB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endParaRPr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8F27AA-27C4-41BA-9E54-6DC9E59680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C9D03-96EF-4C91-A764-56D50A1B4E4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C9473-4711-4B3B-BA98-EC1F037B0F6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3BD1BB-47BD-44FF-BD38-4E5FD06B4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endParaRPr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7C56F6-42BB-4241-899B-50A5B68AD6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7684FD-153B-4998-9042-BEAB783861A0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203375-07D7-46B6-AB67-D57F2C00FC13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6790E7-8DBB-4246-A197-849B4CB5E8A7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rawio2pptx:shape:3">
            <a:extLst>
              <a:ext uri="{FF2B5EF4-FFF2-40B4-BE49-F238E27FC236}">
                <a16:creationId xmlns:a16="http://schemas.microsoft.com/office/drawing/2014/main" id="{DE5AD157-ED19-4184-881D-3839AB7BACF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143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drawio2pptx:shape:4">
            <a:extLst>
              <a:ext uri="{FF2B5EF4-FFF2-40B4-BE49-F238E27FC236}">
                <a16:creationId xmlns:a16="http://schemas.microsoft.com/office/drawing/2014/main" id="{C15E714C-147B-43D2-AB72-3275FEFC087C}"/>
              </a:ext>
            </a:extLst>
          </p:cNvPr>
          <p:cNvSpPr>
            <a:spLocks noGrp="1"/>
          </p:cNvSpPr>
          <p:nvPr/>
        </p:nvSpPr>
        <p:spPr>
          <a:xfrm>
            <a:off x="0" y="1143000"/>
            <a:ext cx="18288000" cy="571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drawio2pptx:shape:5">
            <a:extLst>
              <a:ext uri="{FF2B5EF4-FFF2-40B4-BE49-F238E27FC236}">
                <a16:creationId xmlns:a16="http://schemas.microsoft.com/office/drawing/2014/main" id="{9B0B5369-9BD2-40B1-A283-FD87BC0EE522}"/>
              </a:ext>
            </a:extLst>
          </p:cNvPr>
          <p:cNvSpPr>
            <a:spLocks noGrp="1"/>
          </p:cNvSpPr>
          <p:nvPr/>
        </p:nvSpPr>
        <p:spPr>
          <a:xfrm>
            <a:off x="0" y="266700"/>
            <a:ext cx="18288000" cy="4000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9050" rIns="0" bIns="1905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广西民族大学硕士学位论文开题答辩</a:t>
            </a:r>
          </a:p>
        </p:txBody>
      </p:sp>
      <p:sp>
        <p:nvSpPr>
          <p:cNvPr id="6" name="drawio2pptx:shape:6">
            <a:extLst>
              <a:ext uri="{FF2B5EF4-FFF2-40B4-BE49-F238E27FC236}">
                <a16:creationId xmlns:a16="http://schemas.microsoft.com/office/drawing/2014/main" id="{A3422978-8388-4227-A293-142699F26838}"/>
              </a:ext>
            </a:extLst>
          </p:cNvPr>
          <p:cNvSpPr>
            <a:spLocks noGrp="1"/>
          </p:cNvSpPr>
          <p:nvPr/>
        </p:nvSpPr>
        <p:spPr>
          <a:xfrm>
            <a:off x="4218333" y="2858329"/>
            <a:ext cx="9334500" cy="1428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9050" rIns="0" bIns="1905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 u="none" dirty="0" err="1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基于部件与结构条件约束的</a:t>
            </a:r>
            <a:r>
              <a:rPr sz="3600" b="1" i="0" u="none" dirty="0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
</a:t>
            </a:r>
            <a:r>
              <a:rPr sz="3600" b="1" i="0" u="none" dirty="0" err="1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方块字字形生成方法研究</a:t>
            </a:r>
            <a:endParaRPr sz="3600" b="1" i="0" u="none" dirty="0">
              <a:solidFill>
                <a:srgbClr val="1A1A2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drawio2pptx:shape:7">
            <a:extLst>
              <a:ext uri="{FF2B5EF4-FFF2-40B4-BE49-F238E27FC236}">
                <a16:creationId xmlns:a16="http://schemas.microsoft.com/office/drawing/2014/main" id="{10FEC287-FB82-4EF7-AAD4-4C5420B908D0}"/>
              </a:ext>
            </a:extLst>
          </p:cNvPr>
          <p:cNvSpPr>
            <a:spLocks noGrp="1"/>
          </p:cNvSpPr>
          <p:nvPr/>
        </p:nvSpPr>
        <p:spPr>
          <a:xfrm>
            <a:off x="6980583" y="6833153"/>
            <a:ext cx="3810000" cy="8572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9050" rIns="0" bIns="1905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0" i="0" u="none" dirty="0" err="1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人工智能学院</a:t>
            </a:r>
            <a:r>
              <a:rPr sz="2800" b="0" i="0" u="none" dirty="0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
</a:t>
            </a:r>
            <a:r>
              <a:rPr sz="2800" b="0" i="0" u="none" dirty="0" err="1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计算机科学与技术</a:t>
            </a:r>
            <a:endParaRPr sz="2800" b="0" i="0" u="none" dirty="0">
              <a:solidFill>
                <a:srgbClr val="4A556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drawio2pptx:shape:8">
            <a:extLst>
              <a:ext uri="{FF2B5EF4-FFF2-40B4-BE49-F238E27FC236}">
                <a16:creationId xmlns:a16="http://schemas.microsoft.com/office/drawing/2014/main" id="{43F85E1C-973D-44AF-904C-35350E5F98AE}"/>
              </a:ext>
            </a:extLst>
          </p:cNvPr>
          <p:cNvSpPr>
            <a:spLocks noGrp="1"/>
          </p:cNvSpPr>
          <p:nvPr/>
        </p:nvSpPr>
        <p:spPr>
          <a:xfrm>
            <a:off x="6885333" y="5044110"/>
            <a:ext cx="4000500" cy="12382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9050" rIns="0" bIns="1905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汇报人：黄子涵
指导教师：白凤波
时间：2026 年 4 月</a:t>
            </a:r>
          </a:p>
        </p:txBody>
      </p:sp>
    </p:spTree>
    <p:extLst>
      <p:ext uri="{BB962C8B-B14F-4D97-AF65-F5344CB8AC3E}">
        <p14:creationId xmlns:p14="http://schemas.microsoft.com/office/powerpoint/2010/main" val="13993975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awio2pptx:shape:2">
            <a:extLst>
              <a:ext uri="{FF2B5EF4-FFF2-40B4-BE49-F238E27FC236}">
                <a16:creationId xmlns:a16="http://schemas.microsoft.com/office/drawing/2014/main" id="{F162D5FF-CD06-4B36-8B81-88A8064EF15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drawio2pptx:shape:3">
            <a:extLst>
              <a:ext uri="{FF2B5EF4-FFF2-40B4-BE49-F238E27FC236}">
                <a16:creationId xmlns:a16="http://schemas.microsoft.com/office/drawing/2014/main" id="{F89F5727-C2E3-43A1-ACFD-779D49EA5D3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143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drawio2pptx:shape:4">
            <a:extLst>
              <a:ext uri="{FF2B5EF4-FFF2-40B4-BE49-F238E27FC236}">
                <a16:creationId xmlns:a16="http://schemas.microsoft.com/office/drawing/2014/main" id="{7C460040-AA89-4D7F-B0C5-54201F83B690}"/>
              </a:ext>
            </a:extLst>
          </p:cNvPr>
          <p:cNvSpPr>
            <a:spLocks noGrp="1"/>
          </p:cNvSpPr>
          <p:nvPr/>
        </p:nvSpPr>
        <p:spPr>
          <a:xfrm>
            <a:off x="0" y="1143000"/>
            <a:ext cx="18288000" cy="571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drawio2pptx:shape:5">
            <a:extLst>
              <a:ext uri="{FF2B5EF4-FFF2-40B4-BE49-F238E27FC236}">
                <a16:creationId xmlns:a16="http://schemas.microsoft.com/office/drawing/2014/main" id="{09D6DCFE-C246-40CF-A8D1-AAE7B4B2A1F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143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9050" rIns="0" bIns="1905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50" b="1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6" name="drawio2pptx:shape:6">
            <a:extLst>
              <a:ext uri="{FF2B5EF4-FFF2-40B4-BE49-F238E27FC236}">
                <a16:creationId xmlns:a16="http://schemas.microsoft.com/office/drawing/2014/main" id="{7F7F7CE9-9936-4732-AFA2-8861FEB03E14}"/>
              </a:ext>
            </a:extLst>
          </p:cNvPr>
          <p:cNvSpPr>
            <a:spLocks noGrp="1"/>
          </p:cNvSpPr>
          <p:nvPr/>
        </p:nvSpPr>
        <p:spPr>
          <a:xfrm>
            <a:off x="0" y="9906000"/>
            <a:ext cx="182880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drawio2pptx:shape:7">
            <a:extLst>
              <a:ext uri="{FF2B5EF4-FFF2-40B4-BE49-F238E27FC236}">
                <a16:creationId xmlns:a16="http://schemas.microsoft.com/office/drawing/2014/main" id="{0FA9F986-5DB5-492F-93F6-DA11ACE4C007}"/>
              </a:ext>
            </a:extLst>
          </p:cNvPr>
          <p:cNvSpPr>
            <a:spLocks noGrp="1"/>
          </p:cNvSpPr>
          <p:nvPr/>
        </p:nvSpPr>
        <p:spPr>
          <a:xfrm>
            <a:off x="14859000" y="9925050"/>
            <a:ext cx="257175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9050" rIns="0" bIns="1905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2026 年 4 月</a:t>
            </a:r>
          </a:p>
        </p:txBody>
      </p:sp>
      <p:sp>
        <p:nvSpPr>
          <p:cNvPr id="8" name="drawio2pptx:shape:8">
            <a:extLst>
              <a:ext uri="{FF2B5EF4-FFF2-40B4-BE49-F238E27FC236}">
                <a16:creationId xmlns:a16="http://schemas.microsoft.com/office/drawing/2014/main" id="{715388DB-3CA3-4D13-B291-B378D42F9A2A}"/>
              </a:ext>
            </a:extLst>
          </p:cNvPr>
          <p:cNvSpPr>
            <a:spLocks noGrp="1"/>
          </p:cNvSpPr>
          <p:nvPr/>
        </p:nvSpPr>
        <p:spPr>
          <a:xfrm>
            <a:off x="11239500" y="2095500"/>
            <a:ext cx="5334000" cy="762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9050" rIns="0" bIns="1905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350" b="1" i="0" u="none" dirty="0">
              <a:solidFill>
                <a:srgbClr val="1F497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drawio2pptx:shape:9">
            <a:extLst>
              <a:ext uri="{FF2B5EF4-FFF2-40B4-BE49-F238E27FC236}">
                <a16:creationId xmlns:a16="http://schemas.microsoft.com/office/drawing/2014/main" id="{D79C1D56-AD1A-4BC9-9AFB-569519612D7C}"/>
              </a:ext>
            </a:extLst>
          </p:cNvPr>
          <p:cNvSpPr>
            <a:spLocks noGrp="1"/>
          </p:cNvSpPr>
          <p:nvPr/>
        </p:nvSpPr>
        <p:spPr>
          <a:xfrm>
            <a:off x="1619250" y="2495550"/>
            <a:ext cx="76200" cy="2857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drawio2pptx:shape:10">
            <a:extLst>
              <a:ext uri="{FF2B5EF4-FFF2-40B4-BE49-F238E27FC236}">
                <a16:creationId xmlns:a16="http://schemas.microsoft.com/office/drawing/2014/main" id="{EB4B6952-E737-4099-A295-7A71B39F1D90}"/>
              </a:ext>
            </a:extLst>
          </p:cNvPr>
          <p:cNvSpPr>
            <a:spLocks noGrp="1"/>
          </p:cNvSpPr>
          <p:nvPr/>
        </p:nvSpPr>
        <p:spPr>
          <a:xfrm>
            <a:off x="1905000" y="2381250"/>
            <a:ext cx="7810500" cy="5143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9050" rIns="0" bIns="1905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01 研究背景与问题提出</a:t>
            </a:r>
          </a:p>
        </p:txBody>
      </p:sp>
      <p:sp>
        <p:nvSpPr>
          <p:cNvPr id="11" name="drawio2pptx:shape:11">
            <a:extLst>
              <a:ext uri="{FF2B5EF4-FFF2-40B4-BE49-F238E27FC236}">
                <a16:creationId xmlns:a16="http://schemas.microsoft.com/office/drawing/2014/main" id="{D53F71E6-2D18-4146-820E-5D5D5DA3C636}"/>
              </a:ext>
            </a:extLst>
          </p:cNvPr>
          <p:cNvSpPr>
            <a:spLocks noGrp="1"/>
          </p:cNvSpPr>
          <p:nvPr/>
        </p:nvSpPr>
        <p:spPr>
          <a:xfrm>
            <a:off x="1619250" y="3333750"/>
            <a:ext cx="76200" cy="2857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drawio2pptx:shape:12">
            <a:extLst>
              <a:ext uri="{FF2B5EF4-FFF2-40B4-BE49-F238E27FC236}">
                <a16:creationId xmlns:a16="http://schemas.microsoft.com/office/drawing/2014/main" id="{1EF4781F-CBF1-43EB-A4F2-7D95BBCE4049}"/>
              </a:ext>
            </a:extLst>
          </p:cNvPr>
          <p:cNvSpPr>
            <a:spLocks noGrp="1"/>
          </p:cNvSpPr>
          <p:nvPr/>
        </p:nvSpPr>
        <p:spPr>
          <a:xfrm>
            <a:off x="1905000" y="3219450"/>
            <a:ext cx="7810500" cy="5143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9050" rIns="0" bIns="1905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02 研究意义与应用场景</a:t>
            </a:r>
          </a:p>
        </p:txBody>
      </p:sp>
      <p:sp>
        <p:nvSpPr>
          <p:cNvPr id="13" name="drawio2pptx:shape:13">
            <a:extLst>
              <a:ext uri="{FF2B5EF4-FFF2-40B4-BE49-F238E27FC236}">
                <a16:creationId xmlns:a16="http://schemas.microsoft.com/office/drawing/2014/main" id="{0A6A186B-C6BC-49EE-BB7B-058FD5035D11}"/>
              </a:ext>
            </a:extLst>
          </p:cNvPr>
          <p:cNvSpPr>
            <a:spLocks noGrp="1"/>
          </p:cNvSpPr>
          <p:nvPr/>
        </p:nvSpPr>
        <p:spPr>
          <a:xfrm>
            <a:off x="1619250" y="4171950"/>
            <a:ext cx="76200" cy="2857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drawio2pptx:shape:14">
            <a:extLst>
              <a:ext uri="{FF2B5EF4-FFF2-40B4-BE49-F238E27FC236}">
                <a16:creationId xmlns:a16="http://schemas.microsoft.com/office/drawing/2014/main" id="{8896A63D-76F2-4F90-9598-7E219D616DB4}"/>
              </a:ext>
            </a:extLst>
          </p:cNvPr>
          <p:cNvSpPr>
            <a:spLocks noGrp="1"/>
          </p:cNvSpPr>
          <p:nvPr/>
        </p:nvSpPr>
        <p:spPr>
          <a:xfrm>
            <a:off x="1905000" y="4057650"/>
            <a:ext cx="7810500" cy="5143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9050" rIns="0" bIns="1905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03 国内外研究现状与研究空缺</a:t>
            </a:r>
          </a:p>
        </p:txBody>
      </p:sp>
      <p:sp>
        <p:nvSpPr>
          <p:cNvPr id="15" name="drawio2pptx:shape:15">
            <a:extLst>
              <a:ext uri="{FF2B5EF4-FFF2-40B4-BE49-F238E27FC236}">
                <a16:creationId xmlns:a16="http://schemas.microsoft.com/office/drawing/2014/main" id="{709E6EF6-A984-47D2-940C-79E76FADB6BA}"/>
              </a:ext>
            </a:extLst>
          </p:cNvPr>
          <p:cNvSpPr>
            <a:spLocks noGrp="1"/>
          </p:cNvSpPr>
          <p:nvPr/>
        </p:nvSpPr>
        <p:spPr>
          <a:xfrm>
            <a:off x="1619250" y="5010150"/>
            <a:ext cx="76200" cy="2857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drawio2pptx:shape:16">
            <a:extLst>
              <a:ext uri="{FF2B5EF4-FFF2-40B4-BE49-F238E27FC236}">
                <a16:creationId xmlns:a16="http://schemas.microsoft.com/office/drawing/2014/main" id="{842ABD2C-8E0B-4DBC-8B69-C612D69CA7F9}"/>
              </a:ext>
            </a:extLst>
          </p:cNvPr>
          <p:cNvSpPr>
            <a:spLocks noGrp="1"/>
          </p:cNvSpPr>
          <p:nvPr/>
        </p:nvSpPr>
        <p:spPr>
          <a:xfrm>
            <a:off x="1905000" y="4895850"/>
            <a:ext cx="7810500" cy="5143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9050" rIns="0" bIns="1905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04 任务定义与研究方案</a:t>
            </a:r>
          </a:p>
        </p:txBody>
      </p:sp>
      <p:sp>
        <p:nvSpPr>
          <p:cNvPr id="17" name="drawio2pptx:shape:17">
            <a:extLst>
              <a:ext uri="{FF2B5EF4-FFF2-40B4-BE49-F238E27FC236}">
                <a16:creationId xmlns:a16="http://schemas.microsoft.com/office/drawing/2014/main" id="{0FADB8CB-B3E1-4A30-B0D9-4F9B3C1BA6B1}"/>
              </a:ext>
            </a:extLst>
          </p:cNvPr>
          <p:cNvSpPr>
            <a:spLocks noGrp="1"/>
          </p:cNvSpPr>
          <p:nvPr/>
        </p:nvSpPr>
        <p:spPr>
          <a:xfrm>
            <a:off x="1619250" y="5848350"/>
            <a:ext cx="76200" cy="2857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drawio2pptx:shape:18">
            <a:extLst>
              <a:ext uri="{FF2B5EF4-FFF2-40B4-BE49-F238E27FC236}">
                <a16:creationId xmlns:a16="http://schemas.microsoft.com/office/drawing/2014/main" id="{1B048472-6891-4F76-87D2-8936F53BC335}"/>
              </a:ext>
            </a:extLst>
          </p:cNvPr>
          <p:cNvSpPr>
            <a:spLocks noGrp="1"/>
          </p:cNvSpPr>
          <p:nvPr/>
        </p:nvSpPr>
        <p:spPr>
          <a:xfrm>
            <a:off x="1905000" y="5734050"/>
            <a:ext cx="7810500" cy="5143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9050" rIns="0" bIns="1905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05 方法设计、创新点与可行性</a:t>
            </a:r>
          </a:p>
        </p:txBody>
      </p:sp>
      <p:sp>
        <p:nvSpPr>
          <p:cNvPr id="19" name="drawio2pptx:shape:19">
            <a:extLst>
              <a:ext uri="{FF2B5EF4-FFF2-40B4-BE49-F238E27FC236}">
                <a16:creationId xmlns:a16="http://schemas.microsoft.com/office/drawing/2014/main" id="{F91AC9D7-68C4-48A2-AEB7-C56670254DB6}"/>
              </a:ext>
            </a:extLst>
          </p:cNvPr>
          <p:cNvSpPr>
            <a:spLocks noGrp="1"/>
          </p:cNvSpPr>
          <p:nvPr/>
        </p:nvSpPr>
        <p:spPr>
          <a:xfrm>
            <a:off x="1619250" y="6686550"/>
            <a:ext cx="76200" cy="2857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drawio2pptx:shape:20">
            <a:extLst>
              <a:ext uri="{FF2B5EF4-FFF2-40B4-BE49-F238E27FC236}">
                <a16:creationId xmlns:a16="http://schemas.microsoft.com/office/drawing/2014/main" id="{8B57AEDD-4B95-4CE7-9E49-DE7BDC58CA2B}"/>
              </a:ext>
            </a:extLst>
          </p:cNvPr>
          <p:cNvSpPr>
            <a:spLocks noGrp="1"/>
          </p:cNvSpPr>
          <p:nvPr/>
        </p:nvSpPr>
        <p:spPr>
          <a:xfrm>
            <a:off x="1905000" y="6572250"/>
            <a:ext cx="7810500" cy="5143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9050" rIns="0" bIns="1905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06 研究计划与预期成果</a:t>
            </a:r>
          </a:p>
        </p:txBody>
      </p:sp>
    </p:spTree>
    <p:extLst>
      <p:ext uri="{BB962C8B-B14F-4D97-AF65-F5344CB8AC3E}">
        <p14:creationId xmlns:p14="http://schemas.microsoft.com/office/powerpoint/2010/main" val="582001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awio2pptx:shape:2">
            <a:extLst>
              <a:ext uri="{FF2B5EF4-FFF2-40B4-BE49-F238E27FC236}">
                <a16:creationId xmlns:a16="http://schemas.microsoft.com/office/drawing/2014/main" id="{140D4C48-371B-49B3-905C-2FC14418BE3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drawio2pptx:shape:3">
            <a:extLst>
              <a:ext uri="{FF2B5EF4-FFF2-40B4-BE49-F238E27FC236}">
                <a16:creationId xmlns:a16="http://schemas.microsoft.com/office/drawing/2014/main" id="{5183B734-7A7A-46FA-9B85-8F0999B7B7B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143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drawio2pptx:shape:4">
            <a:extLst>
              <a:ext uri="{FF2B5EF4-FFF2-40B4-BE49-F238E27FC236}">
                <a16:creationId xmlns:a16="http://schemas.microsoft.com/office/drawing/2014/main" id="{BBA756D2-72AB-4CC3-9AAA-461BFE3403E2}"/>
              </a:ext>
            </a:extLst>
          </p:cNvPr>
          <p:cNvSpPr>
            <a:spLocks noGrp="1"/>
          </p:cNvSpPr>
          <p:nvPr/>
        </p:nvSpPr>
        <p:spPr>
          <a:xfrm>
            <a:off x="0" y="1143000"/>
            <a:ext cx="18288000" cy="571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drawio2pptx:shape:5">
            <a:extLst>
              <a:ext uri="{FF2B5EF4-FFF2-40B4-BE49-F238E27FC236}">
                <a16:creationId xmlns:a16="http://schemas.microsoft.com/office/drawing/2014/main" id="{CBF0DBC6-C6B6-46E6-8ED4-A8CEBB4C771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143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9050" rIns="0" bIns="1905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50" b="1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 研究背景与问题提出</a:t>
            </a:r>
          </a:p>
        </p:txBody>
      </p:sp>
      <p:sp>
        <p:nvSpPr>
          <p:cNvPr id="6" name="drawio2pptx:shape:6">
            <a:extLst>
              <a:ext uri="{FF2B5EF4-FFF2-40B4-BE49-F238E27FC236}">
                <a16:creationId xmlns:a16="http://schemas.microsoft.com/office/drawing/2014/main" id="{04896D0F-65BE-4B1C-B53C-E2DE77E4D970}"/>
              </a:ext>
            </a:extLst>
          </p:cNvPr>
          <p:cNvSpPr>
            <a:spLocks noGrp="1"/>
          </p:cNvSpPr>
          <p:nvPr/>
        </p:nvSpPr>
        <p:spPr>
          <a:xfrm>
            <a:off x="0" y="9906000"/>
            <a:ext cx="182880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drawio2pptx:shape:7">
            <a:extLst>
              <a:ext uri="{FF2B5EF4-FFF2-40B4-BE49-F238E27FC236}">
                <a16:creationId xmlns:a16="http://schemas.microsoft.com/office/drawing/2014/main" id="{75FA2B7A-B32D-4191-83D6-A0480D04F316}"/>
              </a:ext>
            </a:extLst>
          </p:cNvPr>
          <p:cNvSpPr>
            <a:spLocks noGrp="1"/>
          </p:cNvSpPr>
          <p:nvPr/>
        </p:nvSpPr>
        <p:spPr>
          <a:xfrm>
            <a:off x="14859000" y="9925050"/>
            <a:ext cx="257175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9050" rIns="0" bIns="1905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2026 年 4 月</a:t>
            </a:r>
          </a:p>
        </p:txBody>
      </p:sp>
      <p:sp>
        <p:nvSpPr>
          <p:cNvPr id="8" name="drawio2pptx:shape:8">
            <a:extLst>
              <a:ext uri="{FF2B5EF4-FFF2-40B4-BE49-F238E27FC236}">
                <a16:creationId xmlns:a16="http://schemas.microsoft.com/office/drawing/2014/main" id="{6E5C9DC9-3FD4-4710-A385-4E04D0AD6A32}"/>
              </a:ext>
            </a:extLst>
          </p:cNvPr>
          <p:cNvSpPr>
            <a:spLocks noGrp="1"/>
          </p:cNvSpPr>
          <p:nvPr/>
        </p:nvSpPr>
        <p:spPr>
          <a:xfrm>
            <a:off x="1143000" y="1752600"/>
            <a:ext cx="95250" cy="3619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drawio2pptx:shape:9">
            <a:extLst>
              <a:ext uri="{FF2B5EF4-FFF2-40B4-BE49-F238E27FC236}">
                <a16:creationId xmlns:a16="http://schemas.microsoft.com/office/drawing/2014/main" id="{3036ABD7-E795-4ED5-973B-0F0E3A05BC1D}"/>
              </a:ext>
            </a:extLst>
          </p:cNvPr>
          <p:cNvSpPr>
            <a:spLocks noGrp="1"/>
          </p:cNvSpPr>
          <p:nvPr/>
        </p:nvSpPr>
        <p:spPr>
          <a:xfrm>
            <a:off x="1409700" y="1733550"/>
            <a:ext cx="8763000" cy="4191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9050" rIns="0" bIns="1905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5" b="1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为什么把“字形生成”收束到部件和结构条件上？</a:t>
            </a:r>
          </a:p>
        </p:txBody>
      </p:sp>
      <p:sp>
        <p:nvSpPr>
          <p:cNvPr id="10" name="drawio2pptx:shape:10">
            <a:extLst>
              <a:ext uri="{FF2B5EF4-FFF2-40B4-BE49-F238E27FC236}">
                <a16:creationId xmlns:a16="http://schemas.microsoft.com/office/drawing/2014/main" id="{BC13D6F4-7DF4-499A-B076-D0DABB307ED5}"/>
              </a:ext>
            </a:extLst>
          </p:cNvPr>
          <p:cNvSpPr>
            <a:spLocks noGrp="1"/>
          </p:cNvSpPr>
          <p:nvPr/>
        </p:nvSpPr>
        <p:spPr>
          <a:xfrm>
            <a:off x="1143000" y="2476500"/>
            <a:ext cx="8667750" cy="50482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drawio2pptx:shape:11">
            <a:extLst>
              <a:ext uri="{FF2B5EF4-FFF2-40B4-BE49-F238E27FC236}">
                <a16:creationId xmlns:a16="http://schemas.microsoft.com/office/drawing/2014/main" id="{E6AF6F2C-961B-46BB-8E11-3279FCF2FB39}"/>
              </a:ext>
            </a:extLst>
          </p:cNvPr>
          <p:cNvSpPr>
            <a:spLocks noGrp="1"/>
          </p:cNvSpPr>
          <p:nvPr/>
        </p:nvSpPr>
        <p:spPr>
          <a:xfrm>
            <a:off x="1371600" y="2647950"/>
            <a:ext cx="8210550" cy="342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9050" rIns="0" bIns="1905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 u="none" dirty="0" err="1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现实需求</a:t>
            </a:r>
            <a:endParaRPr sz="2800" b="1" i="0" u="none" dirty="0">
              <a:solidFill>
                <a:srgbClr val="1A1A2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drawio2pptx:shape:12">
            <a:extLst>
              <a:ext uri="{FF2B5EF4-FFF2-40B4-BE49-F238E27FC236}">
                <a16:creationId xmlns:a16="http://schemas.microsoft.com/office/drawing/2014/main" id="{60EEBF6C-E397-4246-9F41-6CEB7368C461}"/>
              </a:ext>
            </a:extLst>
          </p:cNvPr>
          <p:cNvSpPr>
            <a:spLocks noGrp="1"/>
          </p:cNvSpPr>
          <p:nvPr/>
        </p:nvSpPr>
        <p:spPr>
          <a:xfrm>
            <a:off x="1371600" y="3067050"/>
            <a:ext cx="8210550" cy="42481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9050" rIns="0" bIns="1905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0" i="0" u="none" dirty="0" err="1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现代常用字已有成熟字库，但面对生僻字、异体字和未登录字符时，传统补字流程往往成本高、周期长，而且高度依赖人工经验</a:t>
            </a:r>
            <a:r>
              <a:rPr sz="3200" b="0" i="0" u="none" dirty="0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。
</a:t>
            </a:r>
            <a:r>
              <a:rPr sz="3200" b="0" i="0" u="none" dirty="0" err="1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在古籍整理、地方志数字化、少数民族文字信息化等场景中，字符数量不一定大，但对结构正确性和快速试排的需求很强</a:t>
            </a:r>
            <a:r>
              <a:rPr sz="3200" b="0" i="0" u="none" dirty="0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13" name="drawio2pptx:shape:13">
            <a:extLst>
              <a:ext uri="{FF2B5EF4-FFF2-40B4-BE49-F238E27FC236}">
                <a16:creationId xmlns:a16="http://schemas.microsoft.com/office/drawing/2014/main" id="{D4ABB9B6-9555-4572-B342-4DC9F9F79A05}"/>
              </a:ext>
            </a:extLst>
          </p:cNvPr>
          <p:cNvSpPr>
            <a:spLocks noGrp="1"/>
          </p:cNvSpPr>
          <p:nvPr/>
        </p:nvSpPr>
        <p:spPr>
          <a:xfrm>
            <a:off x="1143000" y="7810500"/>
            <a:ext cx="8667750" cy="133350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drawio2pptx:shape:14">
            <a:extLst>
              <a:ext uri="{FF2B5EF4-FFF2-40B4-BE49-F238E27FC236}">
                <a16:creationId xmlns:a16="http://schemas.microsoft.com/office/drawing/2014/main" id="{A3258052-1B4A-4CC3-B0CE-B6C047B34E2D}"/>
              </a:ext>
            </a:extLst>
          </p:cNvPr>
          <p:cNvSpPr>
            <a:spLocks noGrp="1"/>
          </p:cNvSpPr>
          <p:nvPr/>
        </p:nvSpPr>
        <p:spPr>
          <a:xfrm>
            <a:off x="1371600" y="7981950"/>
            <a:ext cx="8210550" cy="342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9050" rIns="0" bIns="1905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 u="none" dirty="0" err="1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问题提出</a:t>
            </a:r>
            <a:endParaRPr sz="1500" b="1" i="0" u="none" dirty="0">
              <a:solidFill>
                <a:srgbClr val="1A1A2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drawio2pptx:shape:15">
            <a:extLst>
              <a:ext uri="{FF2B5EF4-FFF2-40B4-BE49-F238E27FC236}">
                <a16:creationId xmlns:a16="http://schemas.microsoft.com/office/drawing/2014/main" id="{682BC732-70BA-4F65-91D4-321BD493D78B}"/>
              </a:ext>
            </a:extLst>
          </p:cNvPr>
          <p:cNvSpPr>
            <a:spLocks noGrp="1"/>
          </p:cNvSpPr>
          <p:nvPr/>
        </p:nvSpPr>
        <p:spPr>
          <a:xfrm>
            <a:off x="1371600" y="8401050"/>
            <a:ext cx="8210550" cy="533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9050" rIns="0" bIns="1905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 i="0" u="none" dirty="0" err="1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直接利用方块字的构形规律，把部件和结构关系作为显式条件纳入模型</a:t>
            </a:r>
            <a:r>
              <a:rPr sz="2000" b="0" i="0" u="none" dirty="0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16" name="drawio2pptx:shape:16">
            <a:extLst>
              <a:ext uri="{FF2B5EF4-FFF2-40B4-BE49-F238E27FC236}">
                <a16:creationId xmlns:a16="http://schemas.microsoft.com/office/drawing/2014/main" id="{81179A15-F0EB-4D0F-8ABC-38D8D498C4EC}"/>
              </a:ext>
            </a:extLst>
          </p:cNvPr>
          <p:cNvSpPr>
            <a:spLocks noGrp="1"/>
          </p:cNvSpPr>
          <p:nvPr/>
        </p:nvSpPr>
        <p:spPr>
          <a:xfrm>
            <a:off x="10287000" y="2095500"/>
            <a:ext cx="6762750" cy="7048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drawio2pptx:shape:17">
            <a:extLst>
              <a:ext uri="{FF2B5EF4-FFF2-40B4-BE49-F238E27FC236}">
                <a16:creationId xmlns:a16="http://schemas.microsoft.com/office/drawing/2014/main" id="{32AF41AF-849D-4651-8B4F-112EA3DACFF3}"/>
              </a:ext>
            </a:extLst>
          </p:cNvPr>
          <p:cNvSpPr>
            <a:spLocks noGrp="1"/>
          </p:cNvSpPr>
          <p:nvPr/>
        </p:nvSpPr>
        <p:spPr>
          <a:xfrm>
            <a:off x="10287000" y="2362200"/>
            <a:ext cx="6762750" cy="381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9050" rIns="0" bIns="1905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现有样例字形</a:t>
            </a:r>
          </a:p>
        </p:txBody>
      </p:sp>
      <p:sp>
        <p:nvSpPr>
          <p:cNvPr id="18" name="drawio2pptx:shape:18">
            <a:extLst>
              <a:ext uri="{FF2B5EF4-FFF2-40B4-BE49-F238E27FC236}">
                <a16:creationId xmlns:a16="http://schemas.microsoft.com/office/drawing/2014/main" id="{66AB57B7-540B-4679-9F60-B1834DF661D7}"/>
              </a:ext>
            </a:extLst>
          </p:cNvPr>
          <p:cNvSpPr>
            <a:spLocks noGrp="1"/>
          </p:cNvSpPr>
          <p:nvPr/>
        </p:nvSpPr>
        <p:spPr>
          <a:xfrm>
            <a:off x="10906125" y="3143250"/>
            <a:ext cx="2190750" cy="2095500"/>
          </a:xfrm>
          <a:prstGeom prst="roundRect">
            <a:avLst/>
          </a:prstGeom>
          <a:solidFill>
            <a:srgbClr val="0F172A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drawio2pptx:shape:19">
            <a:extLst>
              <a:ext uri="{FF2B5EF4-FFF2-40B4-BE49-F238E27FC236}">
                <a16:creationId xmlns:a16="http://schemas.microsoft.com/office/drawing/2014/main" id="{B7643422-718F-4579-9AD9-BE784C692B99}"/>
              </a:ext>
            </a:extLst>
          </p:cNvPr>
          <p:cNvSpPr>
            <a:spLocks noGrp="1"/>
          </p:cNvSpPr>
          <p:nvPr/>
        </p:nvSpPr>
        <p:spPr>
          <a:xfrm>
            <a:off x="11039475" y="3276600"/>
            <a:ext cx="1924050" cy="14668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drawio2pptx:shape:20">
            <a:extLst>
              <a:ext uri="{FF2B5EF4-FFF2-40B4-BE49-F238E27FC236}">
                <a16:creationId xmlns:a16="http://schemas.microsoft.com/office/drawing/2014/main" id="{769ED4C8-8FD4-4C46-8554-AA15E4915A17}"/>
              </a:ext>
            </a:extLst>
          </p:cNvPr>
          <p:cNvSpPr>
            <a:spLocks noGrp="1"/>
          </p:cNvSpPr>
          <p:nvPr/>
        </p:nvSpPr>
        <p:spPr>
          <a:xfrm>
            <a:off x="11001375" y="4857750"/>
            <a:ext cx="200025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9050" rIns="0" bIns="1905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狗</a:t>
            </a:r>
          </a:p>
        </p:txBody>
      </p:sp>
      <p:sp>
        <p:nvSpPr>
          <p:cNvPr id="21" name="drawio2pptx:shape:21">
            <a:extLst>
              <a:ext uri="{FF2B5EF4-FFF2-40B4-BE49-F238E27FC236}">
                <a16:creationId xmlns:a16="http://schemas.microsoft.com/office/drawing/2014/main" id="{406C6DC2-CCEC-4BC3-808D-ED7117CC2FDC}"/>
              </a:ext>
            </a:extLst>
          </p:cNvPr>
          <p:cNvSpPr>
            <a:spLocks noGrp="1"/>
          </p:cNvSpPr>
          <p:nvPr/>
        </p:nvSpPr>
        <p:spPr>
          <a:xfrm>
            <a:off x="13763625" y="3143250"/>
            <a:ext cx="2190750" cy="2095500"/>
          </a:xfrm>
          <a:prstGeom prst="roundRect">
            <a:avLst/>
          </a:prstGeom>
          <a:solidFill>
            <a:srgbClr val="0F172A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drawio2pptx:shape:22">
            <a:extLst>
              <a:ext uri="{FF2B5EF4-FFF2-40B4-BE49-F238E27FC236}">
                <a16:creationId xmlns:a16="http://schemas.microsoft.com/office/drawing/2014/main" id="{40D24745-E782-4EF4-A455-1421FD333A98}"/>
              </a:ext>
            </a:extLst>
          </p:cNvPr>
          <p:cNvSpPr>
            <a:spLocks noGrp="1"/>
          </p:cNvSpPr>
          <p:nvPr/>
        </p:nvSpPr>
        <p:spPr>
          <a:xfrm>
            <a:off x="13896975" y="3276600"/>
            <a:ext cx="1924050" cy="14668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drawio2pptx:shape:23">
            <a:extLst>
              <a:ext uri="{FF2B5EF4-FFF2-40B4-BE49-F238E27FC236}">
                <a16:creationId xmlns:a16="http://schemas.microsoft.com/office/drawing/2014/main" id="{2182C3BC-2DAB-45F7-93A4-95DBBF526819}"/>
              </a:ext>
            </a:extLst>
          </p:cNvPr>
          <p:cNvSpPr>
            <a:spLocks noGrp="1"/>
          </p:cNvSpPr>
          <p:nvPr/>
        </p:nvSpPr>
        <p:spPr>
          <a:xfrm>
            <a:off x="13858875" y="4857750"/>
            <a:ext cx="200025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9050" rIns="0" bIns="1905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困</a:t>
            </a:r>
          </a:p>
        </p:txBody>
      </p:sp>
      <p:sp>
        <p:nvSpPr>
          <p:cNvPr id="24" name="drawio2pptx:shape:24">
            <a:extLst>
              <a:ext uri="{FF2B5EF4-FFF2-40B4-BE49-F238E27FC236}">
                <a16:creationId xmlns:a16="http://schemas.microsoft.com/office/drawing/2014/main" id="{ECB5B57B-F6D7-458E-B5DF-F67A92A907FC}"/>
              </a:ext>
            </a:extLst>
          </p:cNvPr>
          <p:cNvSpPr>
            <a:spLocks noGrp="1"/>
          </p:cNvSpPr>
          <p:nvPr/>
        </p:nvSpPr>
        <p:spPr>
          <a:xfrm>
            <a:off x="10906125" y="5810250"/>
            <a:ext cx="2190750" cy="2095500"/>
          </a:xfrm>
          <a:prstGeom prst="roundRect">
            <a:avLst/>
          </a:prstGeom>
          <a:solidFill>
            <a:srgbClr val="0F172A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drawio2pptx:shape:25">
            <a:extLst>
              <a:ext uri="{FF2B5EF4-FFF2-40B4-BE49-F238E27FC236}">
                <a16:creationId xmlns:a16="http://schemas.microsoft.com/office/drawing/2014/main" id="{A61660AE-6884-41F9-875D-0DC630D1FA4A}"/>
              </a:ext>
            </a:extLst>
          </p:cNvPr>
          <p:cNvSpPr>
            <a:spLocks noGrp="1"/>
          </p:cNvSpPr>
          <p:nvPr/>
        </p:nvSpPr>
        <p:spPr>
          <a:xfrm>
            <a:off x="11039475" y="5943600"/>
            <a:ext cx="1924050" cy="14668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drawio2pptx:shape:26">
            <a:extLst>
              <a:ext uri="{FF2B5EF4-FFF2-40B4-BE49-F238E27FC236}">
                <a16:creationId xmlns:a16="http://schemas.microsoft.com/office/drawing/2014/main" id="{B02779A2-67CA-4BB8-A138-184B13637B46}"/>
              </a:ext>
            </a:extLst>
          </p:cNvPr>
          <p:cNvSpPr>
            <a:spLocks noGrp="1"/>
          </p:cNvSpPr>
          <p:nvPr/>
        </p:nvSpPr>
        <p:spPr>
          <a:xfrm>
            <a:off x="11001375" y="7524750"/>
            <a:ext cx="200025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9050" rIns="0" bIns="1905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间</a:t>
            </a:r>
          </a:p>
        </p:txBody>
      </p:sp>
      <p:sp>
        <p:nvSpPr>
          <p:cNvPr id="27" name="drawio2pptx:shape:27">
            <a:extLst>
              <a:ext uri="{FF2B5EF4-FFF2-40B4-BE49-F238E27FC236}">
                <a16:creationId xmlns:a16="http://schemas.microsoft.com/office/drawing/2014/main" id="{D41AAC8A-8653-45F8-9522-F390CA3BEDD8}"/>
              </a:ext>
            </a:extLst>
          </p:cNvPr>
          <p:cNvSpPr>
            <a:spLocks noGrp="1"/>
          </p:cNvSpPr>
          <p:nvPr/>
        </p:nvSpPr>
        <p:spPr>
          <a:xfrm>
            <a:off x="13763625" y="5810250"/>
            <a:ext cx="2190750" cy="2095500"/>
          </a:xfrm>
          <a:prstGeom prst="roundRect">
            <a:avLst/>
          </a:prstGeom>
          <a:solidFill>
            <a:srgbClr val="0F172A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drawio2pptx:shape:28">
            <a:extLst>
              <a:ext uri="{FF2B5EF4-FFF2-40B4-BE49-F238E27FC236}">
                <a16:creationId xmlns:a16="http://schemas.microsoft.com/office/drawing/2014/main" id="{8A3EE9F7-001B-4D46-A1B5-DF1CC3463613}"/>
              </a:ext>
            </a:extLst>
          </p:cNvPr>
          <p:cNvSpPr>
            <a:spLocks noGrp="1"/>
          </p:cNvSpPr>
          <p:nvPr/>
        </p:nvSpPr>
        <p:spPr>
          <a:xfrm>
            <a:off x="13896975" y="5943600"/>
            <a:ext cx="1924050" cy="14668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9" name="drawio2pptx:shape:29">
            <a:extLst>
              <a:ext uri="{FF2B5EF4-FFF2-40B4-BE49-F238E27FC236}">
                <a16:creationId xmlns:a16="http://schemas.microsoft.com/office/drawing/2014/main" id="{6A7E34BB-44B5-4BB0-86B2-1E7D259668E4}"/>
              </a:ext>
            </a:extLst>
          </p:cNvPr>
          <p:cNvSpPr>
            <a:spLocks noGrp="1"/>
          </p:cNvSpPr>
          <p:nvPr/>
        </p:nvSpPr>
        <p:spPr>
          <a:xfrm>
            <a:off x="13858875" y="7524750"/>
            <a:ext cx="200025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9050" rIns="0" bIns="1905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闪</a:t>
            </a: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68075" y="3276600"/>
            <a:ext cx="1466850" cy="1466850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4125575" y="3276600"/>
            <a:ext cx="1466850" cy="1466850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268075" y="5943600"/>
            <a:ext cx="1466850" cy="1466850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4125575" y="5943600"/>
            <a:ext cx="1466850" cy="146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320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awio2pptx:shape:2">
            <a:extLst>
              <a:ext uri="{FF2B5EF4-FFF2-40B4-BE49-F238E27FC236}">
                <a16:creationId xmlns:a16="http://schemas.microsoft.com/office/drawing/2014/main" id="{0623D08E-6CF6-4F85-BCF1-6E6C2A75134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drawio2pptx:shape:3">
            <a:extLst>
              <a:ext uri="{FF2B5EF4-FFF2-40B4-BE49-F238E27FC236}">
                <a16:creationId xmlns:a16="http://schemas.microsoft.com/office/drawing/2014/main" id="{E776006F-8474-4339-BBD7-97C650C0C78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143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drawio2pptx:shape:4">
            <a:extLst>
              <a:ext uri="{FF2B5EF4-FFF2-40B4-BE49-F238E27FC236}">
                <a16:creationId xmlns:a16="http://schemas.microsoft.com/office/drawing/2014/main" id="{F5B17FEA-1BB0-40A0-82F6-5CA785FCA90D}"/>
              </a:ext>
            </a:extLst>
          </p:cNvPr>
          <p:cNvSpPr>
            <a:spLocks noGrp="1"/>
          </p:cNvSpPr>
          <p:nvPr/>
        </p:nvSpPr>
        <p:spPr>
          <a:xfrm>
            <a:off x="0" y="1143000"/>
            <a:ext cx="18288000" cy="571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drawio2pptx:shape:5">
            <a:extLst>
              <a:ext uri="{FF2B5EF4-FFF2-40B4-BE49-F238E27FC236}">
                <a16:creationId xmlns:a16="http://schemas.microsoft.com/office/drawing/2014/main" id="{FE92C210-45F2-4BD9-B647-309D45C15F2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143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9050" rIns="0" bIns="1905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50" b="1" i="0" u="none" dirty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 </a:t>
            </a:r>
            <a:r>
              <a:rPr sz="2250" b="1" i="0" u="non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研究意义与应用场景</a:t>
            </a:r>
            <a:endParaRPr sz="2250" b="1" i="0" u="none" dirty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drawio2pptx:shape:6">
            <a:extLst>
              <a:ext uri="{FF2B5EF4-FFF2-40B4-BE49-F238E27FC236}">
                <a16:creationId xmlns:a16="http://schemas.microsoft.com/office/drawing/2014/main" id="{9BDB61B7-671F-4051-83F8-733848E25830}"/>
              </a:ext>
            </a:extLst>
          </p:cNvPr>
          <p:cNvSpPr>
            <a:spLocks noGrp="1"/>
          </p:cNvSpPr>
          <p:nvPr/>
        </p:nvSpPr>
        <p:spPr>
          <a:xfrm>
            <a:off x="0" y="9906000"/>
            <a:ext cx="182880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drawio2pptx:shape:7">
            <a:extLst>
              <a:ext uri="{FF2B5EF4-FFF2-40B4-BE49-F238E27FC236}">
                <a16:creationId xmlns:a16="http://schemas.microsoft.com/office/drawing/2014/main" id="{65E7D7A0-91CC-40C5-87D1-5AFB04A6612B}"/>
              </a:ext>
            </a:extLst>
          </p:cNvPr>
          <p:cNvSpPr>
            <a:spLocks noGrp="1"/>
          </p:cNvSpPr>
          <p:nvPr/>
        </p:nvSpPr>
        <p:spPr>
          <a:xfrm>
            <a:off x="14859000" y="9925050"/>
            <a:ext cx="257175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9050" rIns="0" bIns="1905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2026 年 4 月</a:t>
            </a:r>
          </a:p>
        </p:txBody>
      </p:sp>
      <p:sp>
        <p:nvSpPr>
          <p:cNvPr id="10" name="drawio2pptx:shape:10">
            <a:extLst>
              <a:ext uri="{FF2B5EF4-FFF2-40B4-BE49-F238E27FC236}">
                <a16:creationId xmlns:a16="http://schemas.microsoft.com/office/drawing/2014/main" id="{7E09E7C0-C2A8-4805-B2F0-E01486AE765B}"/>
              </a:ext>
            </a:extLst>
          </p:cNvPr>
          <p:cNvSpPr>
            <a:spLocks noGrp="1"/>
          </p:cNvSpPr>
          <p:nvPr/>
        </p:nvSpPr>
        <p:spPr>
          <a:xfrm>
            <a:off x="1143000" y="2857500"/>
            <a:ext cx="4953000" cy="4000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5400"/>
          </a:p>
        </p:txBody>
      </p:sp>
      <p:sp>
        <p:nvSpPr>
          <p:cNvPr id="11" name="drawio2pptx:shape:11">
            <a:extLst>
              <a:ext uri="{FF2B5EF4-FFF2-40B4-BE49-F238E27FC236}">
                <a16:creationId xmlns:a16="http://schemas.microsoft.com/office/drawing/2014/main" id="{1553C6A6-A441-4162-8CAE-4E79AC028904}"/>
              </a:ext>
            </a:extLst>
          </p:cNvPr>
          <p:cNvSpPr>
            <a:spLocks noGrp="1"/>
          </p:cNvSpPr>
          <p:nvPr/>
        </p:nvSpPr>
        <p:spPr>
          <a:xfrm>
            <a:off x="1371600" y="3028950"/>
            <a:ext cx="4495800" cy="342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9050" rIns="0" bIns="1905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1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字库补字与字体设计</a:t>
            </a:r>
          </a:p>
        </p:txBody>
      </p:sp>
      <p:sp>
        <p:nvSpPr>
          <p:cNvPr id="12" name="drawio2pptx:shape:12">
            <a:extLst>
              <a:ext uri="{FF2B5EF4-FFF2-40B4-BE49-F238E27FC236}">
                <a16:creationId xmlns:a16="http://schemas.microsoft.com/office/drawing/2014/main" id="{827D4603-C42B-4262-87EC-179BD1F6DCC6}"/>
              </a:ext>
            </a:extLst>
          </p:cNvPr>
          <p:cNvSpPr>
            <a:spLocks noGrp="1"/>
          </p:cNvSpPr>
          <p:nvPr/>
        </p:nvSpPr>
        <p:spPr>
          <a:xfrm>
            <a:off x="1371600" y="3448050"/>
            <a:ext cx="4495800" cy="3200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9050" rIns="0" bIns="1905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0" i="0" u="none" dirty="0" err="1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在目标字符缺失时，为字体</a:t>
            </a:r>
            <a:endParaRPr lang="en-US" sz="2800" b="0" i="0" u="none" dirty="0">
              <a:solidFill>
                <a:srgbClr val="1A1A2E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0" i="0" u="none" dirty="0" err="1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设计和快速试排提供结构正</a:t>
            </a:r>
            <a:endParaRPr lang="en-US" sz="2800" b="0" i="0" u="none" dirty="0">
              <a:solidFill>
                <a:srgbClr val="1A1A2E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0" i="0" u="none" dirty="0" err="1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确的候选字形，而不是完全依</a:t>
            </a:r>
            <a:endParaRPr lang="en-US" sz="2800" b="0" i="0" u="none" dirty="0">
              <a:solidFill>
                <a:srgbClr val="1A1A2E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0" i="0" u="none" dirty="0" err="1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赖人工描绘</a:t>
            </a:r>
            <a:r>
              <a:rPr sz="2800" b="0" i="0" u="none" dirty="0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13" name="drawio2pptx:shape:13">
            <a:extLst>
              <a:ext uri="{FF2B5EF4-FFF2-40B4-BE49-F238E27FC236}">
                <a16:creationId xmlns:a16="http://schemas.microsoft.com/office/drawing/2014/main" id="{7F6344AC-FD6D-46BD-900F-25BBA5F23F75}"/>
              </a:ext>
            </a:extLst>
          </p:cNvPr>
          <p:cNvSpPr>
            <a:spLocks noGrp="1"/>
          </p:cNvSpPr>
          <p:nvPr/>
        </p:nvSpPr>
        <p:spPr>
          <a:xfrm>
            <a:off x="6667500" y="2857500"/>
            <a:ext cx="4953000" cy="4000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4000"/>
          </a:p>
        </p:txBody>
      </p:sp>
      <p:sp>
        <p:nvSpPr>
          <p:cNvPr id="14" name="drawio2pptx:shape:14">
            <a:extLst>
              <a:ext uri="{FF2B5EF4-FFF2-40B4-BE49-F238E27FC236}">
                <a16:creationId xmlns:a16="http://schemas.microsoft.com/office/drawing/2014/main" id="{5550AEF3-B12C-40F5-BD1D-7E6485F35B61}"/>
              </a:ext>
            </a:extLst>
          </p:cNvPr>
          <p:cNvSpPr>
            <a:spLocks noGrp="1"/>
          </p:cNvSpPr>
          <p:nvPr/>
        </p:nvSpPr>
        <p:spPr>
          <a:xfrm>
            <a:off x="6896100" y="3028950"/>
            <a:ext cx="4495800" cy="342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9050" rIns="0" bIns="1905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1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古籍整理与异体字数字化</a:t>
            </a:r>
          </a:p>
        </p:txBody>
      </p:sp>
      <p:sp>
        <p:nvSpPr>
          <p:cNvPr id="15" name="drawio2pptx:shape:15">
            <a:extLst>
              <a:ext uri="{FF2B5EF4-FFF2-40B4-BE49-F238E27FC236}">
                <a16:creationId xmlns:a16="http://schemas.microsoft.com/office/drawing/2014/main" id="{A31613D0-B09B-4D25-A33E-68A3F4ACFA69}"/>
              </a:ext>
            </a:extLst>
          </p:cNvPr>
          <p:cNvSpPr>
            <a:spLocks noGrp="1"/>
          </p:cNvSpPr>
          <p:nvPr/>
        </p:nvSpPr>
        <p:spPr>
          <a:xfrm>
            <a:off x="6896100" y="3448050"/>
            <a:ext cx="4495800" cy="3200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9050" rIns="0" bIns="1905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0" i="0" u="none" dirty="0" err="1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许多字符没有稳定编码入口</a:t>
            </a:r>
            <a:endParaRPr lang="en-US" sz="2800" b="0" i="0" u="none" dirty="0">
              <a:solidFill>
                <a:srgbClr val="1A1A2E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0" i="0" u="none" dirty="0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，</a:t>
            </a:r>
            <a:r>
              <a:rPr sz="2800" b="0" i="0" u="none" dirty="0" err="1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但研究者通常能给出构形</a:t>
            </a:r>
            <a:endParaRPr lang="en-US" sz="2800" b="0" i="0" u="none" dirty="0">
              <a:solidFill>
                <a:srgbClr val="1A1A2E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0" i="0" u="none" dirty="0" err="1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描述或局部部件图像，这使</a:t>
            </a:r>
            <a:endParaRPr lang="en-US" sz="2800" b="0" i="0" u="none" dirty="0">
              <a:solidFill>
                <a:srgbClr val="1A1A2E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0" i="0" u="none" dirty="0" err="1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统一条件接口有了真实使用</a:t>
            </a:r>
            <a:endParaRPr lang="en-US" sz="2800" b="0" i="0" u="none" dirty="0">
              <a:solidFill>
                <a:srgbClr val="1A1A2E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0" i="0" u="none" dirty="0" err="1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场景</a:t>
            </a:r>
            <a:r>
              <a:rPr sz="2800" b="0" i="0" u="none" dirty="0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16" name="drawio2pptx:shape:16">
            <a:extLst>
              <a:ext uri="{FF2B5EF4-FFF2-40B4-BE49-F238E27FC236}">
                <a16:creationId xmlns:a16="http://schemas.microsoft.com/office/drawing/2014/main" id="{53DA5DDD-3211-4A7D-B54D-0375DFF60537}"/>
              </a:ext>
            </a:extLst>
          </p:cNvPr>
          <p:cNvSpPr>
            <a:spLocks noGrp="1"/>
          </p:cNvSpPr>
          <p:nvPr/>
        </p:nvSpPr>
        <p:spPr>
          <a:xfrm>
            <a:off x="12192000" y="2857500"/>
            <a:ext cx="4953000" cy="4000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4000"/>
          </a:p>
        </p:txBody>
      </p:sp>
      <p:sp>
        <p:nvSpPr>
          <p:cNvPr id="17" name="drawio2pptx:shape:17">
            <a:extLst>
              <a:ext uri="{FF2B5EF4-FFF2-40B4-BE49-F238E27FC236}">
                <a16:creationId xmlns:a16="http://schemas.microsoft.com/office/drawing/2014/main" id="{FDD1F127-B552-43E2-A403-9DACEA7CA479}"/>
              </a:ext>
            </a:extLst>
          </p:cNvPr>
          <p:cNvSpPr>
            <a:spLocks noGrp="1"/>
          </p:cNvSpPr>
          <p:nvPr/>
        </p:nvSpPr>
        <p:spPr>
          <a:xfrm>
            <a:off x="12420600" y="3028950"/>
            <a:ext cx="4495800" cy="342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9050" rIns="0" bIns="1905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1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低资源字符处理</a:t>
            </a:r>
          </a:p>
        </p:txBody>
      </p:sp>
      <p:sp>
        <p:nvSpPr>
          <p:cNvPr id="18" name="drawio2pptx:shape:18">
            <a:extLst>
              <a:ext uri="{FF2B5EF4-FFF2-40B4-BE49-F238E27FC236}">
                <a16:creationId xmlns:a16="http://schemas.microsoft.com/office/drawing/2014/main" id="{71940E17-BB33-416A-AB58-1F57D4EB37E6}"/>
              </a:ext>
            </a:extLst>
          </p:cNvPr>
          <p:cNvSpPr>
            <a:spLocks noGrp="1"/>
          </p:cNvSpPr>
          <p:nvPr/>
        </p:nvSpPr>
        <p:spPr>
          <a:xfrm>
            <a:off x="12420600" y="3448050"/>
            <a:ext cx="4495800" cy="3200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9050" rIns="0" bIns="1905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0" i="0" u="none" dirty="0" err="1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若模型能够在有限样本下维持结构约束，就有机会把现代</a:t>
            </a:r>
            <a:endParaRPr lang="en-US" sz="2800" b="0" i="0" u="none" dirty="0">
              <a:solidFill>
                <a:srgbClr val="1A1A2E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0" i="0" u="none" dirty="0" err="1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汉字主任务平滑延伸到</a:t>
            </a:r>
            <a:r>
              <a:rPr sz="2800" b="0" i="0" u="none" dirty="0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 OOV </a:t>
            </a:r>
            <a:r>
              <a:rPr sz="2800" b="0" i="0" u="none" dirty="0" err="1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字符、古壮字等边缘场景</a:t>
            </a:r>
            <a:r>
              <a:rPr sz="2800" b="0" i="0" u="none" dirty="0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20" name="drawio2pptx:shape:20">
            <a:extLst>
              <a:ext uri="{FF2B5EF4-FFF2-40B4-BE49-F238E27FC236}">
                <a16:creationId xmlns:a16="http://schemas.microsoft.com/office/drawing/2014/main" id="{9CEB165A-0CF1-4B29-BF99-F39F476E9114}"/>
              </a:ext>
            </a:extLst>
          </p:cNvPr>
          <p:cNvSpPr>
            <a:spLocks noGrp="1"/>
          </p:cNvSpPr>
          <p:nvPr/>
        </p:nvSpPr>
        <p:spPr>
          <a:xfrm>
            <a:off x="2133600" y="7600950"/>
            <a:ext cx="14020800" cy="342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9050" rIns="0" bIns="1905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b="1" i="0" u="none" dirty="0">
              <a:solidFill>
                <a:srgbClr val="1A1A2E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1942849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awio2pptx:shape:2">
            <a:extLst>
              <a:ext uri="{FF2B5EF4-FFF2-40B4-BE49-F238E27FC236}">
                <a16:creationId xmlns:a16="http://schemas.microsoft.com/office/drawing/2014/main" id="{A8AB897F-B749-4866-BB86-3E509619344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drawio2pptx:shape:3">
            <a:extLst>
              <a:ext uri="{FF2B5EF4-FFF2-40B4-BE49-F238E27FC236}">
                <a16:creationId xmlns:a16="http://schemas.microsoft.com/office/drawing/2014/main" id="{D834C9C0-9882-4546-87EE-AF7A7CC1B54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143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drawio2pptx:shape:4">
            <a:extLst>
              <a:ext uri="{FF2B5EF4-FFF2-40B4-BE49-F238E27FC236}">
                <a16:creationId xmlns:a16="http://schemas.microsoft.com/office/drawing/2014/main" id="{015A1C2A-6624-4117-814A-EDD72BCE55DA}"/>
              </a:ext>
            </a:extLst>
          </p:cNvPr>
          <p:cNvSpPr>
            <a:spLocks noGrp="1"/>
          </p:cNvSpPr>
          <p:nvPr/>
        </p:nvSpPr>
        <p:spPr>
          <a:xfrm>
            <a:off x="0" y="1143000"/>
            <a:ext cx="18288000" cy="571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drawio2pptx:shape:5">
            <a:extLst>
              <a:ext uri="{FF2B5EF4-FFF2-40B4-BE49-F238E27FC236}">
                <a16:creationId xmlns:a16="http://schemas.microsoft.com/office/drawing/2014/main" id="{900E982F-F528-47EC-BDC0-7A604075590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143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9050" rIns="0" bIns="1905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50" b="1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 国内外研究现状与研究空缺</a:t>
            </a:r>
          </a:p>
        </p:txBody>
      </p:sp>
      <p:sp>
        <p:nvSpPr>
          <p:cNvPr id="6" name="drawio2pptx:shape:6">
            <a:extLst>
              <a:ext uri="{FF2B5EF4-FFF2-40B4-BE49-F238E27FC236}">
                <a16:creationId xmlns:a16="http://schemas.microsoft.com/office/drawing/2014/main" id="{3F435B7D-5719-47B0-B2DF-4BC6438B076B}"/>
              </a:ext>
            </a:extLst>
          </p:cNvPr>
          <p:cNvSpPr>
            <a:spLocks noGrp="1"/>
          </p:cNvSpPr>
          <p:nvPr/>
        </p:nvSpPr>
        <p:spPr>
          <a:xfrm>
            <a:off x="0" y="9906000"/>
            <a:ext cx="182880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drawio2pptx:shape:7">
            <a:extLst>
              <a:ext uri="{FF2B5EF4-FFF2-40B4-BE49-F238E27FC236}">
                <a16:creationId xmlns:a16="http://schemas.microsoft.com/office/drawing/2014/main" id="{0A067508-D935-483E-A153-DA4AB34AB0B2}"/>
              </a:ext>
            </a:extLst>
          </p:cNvPr>
          <p:cNvSpPr>
            <a:spLocks noGrp="1"/>
          </p:cNvSpPr>
          <p:nvPr/>
        </p:nvSpPr>
        <p:spPr>
          <a:xfrm>
            <a:off x="14859000" y="9925050"/>
            <a:ext cx="257175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9050" rIns="0" bIns="1905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2026 年 4 月</a:t>
            </a:r>
          </a:p>
        </p:txBody>
      </p:sp>
      <p:sp>
        <p:nvSpPr>
          <p:cNvPr id="8" name="drawio2pptx:shape:8">
            <a:extLst>
              <a:ext uri="{FF2B5EF4-FFF2-40B4-BE49-F238E27FC236}">
                <a16:creationId xmlns:a16="http://schemas.microsoft.com/office/drawing/2014/main" id="{84325802-0D5A-4BB1-8E6D-43A42B1D81B3}"/>
              </a:ext>
            </a:extLst>
          </p:cNvPr>
          <p:cNvSpPr>
            <a:spLocks noGrp="1"/>
          </p:cNvSpPr>
          <p:nvPr/>
        </p:nvSpPr>
        <p:spPr>
          <a:xfrm>
            <a:off x="1143000" y="1733550"/>
            <a:ext cx="95250" cy="3619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4000"/>
          </a:p>
        </p:txBody>
      </p:sp>
      <p:sp>
        <p:nvSpPr>
          <p:cNvPr id="9" name="drawio2pptx:shape:9">
            <a:extLst>
              <a:ext uri="{FF2B5EF4-FFF2-40B4-BE49-F238E27FC236}">
                <a16:creationId xmlns:a16="http://schemas.microsoft.com/office/drawing/2014/main" id="{EE5A16C7-CBD3-486B-984D-9C89C3075BAA}"/>
              </a:ext>
            </a:extLst>
          </p:cNvPr>
          <p:cNvSpPr>
            <a:spLocks noGrp="1"/>
          </p:cNvSpPr>
          <p:nvPr/>
        </p:nvSpPr>
        <p:spPr>
          <a:xfrm>
            <a:off x="1409700" y="1714500"/>
            <a:ext cx="9906000" cy="4191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9050" rIns="0" bIns="1905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000" b="1" i="0" u="none" dirty="0" err="1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相关研究尚未</a:t>
            </a:r>
            <a:r>
              <a:rPr lang="zh-CN" altLang="en-US" sz="4000" b="1" i="0" u="none" dirty="0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形</a:t>
            </a:r>
            <a:r>
              <a:rPr sz="4000" b="1" i="0" u="none" dirty="0" err="1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成统一</a:t>
            </a:r>
            <a:r>
              <a:rPr lang="zh-CN" altLang="en-US" sz="4000" b="1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的</a:t>
            </a:r>
            <a:r>
              <a:rPr sz="4000" b="1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任务框架</a:t>
            </a:r>
            <a:endParaRPr sz="4000" b="1" i="0" u="none" dirty="0">
              <a:solidFill>
                <a:srgbClr val="1A1A2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drawio2pptx:shape:10">
            <a:extLst>
              <a:ext uri="{FF2B5EF4-FFF2-40B4-BE49-F238E27FC236}">
                <a16:creationId xmlns:a16="http://schemas.microsoft.com/office/drawing/2014/main" id="{8F41D9A5-188E-4E9E-895A-989EE7526226}"/>
              </a:ext>
            </a:extLst>
          </p:cNvPr>
          <p:cNvSpPr>
            <a:spLocks noGrp="1"/>
          </p:cNvSpPr>
          <p:nvPr/>
        </p:nvSpPr>
        <p:spPr>
          <a:xfrm>
            <a:off x="952500" y="2857500"/>
            <a:ext cx="5143500" cy="40957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4000"/>
          </a:p>
        </p:txBody>
      </p:sp>
      <p:sp>
        <p:nvSpPr>
          <p:cNvPr id="11" name="drawio2pptx:shape:11">
            <a:extLst>
              <a:ext uri="{FF2B5EF4-FFF2-40B4-BE49-F238E27FC236}">
                <a16:creationId xmlns:a16="http://schemas.microsoft.com/office/drawing/2014/main" id="{3EB4EB1B-6AFC-4A34-9CDF-F110C78DD4E3}"/>
              </a:ext>
            </a:extLst>
          </p:cNvPr>
          <p:cNvSpPr>
            <a:spLocks noGrp="1"/>
          </p:cNvSpPr>
          <p:nvPr/>
        </p:nvSpPr>
        <p:spPr>
          <a:xfrm>
            <a:off x="1181100" y="3028950"/>
            <a:ext cx="4686300" cy="342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9050" rIns="0" bIns="1905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1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部件与结构表征</a:t>
            </a:r>
          </a:p>
        </p:txBody>
      </p:sp>
      <p:sp>
        <p:nvSpPr>
          <p:cNvPr id="12" name="drawio2pptx:shape:12">
            <a:extLst>
              <a:ext uri="{FF2B5EF4-FFF2-40B4-BE49-F238E27FC236}">
                <a16:creationId xmlns:a16="http://schemas.microsoft.com/office/drawing/2014/main" id="{F0AA8228-D218-4A13-89D1-E6AC360BCCD2}"/>
              </a:ext>
            </a:extLst>
          </p:cNvPr>
          <p:cNvSpPr>
            <a:spLocks noGrp="1"/>
          </p:cNvSpPr>
          <p:nvPr/>
        </p:nvSpPr>
        <p:spPr>
          <a:xfrm>
            <a:off x="1181100" y="3448050"/>
            <a:ext cx="4686300" cy="32956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9050" rIns="0" bIns="1905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0" i="0" u="none" dirty="0" err="1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零样本汉字识别、显式偏旁编码、IDS</a:t>
            </a:r>
            <a:r>
              <a:rPr sz="2800" b="0" i="0" u="none" dirty="0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800" b="0" i="0" u="none" dirty="0" err="1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对齐、formation</a:t>
            </a:r>
            <a:r>
              <a:rPr sz="2800" b="0" i="0" u="none" dirty="0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 tree </a:t>
            </a:r>
            <a:r>
              <a:rPr sz="2800" b="0" i="0" u="none" dirty="0" err="1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等工作说明：汉字可以被拆解，也值得以结构化方式表示</a:t>
            </a:r>
            <a:r>
              <a:rPr sz="2800" b="0" i="0" u="none" dirty="0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13" name="drawio2pptx:shape:13">
            <a:extLst>
              <a:ext uri="{FF2B5EF4-FFF2-40B4-BE49-F238E27FC236}">
                <a16:creationId xmlns:a16="http://schemas.microsoft.com/office/drawing/2014/main" id="{5038F874-E21E-4660-A7F7-DDB0D36C17F5}"/>
              </a:ext>
            </a:extLst>
          </p:cNvPr>
          <p:cNvSpPr>
            <a:spLocks noGrp="1"/>
          </p:cNvSpPr>
          <p:nvPr/>
        </p:nvSpPr>
        <p:spPr>
          <a:xfrm>
            <a:off x="6572250" y="2857500"/>
            <a:ext cx="5143500" cy="40957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4000"/>
          </a:p>
        </p:txBody>
      </p:sp>
      <p:sp>
        <p:nvSpPr>
          <p:cNvPr id="14" name="drawio2pptx:shape:14">
            <a:extLst>
              <a:ext uri="{FF2B5EF4-FFF2-40B4-BE49-F238E27FC236}">
                <a16:creationId xmlns:a16="http://schemas.microsoft.com/office/drawing/2014/main" id="{D0F74D02-3B40-4E99-9FEF-A1AA444DAD37}"/>
              </a:ext>
            </a:extLst>
          </p:cNvPr>
          <p:cNvSpPr>
            <a:spLocks noGrp="1"/>
          </p:cNvSpPr>
          <p:nvPr/>
        </p:nvSpPr>
        <p:spPr>
          <a:xfrm>
            <a:off x="6800850" y="3028950"/>
            <a:ext cx="4686300" cy="342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9050" rIns="0" bIns="1905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1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字体迁移与字形生成</a:t>
            </a:r>
          </a:p>
        </p:txBody>
      </p:sp>
      <p:sp>
        <p:nvSpPr>
          <p:cNvPr id="15" name="drawio2pptx:shape:15">
            <a:extLst>
              <a:ext uri="{FF2B5EF4-FFF2-40B4-BE49-F238E27FC236}">
                <a16:creationId xmlns:a16="http://schemas.microsoft.com/office/drawing/2014/main" id="{2A7464F0-309E-41C7-B9D4-A26E37EB90DF}"/>
              </a:ext>
            </a:extLst>
          </p:cNvPr>
          <p:cNvSpPr>
            <a:spLocks noGrp="1"/>
          </p:cNvSpPr>
          <p:nvPr/>
        </p:nvSpPr>
        <p:spPr>
          <a:xfrm>
            <a:off x="6800850" y="3448050"/>
            <a:ext cx="4686300" cy="32956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9050" rIns="0" bIns="1905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0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GAN、Transformer 和扩散模型显著提升了字形生成质量，但多数研究默认目标字符身份已知，关注的是风格迁移而非“部件到整字”的组合生成。</a:t>
            </a:r>
          </a:p>
        </p:txBody>
      </p:sp>
      <p:sp>
        <p:nvSpPr>
          <p:cNvPr id="16" name="drawio2pptx:shape:16">
            <a:extLst>
              <a:ext uri="{FF2B5EF4-FFF2-40B4-BE49-F238E27FC236}">
                <a16:creationId xmlns:a16="http://schemas.microsoft.com/office/drawing/2014/main" id="{8B1F7A2A-4015-44AE-B668-AA26D7EBC675}"/>
              </a:ext>
            </a:extLst>
          </p:cNvPr>
          <p:cNvSpPr>
            <a:spLocks noGrp="1"/>
          </p:cNvSpPr>
          <p:nvPr/>
        </p:nvSpPr>
        <p:spPr>
          <a:xfrm>
            <a:off x="12192000" y="2857500"/>
            <a:ext cx="5143500" cy="40957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4000"/>
          </a:p>
        </p:txBody>
      </p:sp>
      <p:sp>
        <p:nvSpPr>
          <p:cNvPr id="17" name="drawio2pptx:shape:17">
            <a:extLst>
              <a:ext uri="{FF2B5EF4-FFF2-40B4-BE49-F238E27FC236}">
                <a16:creationId xmlns:a16="http://schemas.microsoft.com/office/drawing/2014/main" id="{6A15653D-045F-41DB-8028-17B1FF4D4D1C}"/>
              </a:ext>
            </a:extLst>
          </p:cNvPr>
          <p:cNvSpPr>
            <a:spLocks noGrp="1"/>
          </p:cNvSpPr>
          <p:nvPr/>
        </p:nvSpPr>
        <p:spPr>
          <a:xfrm>
            <a:off x="12420600" y="3028950"/>
            <a:ext cx="4686300" cy="342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9050" rIns="0" bIns="1905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1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扩散模型与稀有字符处理</a:t>
            </a:r>
          </a:p>
        </p:txBody>
      </p:sp>
      <p:sp>
        <p:nvSpPr>
          <p:cNvPr id="18" name="drawio2pptx:shape:18">
            <a:extLst>
              <a:ext uri="{FF2B5EF4-FFF2-40B4-BE49-F238E27FC236}">
                <a16:creationId xmlns:a16="http://schemas.microsoft.com/office/drawing/2014/main" id="{DA3F5C95-70ED-4B14-8B01-5A8EFD39454A}"/>
              </a:ext>
            </a:extLst>
          </p:cNvPr>
          <p:cNvSpPr>
            <a:spLocks noGrp="1"/>
          </p:cNvSpPr>
          <p:nvPr/>
        </p:nvSpPr>
        <p:spPr>
          <a:xfrm>
            <a:off x="12420600" y="3448050"/>
            <a:ext cx="4686300" cy="32956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9050" rIns="0" bIns="1905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0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近年的相关工作证明生成模型能够服务字体合成和低资源字符任务。
但在这些研究中，结构约束通常还不是最核心的控制信号。</a:t>
            </a:r>
          </a:p>
        </p:txBody>
      </p:sp>
    </p:spTree>
    <p:extLst>
      <p:ext uri="{BB962C8B-B14F-4D97-AF65-F5344CB8AC3E}">
        <p14:creationId xmlns:p14="http://schemas.microsoft.com/office/powerpoint/2010/main" val="10288787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awio2pptx:shape:2">
            <a:extLst>
              <a:ext uri="{FF2B5EF4-FFF2-40B4-BE49-F238E27FC236}">
                <a16:creationId xmlns:a16="http://schemas.microsoft.com/office/drawing/2014/main" id="{78F3F08B-03E9-415A-99C3-BD0E4DACE5D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drawio2pptx:shape:3">
            <a:extLst>
              <a:ext uri="{FF2B5EF4-FFF2-40B4-BE49-F238E27FC236}">
                <a16:creationId xmlns:a16="http://schemas.microsoft.com/office/drawing/2014/main" id="{1F837993-7F45-458C-AE05-708A0B365E6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143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drawio2pptx:shape:4">
            <a:extLst>
              <a:ext uri="{FF2B5EF4-FFF2-40B4-BE49-F238E27FC236}">
                <a16:creationId xmlns:a16="http://schemas.microsoft.com/office/drawing/2014/main" id="{B6494F44-1310-4345-9AC5-994C5EC3A7B8}"/>
              </a:ext>
            </a:extLst>
          </p:cNvPr>
          <p:cNvSpPr>
            <a:spLocks noGrp="1"/>
          </p:cNvSpPr>
          <p:nvPr/>
        </p:nvSpPr>
        <p:spPr>
          <a:xfrm>
            <a:off x="0" y="1143000"/>
            <a:ext cx="18288000" cy="571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drawio2pptx:shape:5">
            <a:extLst>
              <a:ext uri="{FF2B5EF4-FFF2-40B4-BE49-F238E27FC236}">
                <a16:creationId xmlns:a16="http://schemas.microsoft.com/office/drawing/2014/main" id="{42E6CD70-8857-43FD-A050-67C7716B53A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143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9050" rIns="0" bIns="1905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50" b="1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04 任务定义与研究目标</a:t>
            </a:r>
          </a:p>
        </p:txBody>
      </p:sp>
      <p:sp>
        <p:nvSpPr>
          <p:cNvPr id="6" name="drawio2pptx:shape:6">
            <a:extLst>
              <a:ext uri="{FF2B5EF4-FFF2-40B4-BE49-F238E27FC236}">
                <a16:creationId xmlns:a16="http://schemas.microsoft.com/office/drawing/2014/main" id="{FE9C468A-0316-471A-BAE2-C0B5E2E9D82B}"/>
              </a:ext>
            </a:extLst>
          </p:cNvPr>
          <p:cNvSpPr>
            <a:spLocks noGrp="1"/>
          </p:cNvSpPr>
          <p:nvPr/>
        </p:nvSpPr>
        <p:spPr>
          <a:xfrm>
            <a:off x="0" y="9906000"/>
            <a:ext cx="182880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drawio2pptx:shape:7">
            <a:extLst>
              <a:ext uri="{FF2B5EF4-FFF2-40B4-BE49-F238E27FC236}">
                <a16:creationId xmlns:a16="http://schemas.microsoft.com/office/drawing/2014/main" id="{FEEC715D-E634-4680-8C6C-CA458BE490D6}"/>
              </a:ext>
            </a:extLst>
          </p:cNvPr>
          <p:cNvSpPr>
            <a:spLocks noGrp="1"/>
          </p:cNvSpPr>
          <p:nvPr/>
        </p:nvSpPr>
        <p:spPr>
          <a:xfrm>
            <a:off x="14859000" y="9925050"/>
            <a:ext cx="257175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9050" rIns="0" bIns="1905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2026 年 4 月</a:t>
            </a:r>
          </a:p>
        </p:txBody>
      </p:sp>
      <p:sp>
        <p:nvSpPr>
          <p:cNvPr id="8" name="drawio2pptx:shape:8">
            <a:extLst>
              <a:ext uri="{FF2B5EF4-FFF2-40B4-BE49-F238E27FC236}">
                <a16:creationId xmlns:a16="http://schemas.microsoft.com/office/drawing/2014/main" id="{3A6867A4-AFDB-4836-B1AE-40AC384256DE}"/>
              </a:ext>
            </a:extLst>
          </p:cNvPr>
          <p:cNvSpPr>
            <a:spLocks noGrp="1"/>
          </p:cNvSpPr>
          <p:nvPr/>
        </p:nvSpPr>
        <p:spPr>
          <a:xfrm>
            <a:off x="1143000" y="1752600"/>
            <a:ext cx="95250" cy="3619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/>
          </a:p>
        </p:txBody>
      </p:sp>
      <p:sp>
        <p:nvSpPr>
          <p:cNvPr id="9" name="drawio2pptx:shape:9">
            <a:extLst>
              <a:ext uri="{FF2B5EF4-FFF2-40B4-BE49-F238E27FC236}">
                <a16:creationId xmlns:a16="http://schemas.microsoft.com/office/drawing/2014/main" id="{14560949-3401-4853-8E81-58100A8A1E94}"/>
              </a:ext>
            </a:extLst>
          </p:cNvPr>
          <p:cNvSpPr>
            <a:spLocks noGrp="1"/>
          </p:cNvSpPr>
          <p:nvPr/>
        </p:nvSpPr>
        <p:spPr>
          <a:xfrm>
            <a:off x="1409700" y="1733550"/>
            <a:ext cx="8096250" cy="4191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9050" rIns="0" bIns="1905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5" b="1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输入部件和结构条件，输出完整字形图像</a:t>
            </a:r>
          </a:p>
        </p:txBody>
      </p:sp>
      <p:sp>
        <p:nvSpPr>
          <p:cNvPr id="10" name="drawio2pptx:shape:10">
            <a:extLst>
              <a:ext uri="{FF2B5EF4-FFF2-40B4-BE49-F238E27FC236}">
                <a16:creationId xmlns:a16="http://schemas.microsoft.com/office/drawing/2014/main" id="{A98E1AB5-31D8-483B-B6A5-9A97E8AF8331}"/>
              </a:ext>
            </a:extLst>
          </p:cNvPr>
          <p:cNvSpPr>
            <a:spLocks noGrp="1"/>
          </p:cNvSpPr>
          <p:nvPr/>
        </p:nvSpPr>
        <p:spPr>
          <a:xfrm>
            <a:off x="1428750" y="2524125"/>
            <a:ext cx="2095500" cy="323850"/>
          </a:xfrm>
          <a:prstGeom prst="roundRect">
            <a:avLst/>
          </a:prstGeom>
          <a:solidFill>
            <a:srgbClr val="C9A84C"/>
          </a:solidFill>
          <a:ln w="9525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drawio2pptx:shape:11">
            <a:extLst>
              <a:ext uri="{FF2B5EF4-FFF2-40B4-BE49-F238E27FC236}">
                <a16:creationId xmlns:a16="http://schemas.microsoft.com/office/drawing/2014/main" id="{7415F562-8C91-4587-A52D-EAD72BD12F56}"/>
              </a:ext>
            </a:extLst>
          </p:cNvPr>
          <p:cNvSpPr>
            <a:spLocks noGrp="1"/>
          </p:cNvSpPr>
          <p:nvPr/>
        </p:nvSpPr>
        <p:spPr>
          <a:xfrm>
            <a:off x="1428750" y="2524125"/>
            <a:ext cx="2095500" cy="3238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9050" rIns="0" bIns="1905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示例一：左右结构</a:t>
            </a:r>
          </a:p>
        </p:txBody>
      </p:sp>
      <p:sp>
        <p:nvSpPr>
          <p:cNvPr id="12" name="drawio2pptx:shape:12">
            <a:extLst>
              <a:ext uri="{FF2B5EF4-FFF2-40B4-BE49-F238E27FC236}">
                <a16:creationId xmlns:a16="http://schemas.microsoft.com/office/drawing/2014/main" id="{A4A94013-7698-4A5F-9D38-6929808CF567}"/>
              </a:ext>
            </a:extLst>
          </p:cNvPr>
          <p:cNvSpPr>
            <a:spLocks noGrp="1"/>
          </p:cNvSpPr>
          <p:nvPr/>
        </p:nvSpPr>
        <p:spPr>
          <a:xfrm>
            <a:off x="1428750" y="3000375"/>
            <a:ext cx="1524000" cy="1714500"/>
          </a:xfrm>
          <a:prstGeom prst="roundRect">
            <a:avLst/>
          </a:prstGeom>
          <a:solidFill>
            <a:srgbClr val="0F172A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drawio2pptx:shape:13">
            <a:extLst>
              <a:ext uri="{FF2B5EF4-FFF2-40B4-BE49-F238E27FC236}">
                <a16:creationId xmlns:a16="http://schemas.microsoft.com/office/drawing/2014/main" id="{F84D91D6-6047-488E-9138-0439D3F4DDCB}"/>
              </a:ext>
            </a:extLst>
          </p:cNvPr>
          <p:cNvSpPr>
            <a:spLocks noGrp="1"/>
          </p:cNvSpPr>
          <p:nvPr/>
        </p:nvSpPr>
        <p:spPr>
          <a:xfrm>
            <a:off x="1562100" y="3133725"/>
            <a:ext cx="1257300" cy="10858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drawio2pptx:shape:14">
            <a:extLst>
              <a:ext uri="{FF2B5EF4-FFF2-40B4-BE49-F238E27FC236}">
                <a16:creationId xmlns:a16="http://schemas.microsoft.com/office/drawing/2014/main" id="{9980B025-33AF-4AE7-87DA-78596E8309BC}"/>
              </a:ext>
            </a:extLst>
          </p:cNvPr>
          <p:cNvSpPr>
            <a:spLocks noGrp="1"/>
          </p:cNvSpPr>
          <p:nvPr/>
        </p:nvSpPr>
        <p:spPr>
          <a:xfrm>
            <a:off x="1524000" y="4333875"/>
            <a:ext cx="133350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9050" rIns="0" bIns="1905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部件 A：犭</a:t>
            </a:r>
          </a:p>
        </p:txBody>
      </p:sp>
      <p:sp>
        <p:nvSpPr>
          <p:cNvPr id="15" name="drawio2pptx:shape:15">
            <a:extLst>
              <a:ext uri="{FF2B5EF4-FFF2-40B4-BE49-F238E27FC236}">
                <a16:creationId xmlns:a16="http://schemas.microsoft.com/office/drawing/2014/main" id="{BC88F997-1B40-4A1F-B61A-5002EF4FAE82}"/>
              </a:ext>
            </a:extLst>
          </p:cNvPr>
          <p:cNvSpPr>
            <a:spLocks noGrp="1"/>
          </p:cNvSpPr>
          <p:nvPr/>
        </p:nvSpPr>
        <p:spPr>
          <a:xfrm>
            <a:off x="3095625" y="3429000"/>
            <a:ext cx="857250" cy="762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9050" rIns="0" bIns="1905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 b="1" i="0" u="none">
                <a:solidFill>
                  <a:srgbClr val="1F497D"/>
                </a:solidFill>
                <a:latin typeface="微软雅黑"/>
                <a:ea typeface="微软雅黑"/>
                <a:cs typeface="微软雅黑"/>
              </a:rPr>
              <a:t>+</a:t>
            </a:r>
          </a:p>
        </p:txBody>
      </p:sp>
      <p:sp>
        <p:nvSpPr>
          <p:cNvPr id="16" name="drawio2pptx:shape:16">
            <a:extLst>
              <a:ext uri="{FF2B5EF4-FFF2-40B4-BE49-F238E27FC236}">
                <a16:creationId xmlns:a16="http://schemas.microsoft.com/office/drawing/2014/main" id="{BE74EEA2-34F9-47C3-8D6A-8DF465A83520}"/>
              </a:ext>
            </a:extLst>
          </p:cNvPr>
          <p:cNvSpPr>
            <a:spLocks noGrp="1"/>
          </p:cNvSpPr>
          <p:nvPr/>
        </p:nvSpPr>
        <p:spPr>
          <a:xfrm>
            <a:off x="3952875" y="3000375"/>
            <a:ext cx="1524000" cy="1714500"/>
          </a:xfrm>
          <a:prstGeom prst="roundRect">
            <a:avLst/>
          </a:prstGeom>
          <a:solidFill>
            <a:srgbClr val="0F172A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drawio2pptx:shape:17">
            <a:extLst>
              <a:ext uri="{FF2B5EF4-FFF2-40B4-BE49-F238E27FC236}">
                <a16:creationId xmlns:a16="http://schemas.microsoft.com/office/drawing/2014/main" id="{036B0BB1-B26A-4C22-9AA2-AE10A17AFF08}"/>
              </a:ext>
            </a:extLst>
          </p:cNvPr>
          <p:cNvSpPr>
            <a:spLocks noGrp="1"/>
          </p:cNvSpPr>
          <p:nvPr/>
        </p:nvSpPr>
        <p:spPr>
          <a:xfrm>
            <a:off x="4086225" y="3133725"/>
            <a:ext cx="1257300" cy="10858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drawio2pptx:shape:18">
            <a:extLst>
              <a:ext uri="{FF2B5EF4-FFF2-40B4-BE49-F238E27FC236}">
                <a16:creationId xmlns:a16="http://schemas.microsoft.com/office/drawing/2014/main" id="{298ECAC2-1888-49F8-9C2B-F5CE890BD5D9}"/>
              </a:ext>
            </a:extLst>
          </p:cNvPr>
          <p:cNvSpPr>
            <a:spLocks noGrp="1"/>
          </p:cNvSpPr>
          <p:nvPr/>
        </p:nvSpPr>
        <p:spPr>
          <a:xfrm>
            <a:off x="4048125" y="4333875"/>
            <a:ext cx="133350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9050" rIns="0" bIns="1905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部件 B：句</a:t>
            </a:r>
          </a:p>
        </p:txBody>
      </p:sp>
      <p:sp>
        <p:nvSpPr>
          <p:cNvPr id="19" name="drawio2pptx:shape:19">
            <a:extLst>
              <a:ext uri="{FF2B5EF4-FFF2-40B4-BE49-F238E27FC236}">
                <a16:creationId xmlns:a16="http://schemas.microsoft.com/office/drawing/2014/main" id="{3F8BA7AF-9964-4630-A7E8-47B85932841E}"/>
              </a:ext>
            </a:extLst>
          </p:cNvPr>
          <p:cNvSpPr>
            <a:spLocks noGrp="1"/>
          </p:cNvSpPr>
          <p:nvPr/>
        </p:nvSpPr>
        <p:spPr>
          <a:xfrm>
            <a:off x="5715000" y="3429000"/>
            <a:ext cx="857250" cy="762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9050" rIns="0" bIns="1905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 b="1" i="0" u="none">
                <a:solidFill>
                  <a:srgbClr val="1F497D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0" name="drawio2pptx:shape:20">
            <a:extLst>
              <a:ext uri="{FF2B5EF4-FFF2-40B4-BE49-F238E27FC236}">
                <a16:creationId xmlns:a16="http://schemas.microsoft.com/office/drawing/2014/main" id="{6EB848F4-7747-4D4C-ADD0-CBAE3801FE2F}"/>
              </a:ext>
            </a:extLst>
          </p:cNvPr>
          <p:cNvSpPr>
            <a:spLocks noGrp="1"/>
          </p:cNvSpPr>
          <p:nvPr/>
        </p:nvSpPr>
        <p:spPr>
          <a:xfrm>
            <a:off x="6762750" y="3590925"/>
            <a:ext cx="2381250" cy="323850"/>
          </a:xfrm>
          <a:prstGeom prst="roundRect">
            <a:avLst/>
          </a:prstGeom>
          <a:solidFill>
            <a:srgbClr val="1F497D"/>
          </a:solidFill>
          <a:ln w="9525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drawio2pptx:shape:21">
            <a:extLst>
              <a:ext uri="{FF2B5EF4-FFF2-40B4-BE49-F238E27FC236}">
                <a16:creationId xmlns:a16="http://schemas.microsoft.com/office/drawing/2014/main" id="{0DFFF8B8-EC33-4B11-82DB-B9996192DFBD}"/>
              </a:ext>
            </a:extLst>
          </p:cNvPr>
          <p:cNvSpPr>
            <a:spLocks noGrp="1"/>
          </p:cNvSpPr>
          <p:nvPr/>
        </p:nvSpPr>
        <p:spPr>
          <a:xfrm>
            <a:off x="6762750" y="3590925"/>
            <a:ext cx="2381250" cy="3238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9050" rIns="0" bIns="1905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结构标签：left_right</a:t>
            </a:r>
          </a:p>
        </p:txBody>
      </p:sp>
      <p:sp>
        <p:nvSpPr>
          <p:cNvPr id="22" name="drawio2pptx:shape:22">
            <a:extLst>
              <a:ext uri="{FF2B5EF4-FFF2-40B4-BE49-F238E27FC236}">
                <a16:creationId xmlns:a16="http://schemas.microsoft.com/office/drawing/2014/main" id="{DAA1D0AB-507B-464C-A8F7-F31910D998CF}"/>
              </a:ext>
            </a:extLst>
          </p:cNvPr>
          <p:cNvSpPr>
            <a:spLocks noGrp="1"/>
          </p:cNvSpPr>
          <p:nvPr/>
        </p:nvSpPr>
        <p:spPr>
          <a:xfrm>
            <a:off x="9620250" y="2857500"/>
            <a:ext cx="1809750" cy="2095500"/>
          </a:xfrm>
          <a:prstGeom prst="roundRect">
            <a:avLst/>
          </a:prstGeom>
          <a:solidFill>
            <a:srgbClr val="0F172A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drawio2pptx:shape:23">
            <a:extLst>
              <a:ext uri="{FF2B5EF4-FFF2-40B4-BE49-F238E27FC236}">
                <a16:creationId xmlns:a16="http://schemas.microsoft.com/office/drawing/2014/main" id="{0A3A9201-A207-4DCC-B337-039E6AE26472}"/>
              </a:ext>
            </a:extLst>
          </p:cNvPr>
          <p:cNvSpPr>
            <a:spLocks noGrp="1"/>
          </p:cNvSpPr>
          <p:nvPr/>
        </p:nvSpPr>
        <p:spPr>
          <a:xfrm>
            <a:off x="9753600" y="2990850"/>
            <a:ext cx="1543050" cy="14668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drawio2pptx:shape:24">
            <a:extLst>
              <a:ext uri="{FF2B5EF4-FFF2-40B4-BE49-F238E27FC236}">
                <a16:creationId xmlns:a16="http://schemas.microsoft.com/office/drawing/2014/main" id="{17752615-8EA2-4F57-89B3-0E14E0524B12}"/>
              </a:ext>
            </a:extLst>
          </p:cNvPr>
          <p:cNvSpPr>
            <a:spLocks noGrp="1"/>
          </p:cNvSpPr>
          <p:nvPr/>
        </p:nvSpPr>
        <p:spPr>
          <a:xfrm>
            <a:off x="9715500" y="4572000"/>
            <a:ext cx="161925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9050" rIns="0" bIns="1905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输出：狗</a:t>
            </a:r>
          </a:p>
        </p:txBody>
      </p:sp>
      <p:sp>
        <p:nvSpPr>
          <p:cNvPr id="25" name="drawio2pptx:shape:25">
            <a:extLst>
              <a:ext uri="{FF2B5EF4-FFF2-40B4-BE49-F238E27FC236}">
                <a16:creationId xmlns:a16="http://schemas.microsoft.com/office/drawing/2014/main" id="{6B8C1531-74F6-4B98-85C9-82E822EDFC22}"/>
              </a:ext>
            </a:extLst>
          </p:cNvPr>
          <p:cNvSpPr>
            <a:spLocks noGrp="1"/>
          </p:cNvSpPr>
          <p:nvPr/>
        </p:nvSpPr>
        <p:spPr>
          <a:xfrm>
            <a:off x="1428750" y="5572125"/>
            <a:ext cx="2381250" cy="323850"/>
          </a:xfrm>
          <a:prstGeom prst="roundRect">
            <a:avLst/>
          </a:prstGeom>
          <a:solidFill>
            <a:srgbClr val="C9A84C"/>
          </a:solidFill>
          <a:ln w="9525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drawio2pptx:shape:26">
            <a:extLst>
              <a:ext uri="{FF2B5EF4-FFF2-40B4-BE49-F238E27FC236}">
                <a16:creationId xmlns:a16="http://schemas.microsoft.com/office/drawing/2014/main" id="{5269C6FC-F546-4957-ABAA-5BB4DA54E57F}"/>
              </a:ext>
            </a:extLst>
          </p:cNvPr>
          <p:cNvSpPr>
            <a:spLocks noGrp="1"/>
          </p:cNvSpPr>
          <p:nvPr/>
        </p:nvSpPr>
        <p:spPr>
          <a:xfrm>
            <a:off x="1428750" y="5572125"/>
            <a:ext cx="2381250" cy="3238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9050" rIns="0" bIns="1905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示例二：全包围结构</a:t>
            </a:r>
          </a:p>
        </p:txBody>
      </p:sp>
      <p:sp>
        <p:nvSpPr>
          <p:cNvPr id="27" name="drawio2pptx:shape:27">
            <a:extLst>
              <a:ext uri="{FF2B5EF4-FFF2-40B4-BE49-F238E27FC236}">
                <a16:creationId xmlns:a16="http://schemas.microsoft.com/office/drawing/2014/main" id="{F4144B93-5D71-41F9-9D73-7F6BDA8BA553}"/>
              </a:ext>
            </a:extLst>
          </p:cNvPr>
          <p:cNvSpPr>
            <a:spLocks noGrp="1"/>
          </p:cNvSpPr>
          <p:nvPr/>
        </p:nvSpPr>
        <p:spPr>
          <a:xfrm>
            <a:off x="1428750" y="6048375"/>
            <a:ext cx="1524000" cy="1714500"/>
          </a:xfrm>
          <a:prstGeom prst="roundRect">
            <a:avLst/>
          </a:prstGeom>
          <a:solidFill>
            <a:srgbClr val="0F172A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8" name="drawio2pptx:shape:28">
            <a:extLst>
              <a:ext uri="{FF2B5EF4-FFF2-40B4-BE49-F238E27FC236}">
                <a16:creationId xmlns:a16="http://schemas.microsoft.com/office/drawing/2014/main" id="{FE808E00-80DF-4151-8F7C-695CF825238B}"/>
              </a:ext>
            </a:extLst>
          </p:cNvPr>
          <p:cNvSpPr>
            <a:spLocks noGrp="1"/>
          </p:cNvSpPr>
          <p:nvPr/>
        </p:nvSpPr>
        <p:spPr>
          <a:xfrm>
            <a:off x="1562100" y="6181725"/>
            <a:ext cx="1257300" cy="10858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9" name="drawio2pptx:shape:29">
            <a:extLst>
              <a:ext uri="{FF2B5EF4-FFF2-40B4-BE49-F238E27FC236}">
                <a16:creationId xmlns:a16="http://schemas.microsoft.com/office/drawing/2014/main" id="{6909F8DC-B8BA-420C-9A75-D7AF1DE027B6}"/>
              </a:ext>
            </a:extLst>
          </p:cNvPr>
          <p:cNvSpPr>
            <a:spLocks noGrp="1"/>
          </p:cNvSpPr>
          <p:nvPr/>
        </p:nvSpPr>
        <p:spPr>
          <a:xfrm>
            <a:off x="1524000" y="7381875"/>
            <a:ext cx="133350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9050" rIns="0" bIns="1905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部件 A：囗</a:t>
            </a:r>
          </a:p>
        </p:txBody>
      </p:sp>
      <p:sp>
        <p:nvSpPr>
          <p:cNvPr id="30" name="drawio2pptx:shape:30">
            <a:extLst>
              <a:ext uri="{FF2B5EF4-FFF2-40B4-BE49-F238E27FC236}">
                <a16:creationId xmlns:a16="http://schemas.microsoft.com/office/drawing/2014/main" id="{0BFCBCDB-BBDC-4EBF-B8DD-CB725F576056}"/>
              </a:ext>
            </a:extLst>
          </p:cNvPr>
          <p:cNvSpPr>
            <a:spLocks noGrp="1"/>
          </p:cNvSpPr>
          <p:nvPr/>
        </p:nvSpPr>
        <p:spPr>
          <a:xfrm>
            <a:off x="3095625" y="6477000"/>
            <a:ext cx="857250" cy="762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9050" rIns="0" bIns="1905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 b="1" i="0" u="none">
                <a:solidFill>
                  <a:srgbClr val="1F497D"/>
                </a:solidFill>
                <a:latin typeface="微软雅黑"/>
                <a:ea typeface="微软雅黑"/>
                <a:cs typeface="微软雅黑"/>
              </a:rPr>
              <a:t>+</a:t>
            </a:r>
          </a:p>
        </p:txBody>
      </p:sp>
      <p:sp>
        <p:nvSpPr>
          <p:cNvPr id="31" name="drawio2pptx:shape:31">
            <a:extLst>
              <a:ext uri="{FF2B5EF4-FFF2-40B4-BE49-F238E27FC236}">
                <a16:creationId xmlns:a16="http://schemas.microsoft.com/office/drawing/2014/main" id="{F3CB2D9D-34C9-4F37-B3FA-B9798E4F0F85}"/>
              </a:ext>
            </a:extLst>
          </p:cNvPr>
          <p:cNvSpPr>
            <a:spLocks noGrp="1"/>
          </p:cNvSpPr>
          <p:nvPr/>
        </p:nvSpPr>
        <p:spPr>
          <a:xfrm>
            <a:off x="3952875" y="6048375"/>
            <a:ext cx="1524000" cy="1714500"/>
          </a:xfrm>
          <a:prstGeom prst="roundRect">
            <a:avLst/>
          </a:prstGeom>
          <a:solidFill>
            <a:srgbClr val="0F172A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2" name="drawio2pptx:shape:32">
            <a:extLst>
              <a:ext uri="{FF2B5EF4-FFF2-40B4-BE49-F238E27FC236}">
                <a16:creationId xmlns:a16="http://schemas.microsoft.com/office/drawing/2014/main" id="{49E62AC7-44F8-4BBC-8252-39158D45793F}"/>
              </a:ext>
            </a:extLst>
          </p:cNvPr>
          <p:cNvSpPr>
            <a:spLocks noGrp="1"/>
          </p:cNvSpPr>
          <p:nvPr/>
        </p:nvSpPr>
        <p:spPr>
          <a:xfrm>
            <a:off x="4086225" y="6181725"/>
            <a:ext cx="1257300" cy="10858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3" name="drawio2pptx:shape:33">
            <a:extLst>
              <a:ext uri="{FF2B5EF4-FFF2-40B4-BE49-F238E27FC236}">
                <a16:creationId xmlns:a16="http://schemas.microsoft.com/office/drawing/2014/main" id="{80933385-6961-424A-B603-437865F7A25A}"/>
              </a:ext>
            </a:extLst>
          </p:cNvPr>
          <p:cNvSpPr>
            <a:spLocks noGrp="1"/>
          </p:cNvSpPr>
          <p:nvPr/>
        </p:nvSpPr>
        <p:spPr>
          <a:xfrm>
            <a:off x="4048125" y="7381875"/>
            <a:ext cx="133350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9050" rIns="0" bIns="1905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部件 B：木</a:t>
            </a:r>
          </a:p>
        </p:txBody>
      </p:sp>
      <p:sp>
        <p:nvSpPr>
          <p:cNvPr id="34" name="drawio2pptx:shape:34">
            <a:extLst>
              <a:ext uri="{FF2B5EF4-FFF2-40B4-BE49-F238E27FC236}">
                <a16:creationId xmlns:a16="http://schemas.microsoft.com/office/drawing/2014/main" id="{89CDC007-82B5-4BAD-BDC2-E4889B02CABC}"/>
              </a:ext>
            </a:extLst>
          </p:cNvPr>
          <p:cNvSpPr>
            <a:spLocks noGrp="1"/>
          </p:cNvSpPr>
          <p:nvPr/>
        </p:nvSpPr>
        <p:spPr>
          <a:xfrm>
            <a:off x="5715000" y="6477000"/>
            <a:ext cx="857250" cy="762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9050" rIns="0" bIns="1905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 b="1" i="0" u="none">
                <a:solidFill>
                  <a:srgbClr val="1F497D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35" name="drawio2pptx:shape:35">
            <a:extLst>
              <a:ext uri="{FF2B5EF4-FFF2-40B4-BE49-F238E27FC236}">
                <a16:creationId xmlns:a16="http://schemas.microsoft.com/office/drawing/2014/main" id="{C957185F-D6F0-4D76-A1CB-661B863AC59F}"/>
              </a:ext>
            </a:extLst>
          </p:cNvPr>
          <p:cNvSpPr>
            <a:spLocks noGrp="1"/>
          </p:cNvSpPr>
          <p:nvPr/>
        </p:nvSpPr>
        <p:spPr>
          <a:xfrm>
            <a:off x="6762750" y="6638925"/>
            <a:ext cx="2667000" cy="323850"/>
          </a:xfrm>
          <a:prstGeom prst="roundRect">
            <a:avLst/>
          </a:prstGeom>
          <a:solidFill>
            <a:srgbClr val="1F497D"/>
          </a:solidFill>
          <a:ln w="9525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6" name="drawio2pptx:shape:36">
            <a:extLst>
              <a:ext uri="{FF2B5EF4-FFF2-40B4-BE49-F238E27FC236}">
                <a16:creationId xmlns:a16="http://schemas.microsoft.com/office/drawing/2014/main" id="{D61D305C-3CCA-4609-A68E-6F0F9CF37348}"/>
              </a:ext>
            </a:extLst>
          </p:cNvPr>
          <p:cNvSpPr>
            <a:spLocks noGrp="1"/>
          </p:cNvSpPr>
          <p:nvPr/>
        </p:nvSpPr>
        <p:spPr>
          <a:xfrm>
            <a:off x="6762750" y="6638925"/>
            <a:ext cx="2667000" cy="3238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9050" rIns="0" bIns="1905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结构标签：full_surround</a:t>
            </a:r>
          </a:p>
        </p:txBody>
      </p:sp>
      <p:sp>
        <p:nvSpPr>
          <p:cNvPr id="37" name="drawio2pptx:shape:37">
            <a:extLst>
              <a:ext uri="{FF2B5EF4-FFF2-40B4-BE49-F238E27FC236}">
                <a16:creationId xmlns:a16="http://schemas.microsoft.com/office/drawing/2014/main" id="{3A5440ED-A69C-410A-8096-B75839A91D68}"/>
              </a:ext>
            </a:extLst>
          </p:cNvPr>
          <p:cNvSpPr>
            <a:spLocks noGrp="1"/>
          </p:cNvSpPr>
          <p:nvPr/>
        </p:nvSpPr>
        <p:spPr>
          <a:xfrm>
            <a:off x="9810750" y="5905500"/>
            <a:ext cx="1809750" cy="2095500"/>
          </a:xfrm>
          <a:prstGeom prst="roundRect">
            <a:avLst/>
          </a:prstGeom>
          <a:solidFill>
            <a:srgbClr val="0F172A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8" name="drawio2pptx:shape:38">
            <a:extLst>
              <a:ext uri="{FF2B5EF4-FFF2-40B4-BE49-F238E27FC236}">
                <a16:creationId xmlns:a16="http://schemas.microsoft.com/office/drawing/2014/main" id="{ADB64E67-E325-472F-B8F0-28CC98B04057}"/>
              </a:ext>
            </a:extLst>
          </p:cNvPr>
          <p:cNvSpPr>
            <a:spLocks noGrp="1"/>
          </p:cNvSpPr>
          <p:nvPr/>
        </p:nvSpPr>
        <p:spPr>
          <a:xfrm>
            <a:off x="9944100" y="6038850"/>
            <a:ext cx="1543050" cy="14668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9" name="drawio2pptx:shape:39">
            <a:extLst>
              <a:ext uri="{FF2B5EF4-FFF2-40B4-BE49-F238E27FC236}">
                <a16:creationId xmlns:a16="http://schemas.microsoft.com/office/drawing/2014/main" id="{AADE32FE-0044-4FC8-ABE1-126E68BFD0EC}"/>
              </a:ext>
            </a:extLst>
          </p:cNvPr>
          <p:cNvSpPr>
            <a:spLocks noGrp="1"/>
          </p:cNvSpPr>
          <p:nvPr/>
        </p:nvSpPr>
        <p:spPr>
          <a:xfrm>
            <a:off x="9906000" y="7620000"/>
            <a:ext cx="1619250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9050" rIns="0" bIns="1905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输出：困</a:t>
            </a:r>
          </a:p>
        </p:txBody>
      </p:sp>
      <p:sp>
        <p:nvSpPr>
          <p:cNvPr id="40" name="drawio2pptx:shape:40">
            <a:extLst>
              <a:ext uri="{FF2B5EF4-FFF2-40B4-BE49-F238E27FC236}">
                <a16:creationId xmlns:a16="http://schemas.microsoft.com/office/drawing/2014/main" id="{54A2639E-7B9C-400A-8DC2-87DDB4A387F2}"/>
              </a:ext>
            </a:extLst>
          </p:cNvPr>
          <p:cNvSpPr>
            <a:spLocks noGrp="1"/>
          </p:cNvSpPr>
          <p:nvPr/>
        </p:nvSpPr>
        <p:spPr>
          <a:xfrm>
            <a:off x="12287250" y="2476500"/>
            <a:ext cx="4762500" cy="609600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600"/>
          </a:p>
        </p:txBody>
      </p:sp>
      <p:sp>
        <p:nvSpPr>
          <p:cNvPr id="41" name="drawio2pptx:shape:41">
            <a:extLst>
              <a:ext uri="{FF2B5EF4-FFF2-40B4-BE49-F238E27FC236}">
                <a16:creationId xmlns:a16="http://schemas.microsoft.com/office/drawing/2014/main" id="{38D6112E-97FF-4D74-AE47-EFB24F158085}"/>
              </a:ext>
            </a:extLst>
          </p:cNvPr>
          <p:cNvSpPr>
            <a:spLocks noGrp="1"/>
          </p:cNvSpPr>
          <p:nvPr/>
        </p:nvSpPr>
        <p:spPr>
          <a:xfrm>
            <a:off x="12515850" y="2647950"/>
            <a:ext cx="4305300" cy="342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9050" rIns="0" bIns="1905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研究目标</a:t>
            </a:r>
          </a:p>
        </p:txBody>
      </p:sp>
      <p:sp>
        <p:nvSpPr>
          <p:cNvPr id="42" name="drawio2pptx:shape:42">
            <a:extLst>
              <a:ext uri="{FF2B5EF4-FFF2-40B4-BE49-F238E27FC236}">
                <a16:creationId xmlns:a16="http://schemas.microsoft.com/office/drawing/2014/main" id="{ED836FF0-9693-4D01-A5D8-2EB3281B1621}"/>
              </a:ext>
            </a:extLst>
          </p:cNvPr>
          <p:cNvSpPr>
            <a:spLocks noGrp="1"/>
          </p:cNvSpPr>
          <p:nvPr/>
        </p:nvSpPr>
        <p:spPr>
          <a:xfrm>
            <a:off x="12515850" y="3067050"/>
            <a:ext cx="4305300" cy="5295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9050" rIns="0" bIns="1905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 u="none" dirty="0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1. </a:t>
            </a:r>
            <a:r>
              <a:rPr sz="2400" b="0" i="0" u="none" dirty="0" err="1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生成结果在结构上正确、在视觉上可辨识</a:t>
            </a:r>
            <a:r>
              <a:rPr sz="2400" b="0" i="0" u="none" dirty="0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。
2. </a:t>
            </a:r>
            <a:r>
              <a:rPr sz="2400" b="0" i="0" u="none" dirty="0" err="1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在随机切分之外，还要在未见整字组合上保持一定泛化能力</a:t>
            </a:r>
            <a:r>
              <a:rPr sz="2400" b="0" i="0" u="none" dirty="0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。
3. </a:t>
            </a:r>
            <a:r>
              <a:rPr sz="2400" b="0" i="0" u="none" dirty="0" err="1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条件接口同时兼容文本部件输入和图像部件输入，为后续</a:t>
            </a:r>
            <a:r>
              <a:rPr sz="2400" b="0" i="0" u="none" dirty="0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 OOV </a:t>
            </a:r>
            <a:r>
              <a:rPr sz="2400" b="0" i="0" u="none" dirty="0" err="1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扩展验证留下空间</a:t>
            </a:r>
            <a:r>
              <a:rPr sz="2400" b="0" i="0" u="none" dirty="0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。
4. </a:t>
            </a:r>
            <a:r>
              <a:rPr sz="2400" b="0" i="0" u="none" dirty="0" err="1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任务不是规则拼接，也不是开放域文生图，而是一个边界清楚的结构化条件生成问题</a:t>
            </a:r>
            <a:r>
              <a:rPr sz="2400" b="0" i="0" u="none" dirty="0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pic>
        <p:nvPicPr>
          <p:cNvPr id="43" name="图片 4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657350" y="3133725"/>
            <a:ext cx="1066800" cy="1066800"/>
          </a:xfrm>
          <a:prstGeom prst="rect">
            <a:avLst/>
          </a:prstGeom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181475" y="3133725"/>
            <a:ext cx="1066800" cy="1066800"/>
          </a:xfrm>
          <a:prstGeom prst="rect">
            <a:avLst/>
          </a:prstGeom>
        </p:spPr>
      </p:pic>
      <p:pic>
        <p:nvPicPr>
          <p:cNvPr id="45" name="图片 44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791700" y="2990850"/>
            <a:ext cx="1466850" cy="1466850"/>
          </a:xfrm>
          <a:prstGeom prst="rect">
            <a:avLst/>
          </a:prstGeom>
        </p:spPr>
      </p:pic>
      <p:pic>
        <p:nvPicPr>
          <p:cNvPr id="46" name="图片 45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657350" y="6181725"/>
            <a:ext cx="1066800" cy="1066800"/>
          </a:xfrm>
          <a:prstGeom prst="rect">
            <a:avLst/>
          </a:prstGeom>
        </p:spPr>
      </p:pic>
      <p:pic>
        <p:nvPicPr>
          <p:cNvPr id="47" name="图片 46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4181475" y="6181725"/>
            <a:ext cx="1066800" cy="1066800"/>
          </a:xfrm>
          <a:prstGeom prst="rect">
            <a:avLst/>
          </a:prstGeom>
        </p:spPr>
      </p:pic>
      <p:pic>
        <p:nvPicPr>
          <p:cNvPr id="48" name="图片 47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9982200" y="6038850"/>
            <a:ext cx="1466850" cy="146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292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awio2pptx:shape:2">
            <a:extLst>
              <a:ext uri="{FF2B5EF4-FFF2-40B4-BE49-F238E27FC236}">
                <a16:creationId xmlns:a16="http://schemas.microsoft.com/office/drawing/2014/main" id="{963D3BED-2256-4CA1-A3C1-E2A2AC87A47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drawio2pptx:shape:3">
            <a:extLst>
              <a:ext uri="{FF2B5EF4-FFF2-40B4-BE49-F238E27FC236}">
                <a16:creationId xmlns:a16="http://schemas.microsoft.com/office/drawing/2014/main" id="{7C406F2C-B31C-47F8-850A-8E56C609A84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143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drawio2pptx:shape:4">
            <a:extLst>
              <a:ext uri="{FF2B5EF4-FFF2-40B4-BE49-F238E27FC236}">
                <a16:creationId xmlns:a16="http://schemas.microsoft.com/office/drawing/2014/main" id="{06AEF253-D9EB-4985-A1CF-AB042F514039}"/>
              </a:ext>
            </a:extLst>
          </p:cNvPr>
          <p:cNvSpPr>
            <a:spLocks noGrp="1"/>
          </p:cNvSpPr>
          <p:nvPr/>
        </p:nvSpPr>
        <p:spPr>
          <a:xfrm>
            <a:off x="0" y="1143000"/>
            <a:ext cx="18288000" cy="571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drawio2pptx:shape:5">
            <a:extLst>
              <a:ext uri="{FF2B5EF4-FFF2-40B4-BE49-F238E27FC236}">
                <a16:creationId xmlns:a16="http://schemas.microsoft.com/office/drawing/2014/main" id="{DCD53034-BAF1-4D90-947B-294912CE4F4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143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9050" rIns="0" bIns="1905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50" b="1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05 总体研究方案</a:t>
            </a:r>
          </a:p>
        </p:txBody>
      </p:sp>
      <p:sp>
        <p:nvSpPr>
          <p:cNvPr id="6" name="drawio2pptx:shape:6">
            <a:extLst>
              <a:ext uri="{FF2B5EF4-FFF2-40B4-BE49-F238E27FC236}">
                <a16:creationId xmlns:a16="http://schemas.microsoft.com/office/drawing/2014/main" id="{831FA930-0242-45E7-9EAB-C00B5772A552}"/>
              </a:ext>
            </a:extLst>
          </p:cNvPr>
          <p:cNvSpPr>
            <a:spLocks noGrp="1"/>
          </p:cNvSpPr>
          <p:nvPr/>
        </p:nvSpPr>
        <p:spPr>
          <a:xfrm>
            <a:off x="0" y="9906000"/>
            <a:ext cx="182880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drawio2pptx:shape:7">
            <a:extLst>
              <a:ext uri="{FF2B5EF4-FFF2-40B4-BE49-F238E27FC236}">
                <a16:creationId xmlns:a16="http://schemas.microsoft.com/office/drawing/2014/main" id="{150A78F3-7B60-4CF8-AE80-CFADB8DA7B9F}"/>
              </a:ext>
            </a:extLst>
          </p:cNvPr>
          <p:cNvSpPr>
            <a:spLocks noGrp="1"/>
          </p:cNvSpPr>
          <p:nvPr/>
        </p:nvSpPr>
        <p:spPr>
          <a:xfrm>
            <a:off x="14859000" y="9925050"/>
            <a:ext cx="257175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9050" rIns="0" bIns="1905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2026 年 4 月</a:t>
            </a:r>
          </a:p>
        </p:txBody>
      </p:sp>
      <p:sp>
        <p:nvSpPr>
          <p:cNvPr id="10" name="drawio2pptx:shape:10">
            <a:extLst>
              <a:ext uri="{FF2B5EF4-FFF2-40B4-BE49-F238E27FC236}">
                <a16:creationId xmlns:a16="http://schemas.microsoft.com/office/drawing/2014/main" id="{6D12AAD9-2239-4844-82D7-74FCF5A1F822}"/>
              </a:ext>
            </a:extLst>
          </p:cNvPr>
          <p:cNvSpPr>
            <a:spLocks noGrp="1"/>
          </p:cNvSpPr>
          <p:nvPr/>
        </p:nvSpPr>
        <p:spPr>
          <a:xfrm>
            <a:off x="1143000" y="3333750"/>
            <a:ext cx="2857500" cy="3429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drawio2pptx:shape:11">
            <a:extLst>
              <a:ext uri="{FF2B5EF4-FFF2-40B4-BE49-F238E27FC236}">
                <a16:creationId xmlns:a16="http://schemas.microsoft.com/office/drawing/2014/main" id="{073B0FAB-4636-4DED-95A8-092DB35327EC}"/>
              </a:ext>
            </a:extLst>
          </p:cNvPr>
          <p:cNvSpPr>
            <a:spLocks noGrp="1"/>
          </p:cNvSpPr>
          <p:nvPr/>
        </p:nvSpPr>
        <p:spPr>
          <a:xfrm>
            <a:off x="1333500" y="3667125"/>
            <a:ext cx="685800" cy="533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9050" rIns="0" bIns="1905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150" b="1" i="0" u="none">
                <a:solidFill>
                  <a:srgbClr val="1F497D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2" name="drawio2pptx:shape:12">
            <a:extLst>
              <a:ext uri="{FF2B5EF4-FFF2-40B4-BE49-F238E27FC236}">
                <a16:creationId xmlns:a16="http://schemas.microsoft.com/office/drawing/2014/main" id="{881C15C8-4F90-432D-9E54-9F638574FA36}"/>
              </a:ext>
            </a:extLst>
          </p:cNvPr>
          <p:cNvSpPr>
            <a:spLocks noGrp="1"/>
          </p:cNvSpPr>
          <p:nvPr/>
        </p:nvSpPr>
        <p:spPr>
          <a:xfrm>
            <a:off x="2095500" y="3714750"/>
            <a:ext cx="1619250" cy="381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9050" rIns="0" bIns="1905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数据构建</a:t>
            </a:r>
          </a:p>
        </p:txBody>
      </p:sp>
      <p:sp>
        <p:nvSpPr>
          <p:cNvPr id="13" name="drawio2pptx:shape:13">
            <a:extLst>
              <a:ext uri="{FF2B5EF4-FFF2-40B4-BE49-F238E27FC236}">
                <a16:creationId xmlns:a16="http://schemas.microsoft.com/office/drawing/2014/main" id="{002611E0-A63C-405E-8E2F-EB809A02220E}"/>
              </a:ext>
            </a:extLst>
          </p:cNvPr>
          <p:cNvSpPr>
            <a:spLocks noGrp="1"/>
          </p:cNvSpPr>
          <p:nvPr/>
        </p:nvSpPr>
        <p:spPr>
          <a:xfrm>
            <a:off x="1390650" y="4476750"/>
            <a:ext cx="2362200" cy="16192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9050" rIns="0" bIns="1905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字体渲染 + 拆字表
生成目标字、部件图、结构标签和样式信息</a:t>
            </a:r>
          </a:p>
        </p:txBody>
      </p:sp>
      <p:sp>
        <p:nvSpPr>
          <p:cNvPr id="14" name="drawio2pptx:shape:14">
            <a:extLst>
              <a:ext uri="{FF2B5EF4-FFF2-40B4-BE49-F238E27FC236}">
                <a16:creationId xmlns:a16="http://schemas.microsoft.com/office/drawing/2014/main" id="{FA6306DC-CA6D-4645-8872-48A28B70AEEE}"/>
              </a:ext>
            </a:extLst>
          </p:cNvPr>
          <p:cNvSpPr>
            <a:spLocks noGrp="1"/>
          </p:cNvSpPr>
          <p:nvPr/>
        </p:nvSpPr>
        <p:spPr>
          <a:xfrm>
            <a:off x="4095750" y="4476750"/>
            <a:ext cx="857250" cy="762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9050" rIns="0" bIns="1905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 b="1" i="0" u="none">
                <a:solidFill>
                  <a:srgbClr val="1F497D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5" name="drawio2pptx:shape:15">
            <a:extLst>
              <a:ext uri="{FF2B5EF4-FFF2-40B4-BE49-F238E27FC236}">
                <a16:creationId xmlns:a16="http://schemas.microsoft.com/office/drawing/2014/main" id="{079D1287-B855-45FC-80AD-CC046BB68006}"/>
              </a:ext>
            </a:extLst>
          </p:cNvPr>
          <p:cNvSpPr>
            <a:spLocks noGrp="1"/>
          </p:cNvSpPr>
          <p:nvPr/>
        </p:nvSpPr>
        <p:spPr>
          <a:xfrm>
            <a:off x="4524375" y="3333750"/>
            <a:ext cx="2857500" cy="3429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drawio2pptx:shape:16">
            <a:extLst>
              <a:ext uri="{FF2B5EF4-FFF2-40B4-BE49-F238E27FC236}">
                <a16:creationId xmlns:a16="http://schemas.microsoft.com/office/drawing/2014/main" id="{8BE40CA3-D75E-4B8C-8F67-F862D4B3BAD9}"/>
              </a:ext>
            </a:extLst>
          </p:cNvPr>
          <p:cNvSpPr>
            <a:spLocks noGrp="1"/>
          </p:cNvSpPr>
          <p:nvPr/>
        </p:nvSpPr>
        <p:spPr>
          <a:xfrm>
            <a:off x="4714875" y="3667125"/>
            <a:ext cx="685800" cy="533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9050" rIns="0" bIns="1905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150" b="1" i="0" u="none">
                <a:solidFill>
                  <a:srgbClr val="1F497D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7" name="drawio2pptx:shape:17">
            <a:extLst>
              <a:ext uri="{FF2B5EF4-FFF2-40B4-BE49-F238E27FC236}">
                <a16:creationId xmlns:a16="http://schemas.microsoft.com/office/drawing/2014/main" id="{33EABD06-B1BA-4DCE-BA3B-7F401035CDCA}"/>
              </a:ext>
            </a:extLst>
          </p:cNvPr>
          <p:cNvSpPr>
            <a:spLocks noGrp="1"/>
          </p:cNvSpPr>
          <p:nvPr/>
        </p:nvSpPr>
        <p:spPr>
          <a:xfrm>
            <a:off x="5476875" y="3714750"/>
            <a:ext cx="1619250" cy="381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9050" rIns="0" bIns="1905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基线模型</a:t>
            </a:r>
          </a:p>
        </p:txBody>
      </p:sp>
      <p:sp>
        <p:nvSpPr>
          <p:cNvPr id="18" name="drawio2pptx:shape:18">
            <a:extLst>
              <a:ext uri="{FF2B5EF4-FFF2-40B4-BE49-F238E27FC236}">
                <a16:creationId xmlns:a16="http://schemas.microsoft.com/office/drawing/2014/main" id="{EB940E6A-76FE-4A69-A5B9-F10FD0D89316}"/>
              </a:ext>
            </a:extLst>
          </p:cNvPr>
          <p:cNvSpPr>
            <a:spLocks noGrp="1"/>
          </p:cNvSpPr>
          <p:nvPr/>
        </p:nvSpPr>
        <p:spPr>
          <a:xfrm>
            <a:off x="4772025" y="4476750"/>
            <a:ext cx="2362200" cy="16192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9050" rIns="0" bIns="1905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先训练条件 U-Net
验证任务是否能稳定跑通</a:t>
            </a:r>
          </a:p>
        </p:txBody>
      </p:sp>
      <p:sp>
        <p:nvSpPr>
          <p:cNvPr id="19" name="drawio2pptx:shape:19">
            <a:extLst>
              <a:ext uri="{FF2B5EF4-FFF2-40B4-BE49-F238E27FC236}">
                <a16:creationId xmlns:a16="http://schemas.microsoft.com/office/drawing/2014/main" id="{E5FDE7B5-D904-40EE-A54A-56A815A2D621}"/>
              </a:ext>
            </a:extLst>
          </p:cNvPr>
          <p:cNvSpPr>
            <a:spLocks noGrp="1"/>
          </p:cNvSpPr>
          <p:nvPr/>
        </p:nvSpPr>
        <p:spPr>
          <a:xfrm>
            <a:off x="7477125" y="4476750"/>
            <a:ext cx="857250" cy="762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9050" rIns="0" bIns="1905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 b="1" i="0" u="none">
                <a:solidFill>
                  <a:srgbClr val="1F497D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0" name="drawio2pptx:shape:20">
            <a:extLst>
              <a:ext uri="{FF2B5EF4-FFF2-40B4-BE49-F238E27FC236}">
                <a16:creationId xmlns:a16="http://schemas.microsoft.com/office/drawing/2014/main" id="{31E0CA9E-DE9F-470C-ACA5-FAC7FB8A1C47}"/>
              </a:ext>
            </a:extLst>
          </p:cNvPr>
          <p:cNvSpPr>
            <a:spLocks noGrp="1"/>
          </p:cNvSpPr>
          <p:nvPr/>
        </p:nvSpPr>
        <p:spPr>
          <a:xfrm>
            <a:off x="7905750" y="3333750"/>
            <a:ext cx="2667000" cy="3429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drawio2pptx:shape:21">
            <a:extLst>
              <a:ext uri="{FF2B5EF4-FFF2-40B4-BE49-F238E27FC236}">
                <a16:creationId xmlns:a16="http://schemas.microsoft.com/office/drawing/2014/main" id="{F0902581-8672-45D5-8C20-06C20CC38237}"/>
              </a:ext>
            </a:extLst>
          </p:cNvPr>
          <p:cNvSpPr>
            <a:spLocks noGrp="1"/>
          </p:cNvSpPr>
          <p:nvPr/>
        </p:nvSpPr>
        <p:spPr>
          <a:xfrm>
            <a:off x="8096250" y="3667125"/>
            <a:ext cx="685800" cy="533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9050" rIns="0" bIns="1905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150" b="1" i="0" u="none">
                <a:solidFill>
                  <a:srgbClr val="1F497D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2" name="drawio2pptx:shape:22">
            <a:extLst>
              <a:ext uri="{FF2B5EF4-FFF2-40B4-BE49-F238E27FC236}">
                <a16:creationId xmlns:a16="http://schemas.microsoft.com/office/drawing/2014/main" id="{93759382-309B-4134-956E-A6578604237C}"/>
              </a:ext>
            </a:extLst>
          </p:cNvPr>
          <p:cNvSpPr>
            <a:spLocks noGrp="1"/>
          </p:cNvSpPr>
          <p:nvPr/>
        </p:nvSpPr>
        <p:spPr>
          <a:xfrm>
            <a:off x="8858250" y="3714750"/>
            <a:ext cx="1428750" cy="381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9050" rIns="0" bIns="1905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表征压缩</a:t>
            </a:r>
          </a:p>
        </p:txBody>
      </p:sp>
      <p:sp>
        <p:nvSpPr>
          <p:cNvPr id="23" name="drawio2pptx:shape:23">
            <a:extLst>
              <a:ext uri="{FF2B5EF4-FFF2-40B4-BE49-F238E27FC236}">
                <a16:creationId xmlns:a16="http://schemas.microsoft.com/office/drawing/2014/main" id="{7511CEAC-9F8A-4648-B2FF-D8E80507AF84}"/>
              </a:ext>
            </a:extLst>
          </p:cNvPr>
          <p:cNvSpPr>
            <a:spLocks noGrp="1"/>
          </p:cNvSpPr>
          <p:nvPr/>
        </p:nvSpPr>
        <p:spPr>
          <a:xfrm>
            <a:off x="8153400" y="4476750"/>
            <a:ext cx="2171700" cy="16192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9050" rIns="0" bIns="1905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训练 VAE
把字形映射到潜空间</a:t>
            </a:r>
          </a:p>
        </p:txBody>
      </p:sp>
      <p:sp>
        <p:nvSpPr>
          <p:cNvPr id="24" name="drawio2pptx:shape:24">
            <a:extLst>
              <a:ext uri="{FF2B5EF4-FFF2-40B4-BE49-F238E27FC236}">
                <a16:creationId xmlns:a16="http://schemas.microsoft.com/office/drawing/2014/main" id="{3AD6138B-F966-42C3-8064-253048D3136A}"/>
              </a:ext>
            </a:extLst>
          </p:cNvPr>
          <p:cNvSpPr>
            <a:spLocks noGrp="1"/>
          </p:cNvSpPr>
          <p:nvPr/>
        </p:nvSpPr>
        <p:spPr>
          <a:xfrm>
            <a:off x="10668000" y="4476750"/>
            <a:ext cx="857250" cy="762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9050" rIns="0" bIns="1905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 b="1" i="0" u="none">
                <a:solidFill>
                  <a:srgbClr val="1F497D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5" name="drawio2pptx:shape:25">
            <a:extLst>
              <a:ext uri="{FF2B5EF4-FFF2-40B4-BE49-F238E27FC236}">
                <a16:creationId xmlns:a16="http://schemas.microsoft.com/office/drawing/2014/main" id="{F650FF11-3D12-46BA-AC51-362F40A9DA4E}"/>
              </a:ext>
            </a:extLst>
          </p:cNvPr>
          <p:cNvSpPr>
            <a:spLocks noGrp="1"/>
          </p:cNvSpPr>
          <p:nvPr/>
        </p:nvSpPr>
        <p:spPr>
          <a:xfrm>
            <a:off x="11096625" y="3333750"/>
            <a:ext cx="2857500" cy="3429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drawio2pptx:shape:26">
            <a:extLst>
              <a:ext uri="{FF2B5EF4-FFF2-40B4-BE49-F238E27FC236}">
                <a16:creationId xmlns:a16="http://schemas.microsoft.com/office/drawing/2014/main" id="{C0788F14-CAA0-4848-AF5C-5CF6FA3B6BEB}"/>
              </a:ext>
            </a:extLst>
          </p:cNvPr>
          <p:cNvSpPr>
            <a:spLocks noGrp="1"/>
          </p:cNvSpPr>
          <p:nvPr/>
        </p:nvSpPr>
        <p:spPr>
          <a:xfrm>
            <a:off x="11287125" y="3667125"/>
            <a:ext cx="685800" cy="533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9050" rIns="0" bIns="1905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150" b="1" i="0" u="none">
                <a:solidFill>
                  <a:srgbClr val="1F497D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7" name="drawio2pptx:shape:27">
            <a:extLst>
              <a:ext uri="{FF2B5EF4-FFF2-40B4-BE49-F238E27FC236}">
                <a16:creationId xmlns:a16="http://schemas.microsoft.com/office/drawing/2014/main" id="{798949E1-CCF9-469F-B18A-8D1D8794836B}"/>
              </a:ext>
            </a:extLst>
          </p:cNvPr>
          <p:cNvSpPr>
            <a:spLocks noGrp="1"/>
          </p:cNvSpPr>
          <p:nvPr/>
        </p:nvSpPr>
        <p:spPr>
          <a:xfrm>
            <a:off x="12049125" y="3714750"/>
            <a:ext cx="1619250" cy="381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9050" rIns="0" bIns="1905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主模型</a:t>
            </a:r>
          </a:p>
        </p:txBody>
      </p:sp>
      <p:sp>
        <p:nvSpPr>
          <p:cNvPr id="28" name="drawio2pptx:shape:28">
            <a:extLst>
              <a:ext uri="{FF2B5EF4-FFF2-40B4-BE49-F238E27FC236}">
                <a16:creationId xmlns:a16="http://schemas.microsoft.com/office/drawing/2014/main" id="{E80931A9-0092-4E4A-9294-246153C0B353}"/>
              </a:ext>
            </a:extLst>
          </p:cNvPr>
          <p:cNvSpPr>
            <a:spLocks noGrp="1"/>
          </p:cNvSpPr>
          <p:nvPr/>
        </p:nvSpPr>
        <p:spPr>
          <a:xfrm>
            <a:off x="11344275" y="4476750"/>
            <a:ext cx="2362200" cy="16192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9050" rIns="0" bIns="1905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在潜空间中做条件扩散
比较结构一致性与生成质量</a:t>
            </a:r>
          </a:p>
        </p:txBody>
      </p:sp>
      <p:sp>
        <p:nvSpPr>
          <p:cNvPr id="29" name="drawio2pptx:shape:29">
            <a:extLst>
              <a:ext uri="{FF2B5EF4-FFF2-40B4-BE49-F238E27FC236}">
                <a16:creationId xmlns:a16="http://schemas.microsoft.com/office/drawing/2014/main" id="{DDA6CF62-197F-48DE-95FA-F6E43AF58D74}"/>
              </a:ext>
            </a:extLst>
          </p:cNvPr>
          <p:cNvSpPr>
            <a:spLocks noGrp="1"/>
          </p:cNvSpPr>
          <p:nvPr/>
        </p:nvSpPr>
        <p:spPr>
          <a:xfrm>
            <a:off x="14049375" y="4476750"/>
            <a:ext cx="857250" cy="762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9050" rIns="0" bIns="1905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 b="1" i="0" u="none">
                <a:solidFill>
                  <a:srgbClr val="1F497D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30" name="drawio2pptx:shape:30">
            <a:extLst>
              <a:ext uri="{FF2B5EF4-FFF2-40B4-BE49-F238E27FC236}">
                <a16:creationId xmlns:a16="http://schemas.microsoft.com/office/drawing/2014/main" id="{204F5F12-1CF2-460D-9C17-701A4F714F2D}"/>
              </a:ext>
            </a:extLst>
          </p:cNvPr>
          <p:cNvSpPr>
            <a:spLocks noGrp="1"/>
          </p:cNvSpPr>
          <p:nvPr/>
        </p:nvSpPr>
        <p:spPr>
          <a:xfrm>
            <a:off x="14478000" y="3333750"/>
            <a:ext cx="3279913" cy="3429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1" name="drawio2pptx:shape:31">
            <a:extLst>
              <a:ext uri="{FF2B5EF4-FFF2-40B4-BE49-F238E27FC236}">
                <a16:creationId xmlns:a16="http://schemas.microsoft.com/office/drawing/2014/main" id="{1D2215A0-0D5D-43D2-9250-BCC6E5261BFC}"/>
              </a:ext>
            </a:extLst>
          </p:cNvPr>
          <p:cNvSpPr>
            <a:spLocks noGrp="1"/>
          </p:cNvSpPr>
          <p:nvPr/>
        </p:nvSpPr>
        <p:spPr>
          <a:xfrm>
            <a:off x="14668500" y="3667125"/>
            <a:ext cx="685800" cy="533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9050" rIns="0" bIns="1905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150" b="1" i="0" u="none">
                <a:solidFill>
                  <a:srgbClr val="1F497D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32" name="drawio2pptx:shape:32">
            <a:extLst>
              <a:ext uri="{FF2B5EF4-FFF2-40B4-BE49-F238E27FC236}">
                <a16:creationId xmlns:a16="http://schemas.microsoft.com/office/drawing/2014/main" id="{870DC179-42F1-474E-ADF3-03174117E204}"/>
              </a:ext>
            </a:extLst>
          </p:cNvPr>
          <p:cNvSpPr>
            <a:spLocks noGrp="1"/>
          </p:cNvSpPr>
          <p:nvPr/>
        </p:nvSpPr>
        <p:spPr>
          <a:xfrm>
            <a:off x="15430500" y="3714750"/>
            <a:ext cx="2762250" cy="381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9050" rIns="0" bIns="1905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评测与扩展</a:t>
            </a:r>
          </a:p>
        </p:txBody>
      </p:sp>
      <p:sp>
        <p:nvSpPr>
          <p:cNvPr id="33" name="drawio2pptx:shape:33">
            <a:extLst>
              <a:ext uri="{FF2B5EF4-FFF2-40B4-BE49-F238E27FC236}">
                <a16:creationId xmlns:a16="http://schemas.microsoft.com/office/drawing/2014/main" id="{0A2BEA8A-EA0B-44AE-8CE5-76F6AC800049}"/>
              </a:ext>
            </a:extLst>
          </p:cNvPr>
          <p:cNvSpPr>
            <a:spLocks noGrp="1"/>
          </p:cNvSpPr>
          <p:nvPr/>
        </p:nvSpPr>
        <p:spPr>
          <a:xfrm>
            <a:off x="14725650" y="4476750"/>
            <a:ext cx="3505200" cy="16192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9050" rIns="0" bIns="1905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整字留出评测
加少量 OOV/古壮字扩展验证</a:t>
            </a:r>
          </a:p>
        </p:txBody>
      </p:sp>
      <p:sp>
        <p:nvSpPr>
          <p:cNvPr id="34" name="drawio2pptx:shape:34">
            <a:extLst>
              <a:ext uri="{FF2B5EF4-FFF2-40B4-BE49-F238E27FC236}">
                <a16:creationId xmlns:a16="http://schemas.microsoft.com/office/drawing/2014/main" id="{6522665C-5078-48E0-8492-4C806BCA4D36}"/>
              </a:ext>
            </a:extLst>
          </p:cNvPr>
          <p:cNvSpPr>
            <a:spLocks noGrp="1"/>
          </p:cNvSpPr>
          <p:nvPr/>
        </p:nvSpPr>
        <p:spPr>
          <a:xfrm>
            <a:off x="1905000" y="7429500"/>
            <a:ext cx="14478000" cy="133350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5" name="drawio2pptx:shape:35">
            <a:extLst>
              <a:ext uri="{FF2B5EF4-FFF2-40B4-BE49-F238E27FC236}">
                <a16:creationId xmlns:a16="http://schemas.microsoft.com/office/drawing/2014/main" id="{C573C6A7-CBD8-4984-B133-274D1E5E920B}"/>
              </a:ext>
            </a:extLst>
          </p:cNvPr>
          <p:cNvSpPr>
            <a:spLocks noGrp="1"/>
          </p:cNvSpPr>
          <p:nvPr/>
        </p:nvSpPr>
        <p:spPr>
          <a:xfrm>
            <a:off x="2133600" y="7600950"/>
            <a:ext cx="14020800" cy="342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9050" rIns="0" bIns="1905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推进原则</a:t>
            </a:r>
          </a:p>
        </p:txBody>
      </p:sp>
      <p:sp>
        <p:nvSpPr>
          <p:cNvPr id="36" name="drawio2pptx:shape:36">
            <a:extLst>
              <a:ext uri="{FF2B5EF4-FFF2-40B4-BE49-F238E27FC236}">
                <a16:creationId xmlns:a16="http://schemas.microsoft.com/office/drawing/2014/main" id="{031F2E85-B108-4CCC-B687-4245352E12C0}"/>
              </a:ext>
            </a:extLst>
          </p:cNvPr>
          <p:cNvSpPr>
            <a:spLocks noGrp="1"/>
          </p:cNvSpPr>
          <p:nvPr/>
        </p:nvSpPr>
        <p:spPr>
          <a:xfrm>
            <a:off x="2133600" y="8020050"/>
            <a:ext cx="14020800" cy="533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9050" rIns="0" bIns="1905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主任务以现代汉字为核心，OOV 或古壮字只作为方法外延验证。研究路线优先保证问题定义清楚、数据协议稳定和基线可复现。</a:t>
            </a:r>
          </a:p>
        </p:txBody>
      </p:sp>
    </p:spTree>
    <p:extLst>
      <p:ext uri="{BB962C8B-B14F-4D97-AF65-F5344CB8AC3E}">
        <p14:creationId xmlns:p14="http://schemas.microsoft.com/office/powerpoint/2010/main" val="13872026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awio2pptx:shape:2">
            <a:extLst>
              <a:ext uri="{FF2B5EF4-FFF2-40B4-BE49-F238E27FC236}">
                <a16:creationId xmlns:a16="http://schemas.microsoft.com/office/drawing/2014/main" id="{96E0C7AE-E763-41AB-9CC9-C0A867A871D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drawio2pptx:shape:3">
            <a:extLst>
              <a:ext uri="{FF2B5EF4-FFF2-40B4-BE49-F238E27FC236}">
                <a16:creationId xmlns:a16="http://schemas.microsoft.com/office/drawing/2014/main" id="{1C7D9B8A-AFD4-4008-B293-7A630CAFE59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143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drawio2pptx:shape:4">
            <a:extLst>
              <a:ext uri="{FF2B5EF4-FFF2-40B4-BE49-F238E27FC236}">
                <a16:creationId xmlns:a16="http://schemas.microsoft.com/office/drawing/2014/main" id="{9C085285-78D0-40FF-A178-961B401DCF87}"/>
              </a:ext>
            </a:extLst>
          </p:cNvPr>
          <p:cNvSpPr>
            <a:spLocks noGrp="1"/>
          </p:cNvSpPr>
          <p:nvPr/>
        </p:nvSpPr>
        <p:spPr>
          <a:xfrm>
            <a:off x="0" y="1143000"/>
            <a:ext cx="18288000" cy="571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drawio2pptx:shape:5">
            <a:extLst>
              <a:ext uri="{FF2B5EF4-FFF2-40B4-BE49-F238E27FC236}">
                <a16:creationId xmlns:a16="http://schemas.microsoft.com/office/drawing/2014/main" id="{054EB803-2AAD-443A-AC60-9ED90D315C0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143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9050" rIns="0" bIns="1905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50" b="1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06 核心方法设计</a:t>
            </a:r>
          </a:p>
        </p:txBody>
      </p:sp>
      <p:sp>
        <p:nvSpPr>
          <p:cNvPr id="6" name="drawio2pptx:shape:6">
            <a:extLst>
              <a:ext uri="{FF2B5EF4-FFF2-40B4-BE49-F238E27FC236}">
                <a16:creationId xmlns:a16="http://schemas.microsoft.com/office/drawing/2014/main" id="{98AA725F-BA73-43A1-B2EF-FE804FAA0D7D}"/>
              </a:ext>
            </a:extLst>
          </p:cNvPr>
          <p:cNvSpPr>
            <a:spLocks noGrp="1"/>
          </p:cNvSpPr>
          <p:nvPr/>
        </p:nvSpPr>
        <p:spPr>
          <a:xfrm>
            <a:off x="0" y="9906000"/>
            <a:ext cx="182880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drawio2pptx:shape:7">
            <a:extLst>
              <a:ext uri="{FF2B5EF4-FFF2-40B4-BE49-F238E27FC236}">
                <a16:creationId xmlns:a16="http://schemas.microsoft.com/office/drawing/2014/main" id="{F599E0EA-2E51-4C12-8FB4-50C72C2711BF}"/>
              </a:ext>
            </a:extLst>
          </p:cNvPr>
          <p:cNvSpPr>
            <a:spLocks noGrp="1"/>
          </p:cNvSpPr>
          <p:nvPr/>
        </p:nvSpPr>
        <p:spPr>
          <a:xfrm>
            <a:off x="14859000" y="9925050"/>
            <a:ext cx="257175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9050" rIns="0" bIns="1905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2026 年 4 月</a:t>
            </a:r>
          </a:p>
        </p:txBody>
      </p:sp>
      <p:sp>
        <p:nvSpPr>
          <p:cNvPr id="8" name="drawio2pptx:shape:8">
            <a:extLst>
              <a:ext uri="{FF2B5EF4-FFF2-40B4-BE49-F238E27FC236}">
                <a16:creationId xmlns:a16="http://schemas.microsoft.com/office/drawing/2014/main" id="{45E13ECB-4F0E-48AA-B8A7-F5F4D7196E81}"/>
              </a:ext>
            </a:extLst>
          </p:cNvPr>
          <p:cNvSpPr>
            <a:spLocks noGrp="1"/>
          </p:cNvSpPr>
          <p:nvPr/>
        </p:nvSpPr>
        <p:spPr>
          <a:xfrm>
            <a:off x="1143000" y="1733550"/>
            <a:ext cx="95250" cy="3619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drawio2pptx:shape:9">
            <a:extLst>
              <a:ext uri="{FF2B5EF4-FFF2-40B4-BE49-F238E27FC236}">
                <a16:creationId xmlns:a16="http://schemas.microsoft.com/office/drawing/2014/main" id="{042C428B-6C89-4332-9955-A015CAF25AAC}"/>
              </a:ext>
            </a:extLst>
          </p:cNvPr>
          <p:cNvSpPr>
            <a:spLocks noGrp="1"/>
          </p:cNvSpPr>
          <p:nvPr/>
        </p:nvSpPr>
        <p:spPr>
          <a:xfrm>
            <a:off x="1409700" y="1714500"/>
            <a:ext cx="7239000" cy="4191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9050" rIns="0" bIns="1905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5" b="1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统一条件接口 + 显式结构约束</a:t>
            </a:r>
          </a:p>
        </p:txBody>
      </p:sp>
      <p:sp>
        <p:nvSpPr>
          <p:cNvPr id="10" name="drawio2pptx:shape:10">
            <a:extLst>
              <a:ext uri="{FF2B5EF4-FFF2-40B4-BE49-F238E27FC236}">
                <a16:creationId xmlns:a16="http://schemas.microsoft.com/office/drawing/2014/main" id="{1BF5271A-949A-41A8-A97E-4B58B2E0271A}"/>
              </a:ext>
            </a:extLst>
          </p:cNvPr>
          <p:cNvSpPr>
            <a:spLocks noGrp="1"/>
          </p:cNvSpPr>
          <p:nvPr/>
        </p:nvSpPr>
        <p:spPr>
          <a:xfrm>
            <a:off x="1143000" y="2762250"/>
            <a:ext cx="5334000" cy="5334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drawio2pptx:shape:11">
            <a:extLst>
              <a:ext uri="{FF2B5EF4-FFF2-40B4-BE49-F238E27FC236}">
                <a16:creationId xmlns:a16="http://schemas.microsoft.com/office/drawing/2014/main" id="{CC581F72-F40C-40AA-9FA2-CA98BAEC54D5}"/>
              </a:ext>
            </a:extLst>
          </p:cNvPr>
          <p:cNvSpPr>
            <a:spLocks noGrp="1"/>
          </p:cNvSpPr>
          <p:nvPr/>
        </p:nvSpPr>
        <p:spPr>
          <a:xfrm>
            <a:off x="1371600" y="2933700"/>
            <a:ext cx="4876800" cy="342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9050" rIns="0" bIns="1905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统一条件接口</a:t>
            </a:r>
          </a:p>
        </p:txBody>
      </p:sp>
      <p:sp>
        <p:nvSpPr>
          <p:cNvPr id="12" name="drawio2pptx:shape:12">
            <a:extLst>
              <a:ext uri="{FF2B5EF4-FFF2-40B4-BE49-F238E27FC236}">
                <a16:creationId xmlns:a16="http://schemas.microsoft.com/office/drawing/2014/main" id="{B5829515-BC44-45FF-9EDC-CB879A32B6FA}"/>
              </a:ext>
            </a:extLst>
          </p:cNvPr>
          <p:cNvSpPr>
            <a:spLocks noGrp="1"/>
          </p:cNvSpPr>
          <p:nvPr/>
        </p:nvSpPr>
        <p:spPr>
          <a:xfrm>
            <a:off x="1371600" y="3352800"/>
            <a:ext cx="4876800" cy="4533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9050" rIns="0" bIns="1905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文本部件输入适合现代汉字的数据构造与词表管理。
图像部件输入更适合未登录字符、古壮字和异体字场景。
结构标签与样式信息与两类输入共同进入同一条件对象，避免形成彼此割裂的两套方法。</a:t>
            </a:r>
          </a:p>
        </p:txBody>
      </p:sp>
      <p:sp>
        <p:nvSpPr>
          <p:cNvPr id="13" name="drawio2pptx:shape:13">
            <a:extLst>
              <a:ext uri="{FF2B5EF4-FFF2-40B4-BE49-F238E27FC236}">
                <a16:creationId xmlns:a16="http://schemas.microsoft.com/office/drawing/2014/main" id="{B5596C34-4E7D-4796-AF9C-17FDC452BC3B}"/>
              </a:ext>
            </a:extLst>
          </p:cNvPr>
          <p:cNvSpPr>
            <a:spLocks noGrp="1"/>
          </p:cNvSpPr>
          <p:nvPr/>
        </p:nvSpPr>
        <p:spPr>
          <a:xfrm>
            <a:off x="6858000" y="2762250"/>
            <a:ext cx="4953000" cy="2476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drawio2pptx:shape:14">
            <a:extLst>
              <a:ext uri="{FF2B5EF4-FFF2-40B4-BE49-F238E27FC236}">
                <a16:creationId xmlns:a16="http://schemas.microsoft.com/office/drawing/2014/main" id="{576882D2-296B-4E67-9A94-68D196BD6C32}"/>
              </a:ext>
            </a:extLst>
          </p:cNvPr>
          <p:cNvSpPr>
            <a:spLocks noGrp="1"/>
          </p:cNvSpPr>
          <p:nvPr/>
        </p:nvSpPr>
        <p:spPr>
          <a:xfrm>
            <a:off x="7086600" y="2933700"/>
            <a:ext cx="4495800" cy="342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9050" rIns="0" bIns="1905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条件 U-Net 基线</a:t>
            </a:r>
          </a:p>
        </p:txBody>
      </p:sp>
      <p:sp>
        <p:nvSpPr>
          <p:cNvPr id="15" name="drawio2pptx:shape:15">
            <a:extLst>
              <a:ext uri="{FF2B5EF4-FFF2-40B4-BE49-F238E27FC236}">
                <a16:creationId xmlns:a16="http://schemas.microsoft.com/office/drawing/2014/main" id="{F3288F7A-402A-409E-9715-2BF012DDF628}"/>
              </a:ext>
            </a:extLst>
          </p:cNvPr>
          <p:cNvSpPr>
            <a:spLocks noGrp="1"/>
          </p:cNvSpPr>
          <p:nvPr/>
        </p:nvSpPr>
        <p:spPr>
          <a:xfrm>
            <a:off x="7086600" y="3352800"/>
            <a:ext cx="4495800" cy="1676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9050" rIns="0" bIns="1905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从部件图像、部件 ID、结构标签和样式信息中提取条件，尽早建立一个稳定、可分析的生成基线。</a:t>
            </a:r>
          </a:p>
        </p:txBody>
      </p:sp>
      <p:sp>
        <p:nvSpPr>
          <p:cNvPr id="16" name="drawio2pptx:shape:16">
            <a:extLst>
              <a:ext uri="{FF2B5EF4-FFF2-40B4-BE49-F238E27FC236}">
                <a16:creationId xmlns:a16="http://schemas.microsoft.com/office/drawing/2014/main" id="{066D96DF-0742-4E78-877A-F0DA8E11D4E0}"/>
              </a:ext>
            </a:extLst>
          </p:cNvPr>
          <p:cNvSpPr>
            <a:spLocks noGrp="1"/>
          </p:cNvSpPr>
          <p:nvPr/>
        </p:nvSpPr>
        <p:spPr>
          <a:xfrm>
            <a:off x="6858000" y="5619750"/>
            <a:ext cx="4953000" cy="2476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drawio2pptx:shape:17">
            <a:extLst>
              <a:ext uri="{FF2B5EF4-FFF2-40B4-BE49-F238E27FC236}">
                <a16:creationId xmlns:a16="http://schemas.microsoft.com/office/drawing/2014/main" id="{B8198FD9-BB42-4D2E-B923-1DF429106827}"/>
              </a:ext>
            </a:extLst>
          </p:cNvPr>
          <p:cNvSpPr>
            <a:spLocks noGrp="1"/>
          </p:cNvSpPr>
          <p:nvPr/>
        </p:nvSpPr>
        <p:spPr>
          <a:xfrm>
            <a:off x="7086600" y="5791200"/>
            <a:ext cx="4495800" cy="342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9050" rIns="0" bIns="1905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VAE + 潜空间扩散</a:t>
            </a:r>
          </a:p>
        </p:txBody>
      </p:sp>
      <p:sp>
        <p:nvSpPr>
          <p:cNvPr id="18" name="drawio2pptx:shape:18">
            <a:extLst>
              <a:ext uri="{FF2B5EF4-FFF2-40B4-BE49-F238E27FC236}">
                <a16:creationId xmlns:a16="http://schemas.microsoft.com/office/drawing/2014/main" id="{3004D1B1-7983-4500-91A7-7C083D6CCD97}"/>
              </a:ext>
            </a:extLst>
          </p:cNvPr>
          <p:cNvSpPr>
            <a:spLocks noGrp="1"/>
          </p:cNvSpPr>
          <p:nvPr/>
        </p:nvSpPr>
        <p:spPr>
          <a:xfrm>
            <a:off x="7086600" y="6210300"/>
            <a:ext cx="4495800" cy="1676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9050" rIns="0" bIns="1905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先用 VAE 压缩字形，再在潜空间中做条件去噪生成，降低计算压力，同时比较主模型与基线在结构一致性上的差异。</a:t>
            </a:r>
          </a:p>
        </p:txBody>
      </p:sp>
      <p:sp>
        <p:nvSpPr>
          <p:cNvPr id="19" name="drawio2pptx:shape:19">
            <a:extLst>
              <a:ext uri="{FF2B5EF4-FFF2-40B4-BE49-F238E27FC236}">
                <a16:creationId xmlns:a16="http://schemas.microsoft.com/office/drawing/2014/main" id="{3ABA7847-3FCC-43AE-9925-B7AF540A11CE}"/>
              </a:ext>
            </a:extLst>
          </p:cNvPr>
          <p:cNvSpPr>
            <a:spLocks noGrp="1"/>
          </p:cNvSpPr>
          <p:nvPr/>
        </p:nvSpPr>
        <p:spPr>
          <a:xfrm>
            <a:off x="12192000" y="2762250"/>
            <a:ext cx="4953000" cy="533400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drawio2pptx:shape:20">
            <a:extLst>
              <a:ext uri="{FF2B5EF4-FFF2-40B4-BE49-F238E27FC236}">
                <a16:creationId xmlns:a16="http://schemas.microsoft.com/office/drawing/2014/main" id="{D588FA5C-AF46-4398-8C70-B510455B7B51}"/>
              </a:ext>
            </a:extLst>
          </p:cNvPr>
          <p:cNvSpPr>
            <a:spLocks noGrp="1"/>
          </p:cNvSpPr>
          <p:nvPr/>
        </p:nvSpPr>
        <p:spPr>
          <a:xfrm>
            <a:off x="12420600" y="2933700"/>
            <a:ext cx="4495800" cy="342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9050" rIns="0" bIns="1905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显式结构约束</a:t>
            </a:r>
          </a:p>
        </p:txBody>
      </p:sp>
      <p:sp>
        <p:nvSpPr>
          <p:cNvPr id="21" name="drawio2pptx:shape:21">
            <a:extLst>
              <a:ext uri="{FF2B5EF4-FFF2-40B4-BE49-F238E27FC236}">
                <a16:creationId xmlns:a16="http://schemas.microsoft.com/office/drawing/2014/main" id="{D2889670-82A0-4D68-B954-CAF913EDE4DB}"/>
              </a:ext>
            </a:extLst>
          </p:cNvPr>
          <p:cNvSpPr>
            <a:spLocks noGrp="1"/>
          </p:cNvSpPr>
          <p:nvPr/>
        </p:nvSpPr>
        <p:spPr>
          <a:xfrm>
            <a:off x="12420600" y="3352800"/>
            <a:ext cx="4495800" cy="4533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9050" rIns="0" bIns="1905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布局热图不只是可视化，而是作为空间先验进入模型。
结构监督和后续结构探针共同服务于一个目标：避免模型只记住整字外观，而没有真正学会部件之间该怎样组合。</a:t>
            </a:r>
          </a:p>
        </p:txBody>
      </p:sp>
    </p:spTree>
    <p:extLst>
      <p:ext uri="{BB962C8B-B14F-4D97-AF65-F5344CB8AC3E}">
        <p14:creationId xmlns:p14="http://schemas.microsoft.com/office/powerpoint/2010/main" val="2969720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awio2pptx:shape:2">
            <a:extLst>
              <a:ext uri="{FF2B5EF4-FFF2-40B4-BE49-F238E27FC236}">
                <a16:creationId xmlns:a16="http://schemas.microsoft.com/office/drawing/2014/main" id="{9FA1F6C6-12C3-4181-9158-98FD1B0F639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dirty="0"/>
          </a:p>
        </p:txBody>
      </p:sp>
      <p:sp>
        <p:nvSpPr>
          <p:cNvPr id="3" name="drawio2pptx:shape:3">
            <a:extLst>
              <a:ext uri="{FF2B5EF4-FFF2-40B4-BE49-F238E27FC236}">
                <a16:creationId xmlns:a16="http://schemas.microsoft.com/office/drawing/2014/main" id="{993BD4C8-365C-490F-BC6B-F50331F0E9B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143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drawio2pptx:shape:4">
            <a:extLst>
              <a:ext uri="{FF2B5EF4-FFF2-40B4-BE49-F238E27FC236}">
                <a16:creationId xmlns:a16="http://schemas.microsoft.com/office/drawing/2014/main" id="{4D597033-0AF0-439F-97A1-22CFE18B1077}"/>
              </a:ext>
            </a:extLst>
          </p:cNvPr>
          <p:cNvSpPr>
            <a:spLocks noGrp="1"/>
          </p:cNvSpPr>
          <p:nvPr/>
        </p:nvSpPr>
        <p:spPr>
          <a:xfrm>
            <a:off x="0" y="1143000"/>
            <a:ext cx="18288000" cy="571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drawio2pptx:shape:5">
            <a:extLst>
              <a:ext uri="{FF2B5EF4-FFF2-40B4-BE49-F238E27FC236}">
                <a16:creationId xmlns:a16="http://schemas.microsoft.com/office/drawing/2014/main" id="{3AA98EDF-E6F8-4659-BBC0-F98D11B2A1C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143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9050" rIns="0" bIns="1905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50" b="1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07 拟解决的关键问题</a:t>
            </a:r>
          </a:p>
        </p:txBody>
      </p:sp>
      <p:sp>
        <p:nvSpPr>
          <p:cNvPr id="6" name="drawio2pptx:shape:6">
            <a:extLst>
              <a:ext uri="{FF2B5EF4-FFF2-40B4-BE49-F238E27FC236}">
                <a16:creationId xmlns:a16="http://schemas.microsoft.com/office/drawing/2014/main" id="{254ADBB1-4E79-4B29-AFE6-6D123A331B1E}"/>
              </a:ext>
            </a:extLst>
          </p:cNvPr>
          <p:cNvSpPr>
            <a:spLocks noGrp="1"/>
          </p:cNvSpPr>
          <p:nvPr/>
        </p:nvSpPr>
        <p:spPr>
          <a:xfrm>
            <a:off x="0" y="9906000"/>
            <a:ext cx="182880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200"/>
          </a:p>
        </p:txBody>
      </p:sp>
      <p:sp>
        <p:nvSpPr>
          <p:cNvPr id="7" name="drawio2pptx:shape:7">
            <a:extLst>
              <a:ext uri="{FF2B5EF4-FFF2-40B4-BE49-F238E27FC236}">
                <a16:creationId xmlns:a16="http://schemas.microsoft.com/office/drawing/2014/main" id="{C73C46B2-9F57-43AB-8784-CF1F14542236}"/>
              </a:ext>
            </a:extLst>
          </p:cNvPr>
          <p:cNvSpPr>
            <a:spLocks noGrp="1"/>
          </p:cNvSpPr>
          <p:nvPr/>
        </p:nvSpPr>
        <p:spPr>
          <a:xfrm>
            <a:off x="14859000" y="9925050"/>
            <a:ext cx="257175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9050" rIns="0" bIns="1905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 u="none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2026 年 4 月</a:t>
            </a:r>
          </a:p>
        </p:txBody>
      </p:sp>
      <p:sp>
        <p:nvSpPr>
          <p:cNvPr id="8" name="drawio2pptx:shape:8">
            <a:extLst>
              <a:ext uri="{FF2B5EF4-FFF2-40B4-BE49-F238E27FC236}">
                <a16:creationId xmlns:a16="http://schemas.microsoft.com/office/drawing/2014/main" id="{CBC5D681-0B72-44DA-9CEC-70130D947F03}"/>
              </a:ext>
            </a:extLst>
          </p:cNvPr>
          <p:cNvSpPr>
            <a:spLocks noGrp="1"/>
          </p:cNvSpPr>
          <p:nvPr/>
        </p:nvSpPr>
        <p:spPr>
          <a:xfrm>
            <a:off x="1143000" y="1733550"/>
            <a:ext cx="95250" cy="3619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drawio2pptx:shape:9">
            <a:extLst>
              <a:ext uri="{FF2B5EF4-FFF2-40B4-BE49-F238E27FC236}">
                <a16:creationId xmlns:a16="http://schemas.microsoft.com/office/drawing/2014/main" id="{33C4033D-E665-41DD-8774-91AAD4666F64}"/>
              </a:ext>
            </a:extLst>
          </p:cNvPr>
          <p:cNvSpPr>
            <a:spLocks noGrp="1"/>
          </p:cNvSpPr>
          <p:nvPr/>
        </p:nvSpPr>
        <p:spPr>
          <a:xfrm>
            <a:off x="1409700" y="1714500"/>
            <a:ext cx="10858500" cy="4191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9050" rIns="0" bIns="1905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75" b="1" i="0" u="none" dirty="0">
              <a:solidFill>
                <a:srgbClr val="1A1A2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drawio2pptx:shape:10">
            <a:extLst>
              <a:ext uri="{FF2B5EF4-FFF2-40B4-BE49-F238E27FC236}">
                <a16:creationId xmlns:a16="http://schemas.microsoft.com/office/drawing/2014/main" id="{437D7E03-F418-455D-9BB5-45C1B07F4BCB}"/>
              </a:ext>
            </a:extLst>
          </p:cNvPr>
          <p:cNvSpPr>
            <a:spLocks noGrp="1"/>
          </p:cNvSpPr>
          <p:nvPr/>
        </p:nvSpPr>
        <p:spPr>
          <a:xfrm>
            <a:off x="1143000" y="2905125"/>
            <a:ext cx="4953000" cy="18097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200"/>
          </a:p>
        </p:txBody>
      </p:sp>
      <p:sp>
        <p:nvSpPr>
          <p:cNvPr id="11" name="drawio2pptx:shape:11">
            <a:extLst>
              <a:ext uri="{FF2B5EF4-FFF2-40B4-BE49-F238E27FC236}">
                <a16:creationId xmlns:a16="http://schemas.microsoft.com/office/drawing/2014/main" id="{F72F577E-7163-4642-834D-0171CE3CC2FA}"/>
              </a:ext>
            </a:extLst>
          </p:cNvPr>
          <p:cNvSpPr>
            <a:spLocks noGrp="1"/>
          </p:cNvSpPr>
          <p:nvPr/>
        </p:nvSpPr>
        <p:spPr>
          <a:xfrm>
            <a:off x="1428750" y="3171825"/>
            <a:ext cx="4381500" cy="381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9050" rIns="0" bIns="1905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1" i="0" u="none" dirty="0" err="1">
                <a:solidFill>
                  <a:srgbClr val="1F497D"/>
                </a:solidFill>
                <a:latin typeface="微软雅黑"/>
                <a:ea typeface="微软雅黑"/>
                <a:cs typeface="微软雅黑"/>
              </a:rPr>
              <a:t>多模态条件统一</a:t>
            </a:r>
            <a:endParaRPr sz="3200" b="1" i="0" u="none" dirty="0">
              <a:solidFill>
                <a:srgbClr val="1F497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drawio2pptx:shape:12">
            <a:extLst>
              <a:ext uri="{FF2B5EF4-FFF2-40B4-BE49-F238E27FC236}">
                <a16:creationId xmlns:a16="http://schemas.microsoft.com/office/drawing/2014/main" id="{5FA40DF5-DBB6-47C4-A36D-A9897E58624F}"/>
              </a:ext>
            </a:extLst>
          </p:cNvPr>
          <p:cNvSpPr>
            <a:spLocks noGrp="1"/>
          </p:cNvSpPr>
          <p:nvPr/>
        </p:nvSpPr>
        <p:spPr>
          <a:xfrm>
            <a:off x="6572250" y="3571875"/>
            <a:ext cx="1143000" cy="952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200"/>
          </a:p>
        </p:txBody>
      </p:sp>
      <p:sp>
        <p:nvSpPr>
          <p:cNvPr id="13" name="drawio2pptx:shape:13">
            <a:extLst>
              <a:ext uri="{FF2B5EF4-FFF2-40B4-BE49-F238E27FC236}">
                <a16:creationId xmlns:a16="http://schemas.microsoft.com/office/drawing/2014/main" id="{D71A54A6-E813-43CE-9B9F-C16D0A055216}"/>
              </a:ext>
            </a:extLst>
          </p:cNvPr>
          <p:cNvSpPr>
            <a:spLocks noGrp="1"/>
          </p:cNvSpPr>
          <p:nvPr/>
        </p:nvSpPr>
        <p:spPr>
          <a:xfrm>
            <a:off x="8096250" y="2905125"/>
            <a:ext cx="8858250" cy="180975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200"/>
          </a:p>
        </p:txBody>
      </p:sp>
      <p:sp>
        <p:nvSpPr>
          <p:cNvPr id="14" name="drawio2pptx:shape:14">
            <a:extLst>
              <a:ext uri="{FF2B5EF4-FFF2-40B4-BE49-F238E27FC236}">
                <a16:creationId xmlns:a16="http://schemas.microsoft.com/office/drawing/2014/main" id="{31E08465-A60D-4780-B07D-B97AE7EB71F0}"/>
              </a:ext>
            </a:extLst>
          </p:cNvPr>
          <p:cNvSpPr>
            <a:spLocks noGrp="1"/>
          </p:cNvSpPr>
          <p:nvPr/>
        </p:nvSpPr>
        <p:spPr>
          <a:xfrm>
            <a:off x="8429625" y="3267075"/>
            <a:ext cx="8191500" cy="1143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 u="none" dirty="0" err="1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文本部件与图像部件在接口层和编码层同时保持兼容，避免</a:t>
            </a:r>
            <a:endParaRPr lang="en-US" sz="2400" b="0" i="0" u="none" dirty="0">
              <a:solidFill>
                <a:srgbClr val="1A1A2E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 u="none" dirty="0" err="1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训练过程出现条件割裂</a:t>
            </a:r>
            <a:r>
              <a:rPr sz="2400" b="0" i="0" u="none" dirty="0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15" name="drawio2pptx:shape:15">
            <a:extLst>
              <a:ext uri="{FF2B5EF4-FFF2-40B4-BE49-F238E27FC236}">
                <a16:creationId xmlns:a16="http://schemas.microsoft.com/office/drawing/2014/main" id="{714C1EB6-4CE1-429B-A4C4-12815A4EEFB4}"/>
              </a:ext>
            </a:extLst>
          </p:cNvPr>
          <p:cNvSpPr>
            <a:spLocks noGrp="1"/>
          </p:cNvSpPr>
          <p:nvPr/>
        </p:nvSpPr>
        <p:spPr>
          <a:xfrm>
            <a:off x="1143000" y="5048250"/>
            <a:ext cx="4953000" cy="18097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200"/>
          </a:p>
        </p:txBody>
      </p:sp>
      <p:sp>
        <p:nvSpPr>
          <p:cNvPr id="16" name="drawio2pptx:shape:16">
            <a:extLst>
              <a:ext uri="{FF2B5EF4-FFF2-40B4-BE49-F238E27FC236}">
                <a16:creationId xmlns:a16="http://schemas.microsoft.com/office/drawing/2014/main" id="{5D293E19-DFC1-40FA-BF93-2B2BDA752EA0}"/>
              </a:ext>
            </a:extLst>
          </p:cNvPr>
          <p:cNvSpPr>
            <a:spLocks noGrp="1"/>
          </p:cNvSpPr>
          <p:nvPr/>
        </p:nvSpPr>
        <p:spPr>
          <a:xfrm>
            <a:off x="1428750" y="5314950"/>
            <a:ext cx="4381500" cy="381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9050" rIns="0" bIns="1905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1" i="0" u="none" dirty="0" err="1">
                <a:solidFill>
                  <a:srgbClr val="1F497D"/>
                </a:solidFill>
                <a:latin typeface="微软雅黑"/>
                <a:ea typeface="微软雅黑"/>
                <a:cs typeface="微软雅黑"/>
              </a:rPr>
              <a:t>结构错误</a:t>
            </a:r>
            <a:r>
              <a:rPr lang="zh-CN" altLang="en-US" sz="3200" b="1" i="0" u="none" dirty="0">
                <a:solidFill>
                  <a:srgbClr val="1F497D"/>
                </a:solidFill>
                <a:latin typeface="微软雅黑"/>
                <a:ea typeface="微软雅黑"/>
                <a:cs typeface="微软雅黑"/>
              </a:rPr>
              <a:t>的</a:t>
            </a:r>
            <a:r>
              <a:rPr sz="3200" b="1" i="0" u="none" dirty="0" err="1">
                <a:solidFill>
                  <a:srgbClr val="1F497D"/>
                </a:solidFill>
                <a:latin typeface="微软雅黑"/>
                <a:ea typeface="微软雅黑"/>
                <a:cs typeface="微软雅黑"/>
              </a:rPr>
              <a:t>显式控制</a:t>
            </a:r>
            <a:endParaRPr sz="3200" b="1" i="0" u="none" dirty="0">
              <a:solidFill>
                <a:srgbClr val="1F497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drawio2pptx:shape:17">
            <a:extLst>
              <a:ext uri="{FF2B5EF4-FFF2-40B4-BE49-F238E27FC236}">
                <a16:creationId xmlns:a16="http://schemas.microsoft.com/office/drawing/2014/main" id="{87A93C7C-9459-4723-84CB-9CB73EBA3718}"/>
              </a:ext>
            </a:extLst>
          </p:cNvPr>
          <p:cNvSpPr>
            <a:spLocks noGrp="1"/>
          </p:cNvSpPr>
          <p:nvPr/>
        </p:nvSpPr>
        <p:spPr>
          <a:xfrm>
            <a:off x="6572250" y="5715000"/>
            <a:ext cx="1143000" cy="952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200"/>
          </a:p>
        </p:txBody>
      </p:sp>
      <p:sp>
        <p:nvSpPr>
          <p:cNvPr id="18" name="drawio2pptx:shape:18">
            <a:extLst>
              <a:ext uri="{FF2B5EF4-FFF2-40B4-BE49-F238E27FC236}">
                <a16:creationId xmlns:a16="http://schemas.microsoft.com/office/drawing/2014/main" id="{873602FA-F727-4A43-8142-84D1D7CE11E3}"/>
              </a:ext>
            </a:extLst>
          </p:cNvPr>
          <p:cNvSpPr>
            <a:spLocks noGrp="1"/>
          </p:cNvSpPr>
          <p:nvPr/>
        </p:nvSpPr>
        <p:spPr>
          <a:xfrm>
            <a:off x="8096250" y="5048250"/>
            <a:ext cx="8858250" cy="180975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200"/>
          </a:p>
        </p:txBody>
      </p:sp>
      <p:sp>
        <p:nvSpPr>
          <p:cNvPr id="19" name="drawio2pptx:shape:19">
            <a:extLst>
              <a:ext uri="{FF2B5EF4-FFF2-40B4-BE49-F238E27FC236}">
                <a16:creationId xmlns:a16="http://schemas.microsoft.com/office/drawing/2014/main" id="{FE6C8EAD-2ADC-4D0C-84B8-994566D53FF5}"/>
              </a:ext>
            </a:extLst>
          </p:cNvPr>
          <p:cNvSpPr>
            <a:spLocks noGrp="1"/>
          </p:cNvSpPr>
          <p:nvPr/>
        </p:nvSpPr>
        <p:spPr>
          <a:xfrm>
            <a:off x="8429625" y="5410200"/>
            <a:ext cx="8191500" cy="1143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9050" rIns="0" bIns="1905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 u="none" dirty="0" err="1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通过布局热图、结构监督和辅助探针约束部件比例、位置关系</a:t>
            </a:r>
            <a:endParaRPr lang="en-US" sz="2400" b="0" i="0" u="none" dirty="0">
              <a:solidFill>
                <a:srgbClr val="1A1A2E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 u="none" dirty="0" err="1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和包围结构，降低“看起来像字但结构不对”的风险</a:t>
            </a:r>
            <a:r>
              <a:rPr sz="2400" b="0" i="0" u="none" dirty="0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20" name="drawio2pptx:shape:20">
            <a:extLst>
              <a:ext uri="{FF2B5EF4-FFF2-40B4-BE49-F238E27FC236}">
                <a16:creationId xmlns:a16="http://schemas.microsoft.com/office/drawing/2014/main" id="{4FF50378-1DFA-4A45-B859-DB50DC5A64D7}"/>
              </a:ext>
            </a:extLst>
          </p:cNvPr>
          <p:cNvSpPr>
            <a:spLocks noGrp="1"/>
          </p:cNvSpPr>
          <p:nvPr/>
        </p:nvSpPr>
        <p:spPr>
          <a:xfrm>
            <a:off x="1143000" y="7191375"/>
            <a:ext cx="4953000" cy="18097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200"/>
          </a:p>
        </p:txBody>
      </p:sp>
      <p:sp>
        <p:nvSpPr>
          <p:cNvPr id="21" name="drawio2pptx:shape:21">
            <a:extLst>
              <a:ext uri="{FF2B5EF4-FFF2-40B4-BE49-F238E27FC236}">
                <a16:creationId xmlns:a16="http://schemas.microsoft.com/office/drawing/2014/main" id="{35F26586-C212-4505-8FC8-6F548B14BBA8}"/>
              </a:ext>
            </a:extLst>
          </p:cNvPr>
          <p:cNvSpPr>
            <a:spLocks noGrp="1"/>
          </p:cNvSpPr>
          <p:nvPr/>
        </p:nvSpPr>
        <p:spPr>
          <a:xfrm>
            <a:off x="1428750" y="7458075"/>
            <a:ext cx="4381500" cy="381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9050" rIns="0" bIns="1905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1" i="0" u="none" dirty="0" err="1">
                <a:solidFill>
                  <a:srgbClr val="1F497D"/>
                </a:solidFill>
                <a:latin typeface="微软雅黑"/>
                <a:ea typeface="微软雅黑"/>
                <a:cs typeface="微软雅黑"/>
              </a:rPr>
              <a:t>组合泛化证明</a:t>
            </a:r>
            <a:endParaRPr sz="3200" b="1" i="0" u="none" dirty="0">
              <a:solidFill>
                <a:srgbClr val="1F497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drawio2pptx:shape:22">
            <a:extLst>
              <a:ext uri="{FF2B5EF4-FFF2-40B4-BE49-F238E27FC236}">
                <a16:creationId xmlns:a16="http://schemas.microsoft.com/office/drawing/2014/main" id="{F1331745-A2F1-4480-8B31-A35E8F56B99F}"/>
              </a:ext>
            </a:extLst>
          </p:cNvPr>
          <p:cNvSpPr>
            <a:spLocks noGrp="1"/>
          </p:cNvSpPr>
          <p:nvPr/>
        </p:nvSpPr>
        <p:spPr>
          <a:xfrm>
            <a:off x="6572250" y="7858125"/>
            <a:ext cx="1143000" cy="952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200"/>
          </a:p>
        </p:txBody>
      </p:sp>
      <p:sp>
        <p:nvSpPr>
          <p:cNvPr id="23" name="drawio2pptx:shape:23">
            <a:extLst>
              <a:ext uri="{FF2B5EF4-FFF2-40B4-BE49-F238E27FC236}">
                <a16:creationId xmlns:a16="http://schemas.microsoft.com/office/drawing/2014/main" id="{5CE55029-BC01-48D8-B786-17F99C5C9BE3}"/>
              </a:ext>
            </a:extLst>
          </p:cNvPr>
          <p:cNvSpPr>
            <a:spLocks noGrp="1"/>
          </p:cNvSpPr>
          <p:nvPr/>
        </p:nvSpPr>
        <p:spPr>
          <a:xfrm>
            <a:off x="8096250" y="7191375"/>
            <a:ext cx="8858250" cy="180975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200"/>
          </a:p>
        </p:txBody>
      </p:sp>
      <p:sp>
        <p:nvSpPr>
          <p:cNvPr id="24" name="drawio2pptx:shape:24">
            <a:extLst>
              <a:ext uri="{FF2B5EF4-FFF2-40B4-BE49-F238E27FC236}">
                <a16:creationId xmlns:a16="http://schemas.microsoft.com/office/drawing/2014/main" id="{B3B5FCAA-4C50-4B7F-B854-55DF8CC16A6C}"/>
              </a:ext>
            </a:extLst>
          </p:cNvPr>
          <p:cNvSpPr>
            <a:spLocks noGrp="1"/>
          </p:cNvSpPr>
          <p:nvPr/>
        </p:nvSpPr>
        <p:spPr>
          <a:xfrm>
            <a:off x="8429625" y="7553325"/>
            <a:ext cx="8191500" cy="1143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9050" rIns="0" bIns="1905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 u="none" dirty="0" err="1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把整字留出切分放到关键位置，结合结构正确性分析和典型案</a:t>
            </a:r>
            <a:endParaRPr lang="en-US" sz="2400" b="0" i="0" u="none" dirty="0">
              <a:solidFill>
                <a:srgbClr val="1A1A2E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 u="none" dirty="0" err="1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例，区分真正泛化与训练样本记忆</a:t>
            </a:r>
            <a:r>
              <a:rPr sz="2400" b="0" i="0" u="none" dirty="0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87818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awio2pptx:shape:2">
            <a:extLst>
              <a:ext uri="{FF2B5EF4-FFF2-40B4-BE49-F238E27FC236}">
                <a16:creationId xmlns:a16="http://schemas.microsoft.com/office/drawing/2014/main" id="{A32085BF-F275-4E7D-AD1F-5FD4A6C88B6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drawio2pptx:shape:3">
            <a:extLst>
              <a:ext uri="{FF2B5EF4-FFF2-40B4-BE49-F238E27FC236}">
                <a16:creationId xmlns:a16="http://schemas.microsoft.com/office/drawing/2014/main" id="{A53CA0DE-4D6C-401F-A2A7-AF5F68C1600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143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drawio2pptx:shape:4">
            <a:extLst>
              <a:ext uri="{FF2B5EF4-FFF2-40B4-BE49-F238E27FC236}">
                <a16:creationId xmlns:a16="http://schemas.microsoft.com/office/drawing/2014/main" id="{08FED2D6-7E95-4431-AEFA-F62A97620C90}"/>
              </a:ext>
            </a:extLst>
          </p:cNvPr>
          <p:cNvSpPr>
            <a:spLocks noGrp="1"/>
          </p:cNvSpPr>
          <p:nvPr/>
        </p:nvSpPr>
        <p:spPr>
          <a:xfrm>
            <a:off x="0" y="1143000"/>
            <a:ext cx="18288000" cy="571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drawio2pptx:shape:5">
            <a:extLst>
              <a:ext uri="{FF2B5EF4-FFF2-40B4-BE49-F238E27FC236}">
                <a16:creationId xmlns:a16="http://schemas.microsoft.com/office/drawing/2014/main" id="{E4886BDF-9C29-4FF4-9007-BEE2DEFD1CD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143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9050" rIns="0" bIns="1905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50" b="1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08 创新点与可行性分析</a:t>
            </a:r>
          </a:p>
        </p:txBody>
      </p:sp>
      <p:sp>
        <p:nvSpPr>
          <p:cNvPr id="6" name="drawio2pptx:shape:6">
            <a:extLst>
              <a:ext uri="{FF2B5EF4-FFF2-40B4-BE49-F238E27FC236}">
                <a16:creationId xmlns:a16="http://schemas.microsoft.com/office/drawing/2014/main" id="{7AF1D62F-E00A-4A63-95AE-45CEFE724564}"/>
              </a:ext>
            </a:extLst>
          </p:cNvPr>
          <p:cNvSpPr>
            <a:spLocks noGrp="1"/>
          </p:cNvSpPr>
          <p:nvPr/>
        </p:nvSpPr>
        <p:spPr>
          <a:xfrm>
            <a:off x="0" y="9906000"/>
            <a:ext cx="182880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drawio2pptx:shape:7">
            <a:extLst>
              <a:ext uri="{FF2B5EF4-FFF2-40B4-BE49-F238E27FC236}">
                <a16:creationId xmlns:a16="http://schemas.microsoft.com/office/drawing/2014/main" id="{A3DFBE80-0BA8-4CCF-83DE-E5DB51AB7384}"/>
              </a:ext>
            </a:extLst>
          </p:cNvPr>
          <p:cNvSpPr>
            <a:spLocks noGrp="1"/>
          </p:cNvSpPr>
          <p:nvPr/>
        </p:nvSpPr>
        <p:spPr>
          <a:xfrm>
            <a:off x="14859000" y="9925050"/>
            <a:ext cx="257175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9050" rIns="0" bIns="1905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2026 年 4 月</a:t>
            </a:r>
          </a:p>
        </p:txBody>
      </p:sp>
      <p:sp>
        <p:nvSpPr>
          <p:cNvPr id="8" name="drawio2pptx:shape:8">
            <a:extLst>
              <a:ext uri="{FF2B5EF4-FFF2-40B4-BE49-F238E27FC236}">
                <a16:creationId xmlns:a16="http://schemas.microsoft.com/office/drawing/2014/main" id="{C2CBB845-7852-4625-B8F0-01E986B356FC}"/>
              </a:ext>
            </a:extLst>
          </p:cNvPr>
          <p:cNvSpPr>
            <a:spLocks noGrp="1"/>
          </p:cNvSpPr>
          <p:nvPr/>
        </p:nvSpPr>
        <p:spPr>
          <a:xfrm>
            <a:off x="1143000" y="1733550"/>
            <a:ext cx="95250" cy="3619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drawio2pptx:shape:9">
            <a:extLst>
              <a:ext uri="{FF2B5EF4-FFF2-40B4-BE49-F238E27FC236}">
                <a16:creationId xmlns:a16="http://schemas.microsoft.com/office/drawing/2014/main" id="{33B47C9E-8B7B-4A2E-8F4B-4F3CF2BA6A23}"/>
              </a:ext>
            </a:extLst>
          </p:cNvPr>
          <p:cNvSpPr>
            <a:spLocks noGrp="1"/>
          </p:cNvSpPr>
          <p:nvPr/>
        </p:nvSpPr>
        <p:spPr>
          <a:xfrm>
            <a:off x="1409700" y="1714500"/>
            <a:ext cx="7429500" cy="4191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9050" rIns="0" bIns="1905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75" b="1" i="0" u="none" dirty="0">
              <a:solidFill>
                <a:srgbClr val="1A1A2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drawio2pptx:shape:10">
            <a:extLst>
              <a:ext uri="{FF2B5EF4-FFF2-40B4-BE49-F238E27FC236}">
                <a16:creationId xmlns:a16="http://schemas.microsoft.com/office/drawing/2014/main" id="{9899579A-D440-41F2-9E6B-4605B8A66B73}"/>
              </a:ext>
            </a:extLst>
          </p:cNvPr>
          <p:cNvSpPr>
            <a:spLocks noGrp="1"/>
          </p:cNvSpPr>
          <p:nvPr/>
        </p:nvSpPr>
        <p:spPr>
          <a:xfrm>
            <a:off x="1143000" y="2857500"/>
            <a:ext cx="7239000" cy="5905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4000"/>
          </a:p>
        </p:txBody>
      </p:sp>
      <p:sp>
        <p:nvSpPr>
          <p:cNvPr id="11" name="drawio2pptx:shape:11">
            <a:extLst>
              <a:ext uri="{FF2B5EF4-FFF2-40B4-BE49-F238E27FC236}">
                <a16:creationId xmlns:a16="http://schemas.microsoft.com/office/drawing/2014/main" id="{76307A31-9EBB-4F0C-A6B8-E6CC0618CE3B}"/>
              </a:ext>
            </a:extLst>
          </p:cNvPr>
          <p:cNvSpPr>
            <a:spLocks noGrp="1"/>
          </p:cNvSpPr>
          <p:nvPr/>
        </p:nvSpPr>
        <p:spPr>
          <a:xfrm>
            <a:off x="1371600" y="3028950"/>
            <a:ext cx="6781800" cy="342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9050" rIns="0" bIns="1905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1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创新点</a:t>
            </a:r>
          </a:p>
        </p:txBody>
      </p:sp>
      <p:sp>
        <p:nvSpPr>
          <p:cNvPr id="12" name="drawio2pptx:shape:12">
            <a:extLst>
              <a:ext uri="{FF2B5EF4-FFF2-40B4-BE49-F238E27FC236}">
                <a16:creationId xmlns:a16="http://schemas.microsoft.com/office/drawing/2014/main" id="{3ACAAEA9-E76F-4F06-84E5-09A9ED7CBC40}"/>
              </a:ext>
            </a:extLst>
          </p:cNvPr>
          <p:cNvSpPr>
            <a:spLocks noGrp="1"/>
          </p:cNvSpPr>
          <p:nvPr/>
        </p:nvSpPr>
        <p:spPr>
          <a:xfrm>
            <a:off x="1371600" y="3448050"/>
            <a:ext cx="6781800" cy="5105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9050" rIns="0" bIns="1905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0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1. 把文本部件输入和图像部件输入统一到同一条件接口中。
2. 将结构标签、布局热图和结构监督显式引入生成过程，而不是完全依赖模型隐式学习。
3. 将整字留出切分放到更关键的位置，用组合泛化而不是单纯随机切分来检验方法是否成立。</a:t>
            </a:r>
          </a:p>
        </p:txBody>
      </p:sp>
      <p:sp>
        <p:nvSpPr>
          <p:cNvPr id="13" name="drawio2pptx:shape:13">
            <a:extLst>
              <a:ext uri="{FF2B5EF4-FFF2-40B4-BE49-F238E27FC236}">
                <a16:creationId xmlns:a16="http://schemas.microsoft.com/office/drawing/2014/main" id="{99129F1F-67F9-4C94-92E0-E60524771F67}"/>
              </a:ext>
            </a:extLst>
          </p:cNvPr>
          <p:cNvSpPr>
            <a:spLocks noGrp="1"/>
          </p:cNvSpPr>
          <p:nvPr/>
        </p:nvSpPr>
        <p:spPr>
          <a:xfrm>
            <a:off x="8953500" y="2857500"/>
            <a:ext cx="8001000" cy="590550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4000"/>
          </a:p>
        </p:txBody>
      </p:sp>
      <p:sp>
        <p:nvSpPr>
          <p:cNvPr id="14" name="drawio2pptx:shape:14">
            <a:extLst>
              <a:ext uri="{FF2B5EF4-FFF2-40B4-BE49-F238E27FC236}">
                <a16:creationId xmlns:a16="http://schemas.microsoft.com/office/drawing/2014/main" id="{30E6B1F8-B095-460D-AF03-67207368EBB3}"/>
              </a:ext>
            </a:extLst>
          </p:cNvPr>
          <p:cNvSpPr>
            <a:spLocks noGrp="1"/>
          </p:cNvSpPr>
          <p:nvPr/>
        </p:nvSpPr>
        <p:spPr>
          <a:xfrm>
            <a:off x="9182100" y="3028950"/>
            <a:ext cx="7543800" cy="342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9050" rIns="0" bIns="1905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200" b="1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可行性基础</a:t>
            </a:r>
          </a:p>
        </p:txBody>
      </p:sp>
      <p:sp>
        <p:nvSpPr>
          <p:cNvPr id="15" name="drawio2pptx:shape:15">
            <a:extLst>
              <a:ext uri="{FF2B5EF4-FFF2-40B4-BE49-F238E27FC236}">
                <a16:creationId xmlns:a16="http://schemas.microsoft.com/office/drawing/2014/main" id="{26B36E6D-6D7D-42E7-BD35-91EA918E06B4}"/>
              </a:ext>
            </a:extLst>
          </p:cNvPr>
          <p:cNvSpPr>
            <a:spLocks noGrp="1"/>
          </p:cNvSpPr>
          <p:nvPr/>
        </p:nvSpPr>
        <p:spPr>
          <a:xfrm>
            <a:off x="9182100" y="3448050"/>
            <a:ext cx="7543800" cy="5105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9050" rIns="0" bIns="1905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0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数据来源明确：公开字体与拆字表可以支持自动构造首版样本。
研究路线可控：先做条件 U-Net 基线，再推进到 VAE 与潜空间扩散。
工程基础已具备：仓库中已有 build_dataset、train_baseline、train_diffusion、run_demo 等脚本，说明这项工作不是从零起步。
风险应对清楚：先低分辨率跑通链路，再逐步提升标准分辨率，并把 OOV 验证控制在小样本轻量适配范围内。</a:t>
            </a:r>
          </a:p>
        </p:txBody>
      </p:sp>
    </p:spTree>
    <p:extLst>
      <p:ext uri="{BB962C8B-B14F-4D97-AF65-F5344CB8AC3E}">
        <p14:creationId xmlns:p14="http://schemas.microsoft.com/office/powerpoint/2010/main" val="5059041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awio2pptx:shape:2">
            <a:extLst>
              <a:ext uri="{FF2B5EF4-FFF2-40B4-BE49-F238E27FC236}">
                <a16:creationId xmlns:a16="http://schemas.microsoft.com/office/drawing/2014/main" id="{4AFA9ED8-30A4-4B5A-A19E-591923CC6B05}"/>
              </a:ext>
            </a:extLst>
          </p:cNvPr>
          <p:cNvSpPr>
            <a:spLocks noGrp="1"/>
          </p:cNvSpPr>
          <p:nvPr/>
        </p:nvSpPr>
        <p:spPr>
          <a:xfrm>
            <a:off x="828" y="-219075"/>
            <a:ext cx="18288000" cy="10287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drawio2pptx:shape:3">
            <a:extLst>
              <a:ext uri="{FF2B5EF4-FFF2-40B4-BE49-F238E27FC236}">
                <a16:creationId xmlns:a16="http://schemas.microsoft.com/office/drawing/2014/main" id="{56949B8C-CB6D-4634-AB9D-ECC12EE84A4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143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drawio2pptx:shape:4">
            <a:extLst>
              <a:ext uri="{FF2B5EF4-FFF2-40B4-BE49-F238E27FC236}">
                <a16:creationId xmlns:a16="http://schemas.microsoft.com/office/drawing/2014/main" id="{C86103ED-8BF2-4048-B25B-5E13FBC2B3A8}"/>
              </a:ext>
            </a:extLst>
          </p:cNvPr>
          <p:cNvSpPr>
            <a:spLocks noGrp="1"/>
          </p:cNvSpPr>
          <p:nvPr/>
        </p:nvSpPr>
        <p:spPr>
          <a:xfrm>
            <a:off x="0" y="1143000"/>
            <a:ext cx="18288000" cy="571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drawio2pptx:shape:5">
            <a:extLst>
              <a:ext uri="{FF2B5EF4-FFF2-40B4-BE49-F238E27FC236}">
                <a16:creationId xmlns:a16="http://schemas.microsoft.com/office/drawing/2014/main" id="{BBD5F5E4-1351-4F90-B2D1-8A6C8480926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143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9050" rIns="0" bIns="1905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50" b="1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09 研究计划与预期成果</a:t>
            </a:r>
          </a:p>
        </p:txBody>
      </p:sp>
      <p:sp>
        <p:nvSpPr>
          <p:cNvPr id="6" name="drawio2pptx:shape:6">
            <a:extLst>
              <a:ext uri="{FF2B5EF4-FFF2-40B4-BE49-F238E27FC236}">
                <a16:creationId xmlns:a16="http://schemas.microsoft.com/office/drawing/2014/main" id="{784C7394-5315-464B-B434-E0E9CA918F6C}"/>
              </a:ext>
            </a:extLst>
          </p:cNvPr>
          <p:cNvSpPr>
            <a:spLocks noGrp="1"/>
          </p:cNvSpPr>
          <p:nvPr/>
        </p:nvSpPr>
        <p:spPr>
          <a:xfrm>
            <a:off x="0" y="9906000"/>
            <a:ext cx="182880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drawio2pptx:shape:7">
            <a:extLst>
              <a:ext uri="{FF2B5EF4-FFF2-40B4-BE49-F238E27FC236}">
                <a16:creationId xmlns:a16="http://schemas.microsoft.com/office/drawing/2014/main" id="{2C15E07C-21AC-43AE-B5CB-A67FA796E947}"/>
              </a:ext>
            </a:extLst>
          </p:cNvPr>
          <p:cNvSpPr>
            <a:spLocks noGrp="1"/>
          </p:cNvSpPr>
          <p:nvPr/>
        </p:nvSpPr>
        <p:spPr>
          <a:xfrm>
            <a:off x="14859000" y="9925050"/>
            <a:ext cx="2571750" cy="285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9050" rIns="0" bIns="19050" anchor="ctr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2026 年 4 月</a:t>
            </a:r>
          </a:p>
        </p:txBody>
      </p:sp>
      <p:sp>
        <p:nvSpPr>
          <p:cNvPr id="8" name="drawio2pptx:shape:8">
            <a:extLst>
              <a:ext uri="{FF2B5EF4-FFF2-40B4-BE49-F238E27FC236}">
                <a16:creationId xmlns:a16="http://schemas.microsoft.com/office/drawing/2014/main" id="{7BB4042D-C07F-4CE6-BD90-F42C1E6EB424}"/>
              </a:ext>
            </a:extLst>
          </p:cNvPr>
          <p:cNvSpPr>
            <a:spLocks noGrp="1"/>
          </p:cNvSpPr>
          <p:nvPr/>
        </p:nvSpPr>
        <p:spPr>
          <a:xfrm>
            <a:off x="1143000" y="1733550"/>
            <a:ext cx="95250" cy="3619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drawio2pptx:shape:9">
            <a:extLst>
              <a:ext uri="{FF2B5EF4-FFF2-40B4-BE49-F238E27FC236}">
                <a16:creationId xmlns:a16="http://schemas.microsoft.com/office/drawing/2014/main" id="{34D2E68E-D67B-47EA-ACC2-5F05D6D07E5E}"/>
              </a:ext>
            </a:extLst>
          </p:cNvPr>
          <p:cNvSpPr>
            <a:spLocks noGrp="1"/>
          </p:cNvSpPr>
          <p:nvPr/>
        </p:nvSpPr>
        <p:spPr>
          <a:xfrm>
            <a:off x="1409700" y="1714500"/>
            <a:ext cx="8191500" cy="4191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9050" rIns="0" bIns="1905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75" b="1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按阶段推进，保证每一步都能形成可复核结果</a:t>
            </a:r>
          </a:p>
        </p:txBody>
      </p:sp>
      <p:sp>
        <p:nvSpPr>
          <p:cNvPr id="10" name="drawio2pptx:shape:10">
            <a:extLst>
              <a:ext uri="{FF2B5EF4-FFF2-40B4-BE49-F238E27FC236}">
                <a16:creationId xmlns:a16="http://schemas.microsoft.com/office/drawing/2014/main" id="{12DCBE58-07BE-4D65-A1C6-93DD1A9588F9}"/>
              </a:ext>
            </a:extLst>
          </p:cNvPr>
          <p:cNvSpPr>
            <a:spLocks noGrp="1"/>
          </p:cNvSpPr>
          <p:nvPr/>
        </p:nvSpPr>
        <p:spPr>
          <a:xfrm>
            <a:off x="1143000" y="2857500"/>
            <a:ext cx="10572750" cy="5905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drawio2pptx:shape:11">
            <a:extLst>
              <a:ext uri="{FF2B5EF4-FFF2-40B4-BE49-F238E27FC236}">
                <a16:creationId xmlns:a16="http://schemas.microsoft.com/office/drawing/2014/main" id="{49D58762-949D-4CEC-94AF-B727BC16F045}"/>
              </a:ext>
            </a:extLst>
          </p:cNvPr>
          <p:cNvSpPr>
            <a:spLocks noGrp="1"/>
          </p:cNvSpPr>
          <p:nvPr/>
        </p:nvSpPr>
        <p:spPr>
          <a:xfrm>
            <a:off x="1571625" y="3429000"/>
            <a:ext cx="2286000" cy="628650"/>
          </a:xfrm>
          <a:prstGeom prst="roundRect">
            <a:avLst/>
          </a:prstGeom>
          <a:solidFill>
            <a:srgbClr val="1F497D"/>
          </a:solidFill>
          <a:ln w="9525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drawio2pptx:shape:12">
            <a:extLst>
              <a:ext uri="{FF2B5EF4-FFF2-40B4-BE49-F238E27FC236}">
                <a16:creationId xmlns:a16="http://schemas.microsoft.com/office/drawing/2014/main" id="{E19C58E1-4ED2-464E-B58E-C64DBC3B4412}"/>
              </a:ext>
            </a:extLst>
          </p:cNvPr>
          <p:cNvSpPr>
            <a:spLocks noGrp="1"/>
          </p:cNvSpPr>
          <p:nvPr/>
        </p:nvSpPr>
        <p:spPr>
          <a:xfrm>
            <a:off x="1571625" y="3429000"/>
            <a:ext cx="2286000" cy="6286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9050" rIns="0" bIns="1905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2026.04-2026.06</a:t>
            </a:r>
          </a:p>
        </p:txBody>
      </p:sp>
      <p:sp>
        <p:nvSpPr>
          <p:cNvPr id="13" name="drawio2pptx:shape:13">
            <a:extLst>
              <a:ext uri="{FF2B5EF4-FFF2-40B4-BE49-F238E27FC236}">
                <a16:creationId xmlns:a16="http://schemas.microsoft.com/office/drawing/2014/main" id="{5A029167-5FDA-4A3C-ADF4-FC84A2ACCB84}"/>
              </a:ext>
            </a:extLst>
          </p:cNvPr>
          <p:cNvSpPr>
            <a:spLocks noGrp="1"/>
          </p:cNvSpPr>
          <p:nvPr/>
        </p:nvSpPr>
        <p:spPr>
          <a:xfrm>
            <a:off x="4286250" y="3333750"/>
            <a:ext cx="3429000" cy="3619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9050" rIns="0" bIns="1905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文献梳理与任务收口</a:t>
            </a:r>
          </a:p>
        </p:txBody>
      </p:sp>
      <p:sp>
        <p:nvSpPr>
          <p:cNvPr id="14" name="drawio2pptx:shape:14">
            <a:extLst>
              <a:ext uri="{FF2B5EF4-FFF2-40B4-BE49-F238E27FC236}">
                <a16:creationId xmlns:a16="http://schemas.microsoft.com/office/drawing/2014/main" id="{FC55D5A6-DB57-4F94-81CC-C45F994107AF}"/>
              </a:ext>
            </a:extLst>
          </p:cNvPr>
          <p:cNvSpPr>
            <a:spLocks noGrp="1"/>
          </p:cNvSpPr>
          <p:nvPr/>
        </p:nvSpPr>
        <p:spPr>
          <a:xfrm>
            <a:off x="4286250" y="3714750"/>
            <a:ext cx="6572250" cy="5905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9050" rIns="0" bIns="1905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明确部件集合、结构标签、数据协议和实验划分方式。</a:t>
            </a:r>
          </a:p>
        </p:txBody>
      </p:sp>
      <p:sp>
        <p:nvSpPr>
          <p:cNvPr id="15" name="drawio2pptx:shape:15">
            <a:extLst>
              <a:ext uri="{FF2B5EF4-FFF2-40B4-BE49-F238E27FC236}">
                <a16:creationId xmlns:a16="http://schemas.microsoft.com/office/drawing/2014/main" id="{D83A2AB9-4531-4A4F-A3A8-EBD247E1FDD6}"/>
              </a:ext>
            </a:extLst>
          </p:cNvPr>
          <p:cNvSpPr>
            <a:spLocks noGrp="1"/>
          </p:cNvSpPr>
          <p:nvPr/>
        </p:nvSpPr>
        <p:spPr>
          <a:xfrm>
            <a:off x="2647950" y="4191000"/>
            <a:ext cx="133350" cy="3238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drawio2pptx:shape:16">
            <a:extLst>
              <a:ext uri="{FF2B5EF4-FFF2-40B4-BE49-F238E27FC236}">
                <a16:creationId xmlns:a16="http://schemas.microsoft.com/office/drawing/2014/main" id="{EA49499E-8507-4B61-B215-9EB51D8EE664}"/>
              </a:ext>
            </a:extLst>
          </p:cNvPr>
          <p:cNvSpPr>
            <a:spLocks noGrp="1"/>
          </p:cNvSpPr>
          <p:nvPr/>
        </p:nvSpPr>
        <p:spPr>
          <a:xfrm>
            <a:off x="1571625" y="4457700"/>
            <a:ext cx="2286000" cy="62865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drawio2pptx:shape:17">
            <a:extLst>
              <a:ext uri="{FF2B5EF4-FFF2-40B4-BE49-F238E27FC236}">
                <a16:creationId xmlns:a16="http://schemas.microsoft.com/office/drawing/2014/main" id="{5B99D1B3-AEF8-42DD-9DF5-E1A5DBE0FB83}"/>
              </a:ext>
            </a:extLst>
          </p:cNvPr>
          <p:cNvSpPr>
            <a:spLocks noGrp="1"/>
          </p:cNvSpPr>
          <p:nvPr/>
        </p:nvSpPr>
        <p:spPr>
          <a:xfrm>
            <a:off x="1571625" y="4457700"/>
            <a:ext cx="2286000" cy="6286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9050" rIns="0" bIns="1905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>
                <a:solidFill>
                  <a:srgbClr val="1F497D"/>
                </a:solidFill>
                <a:latin typeface="微软雅黑"/>
                <a:ea typeface="微软雅黑"/>
                <a:cs typeface="微软雅黑"/>
              </a:rPr>
              <a:t>2026.07-2026.09</a:t>
            </a:r>
          </a:p>
        </p:txBody>
      </p:sp>
      <p:sp>
        <p:nvSpPr>
          <p:cNvPr id="18" name="drawio2pptx:shape:18">
            <a:extLst>
              <a:ext uri="{FF2B5EF4-FFF2-40B4-BE49-F238E27FC236}">
                <a16:creationId xmlns:a16="http://schemas.microsoft.com/office/drawing/2014/main" id="{F5A4D5F5-530D-4CAA-89AE-09909505FDBC}"/>
              </a:ext>
            </a:extLst>
          </p:cNvPr>
          <p:cNvSpPr>
            <a:spLocks noGrp="1"/>
          </p:cNvSpPr>
          <p:nvPr/>
        </p:nvSpPr>
        <p:spPr>
          <a:xfrm>
            <a:off x="4286250" y="4362450"/>
            <a:ext cx="3429000" cy="3619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9050" rIns="0" bIns="1905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基线模型训练</a:t>
            </a:r>
          </a:p>
        </p:txBody>
      </p:sp>
      <p:sp>
        <p:nvSpPr>
          <p:cNvPr id="19" name="drawio2pptx:shape:19">
            <a:extLst>
              <a:ext uri="{FF2B5EF4-FFF2-40B4-BE49-F238E27FC236}">
                <a16:creationId xmlns:a16="http://schemas.microsoft.com/office/drawing/2014/main" id="{0E44AC85-28F8-4FE3-9E0F-18B6137758B5}"/>
              </a:ext>
            </a:extLst>
          </p:cNvPr>
          <p:cNvSpPr>
            <a:spLocks noGrp="1"/>
          </p:cNvSpPr>
          <p:nvPr/>
        </p:nvSpPr>
        <p:spPr>
          <a:xfrm>
            <a:off x="4286250" y="4743450"/>
            <a:ext cx="6572250" cy="5905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9050" rIns="0" bIns="1905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先在较低分辨率下跑通训练、保存、加载和推理全链路。</a:t>
            </a:r>
          </a:p>
        </p:txBody>
      </p:sp>
      <p:sp>
        <p:nvSpPr>
          <p:cNvPr id="20" name="drawio2pptx:shape:20">
            <a:extLst>
              <a:ext uri="{FF2B5EF4-FFF2-40B4-BE49-F238E27FC236}">
                <a16:creationId xmlns:a16="http://schemas.microsoft.com/office/drawing/2014/main" id="{18721F24-AD65-4B01-A8FF-27703DCEB7CF}"/>
              </a:ext>
            </a:extLst>
          </p:cNvPr>
          <p:cNvSpPr>
            <a:spLocks noGrp="1"/>
          </p:cNvSpPr>
          <p:nvPr/>
        </p:nvSpPr>
        <p:spPr>
          <a:xfrm>
            <a:off x="2647950" y="5219700"/>
            <a:ext cx="133350" cy="3238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drawio2pptx:shape:21">
            <a:extLst>
              <a:ext uri="{FF2B5EF4-FFF2-40B4-BE49-F238E27FC236}">
                <a16:creationId xmlns:a16="http://schemas.microsoft.com/office/drawing/2014/main" id="{6735222A-85AD-4959-A939-ABA8D03544DE}"/>
              </a:ext>
            </a:extLst>
          </p:cNvPr>
          <p:cNvSpPr>
            <a:spLocks noGrp="1"/>
          </p:cNvSpPr>
          <p:nvPr/>
        </p:nvSpPr>
        <p:spPr>
          <a:xfrm>
            <a:off x="1571625" y="5486400"/>
            <a:ext cx="2286000" cy="62865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drawio2pptx:shape:22">
            <a:extLst>
              <a:ext uri="{FF2B5EF4-FFF2-40B4-BE49-F238E27FC236}">
                <a16:creationId xmlns:a16="http://schemas.microsoft.com/office/drawing/2014/main" id="{8567B524-B5C5-4ACD-9449-B0D0FE3D8109}"/>
              </a:ext>
            </a:extLst>
          </p:cNvPr>
          <p:cNvSpPr>
            <a:spLocks noGrp="1"/>
          </p:cNvSpPr>
          <p:nvPr/>
        </p:nvSpPr>
        <p:spPr>
          <a:xfrm>
            <a:off x="1571625" y="5486400"/>
            <a:ext cx="2286000" cy="6286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9050" rIns="0" bIns="1905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>
                <a:solidFill>
                  <a:srgbClr val="1F497D"/>
                </a:solidFill>
                <a:latin typeface="微软雅黑"/>
                <a:ea typeface="微软雅黑"/>
                <a:cs typeface="微软雅黑"/>
              </a:rPr>
              <a:t>2026.10-2026.12</a:t>
            </a:r>
          </a:p>
        </p:txBody>
      </p:sp>
      <p:sp>
        <p:nvSpPr>
          <p:cNvPr id="23" name="drawio2pptx:shape:23">
            <a:extLst>
              <a:ext uri="{FF2B5EF4-FFF2-40B4-BE49-F238E27FC236}">
                <a16:creationId xmlns:a16="http://schemas.microsoft.com/office/drawing/2014/main" id="{30AE41CB-92A0-4C60-BEB8-0BD9819548C1}"/>
              </a:ext>
            </a:extLst>
          </p:cNvPr>
          <p:cNvSpPr>
            <a:spLocks noGrp="1"/>
          </p:cNvSpPr>
          <p:nvPr/>
        </p:nvSpPr>
        <p:spPr>
          <a:xfrm>
            <a:off x="4286250" y="5391150"/>
            <a:ext cx="3429000" cy="3619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9050" rIns="0" bIns="1905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主模型与核心对比</a:t>
            </a:r>
          </a:p>
        </p:txBody>
      </p:sp>
      <p:sp>
        <p:nvSpPr>
          <p:cNvPr id="24" name="drawio2pptx:shape:24">
            <a:extLst>
              <a:ext uri="{FF2B5EF4-FFF2-40B4-BE49-F238E27FC236}">
                <a16:creationId xmlns:a16="http://schemas.microsoft.com/office/drawing/2014/main" id="{607618B5-B20B-4141-A37D-BC2B11B82150}"/>
              </a:ext>
            </a:extLst>
          </p:cNvPr>
          <p:cNvSpPr>
            <a:spLocks noGrp="1"/>
          </p:cNvSpPr>
          <p:nvPr/>
        </p:nvSpPr>
        <p:spPr>
          <a:xfrm>
            <a:off x="4286250" y="5772150"/>
            <a:ext cx="6572250" cy="5905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9050" rIns="0" bIns="1905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完成 VAE 与潜空间扩散训练，开展整字留出条件下的核心实验。</a:t>
            </a:r>
          </a:p>
        </p:txBody>
      </p:sp>
      <p:sp>
        <p:nvSpPr>
          <p:cNvPr id="25" name="drawio2pptx:shape:25">
            <a:extLst>
              <a:ext uri="{FF2B5EF4-FFF2-40B4-BE49-F238E27FC236}">
                <a16:creationId xmlns:a16="http://schemas.microsoft.com/office/drawing/2014/main" id="{E37FBF9F-CCF3-4540-BCEA-0FE8151A8348}"/>
              </a:ext>
            </a:extLst>
          </p:cNvPr>
          <p:cNvSpPr>
            <a:spLocks noGrp="1"/>
          </p:cNvSpPr>
          <p:nvPr/>
        </p:nvSpPr>
        <p:spPr>
          <a:xfrm>
            <a:off x="2647950" y="6248400"/>
            <a:ext cx="133350" cy="3238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drawio2pptx:shape:26">
            <a:extLst>
              <a:ext uri="{FF2B5EF4-FFF2-40B4-BE49-F238E27FC236}">
                <a16:creationId xmlns:a16="http://schemas.microsoft.com/office/drawing/2014/main" id="{4CA57488-7C32-4415-9A5B-D165006E7F55}"/>
              </a:ext>
            </a:extLst>
          </p:cNvPr>
          <p:cNvSpPr>
            <a:spLocks noGrp="1"/>
          </p:cNvSpPr>
          <p:nvPr/>
        </p:nvSpPr>
        <p:spPr>
          <a:xfrm>
            <a:off x="1571625" y="6515100"/>
            <a:ext cx="2286000" cy="62865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drawio2pptx:shape:27">
            <a:extLst>
              <a:ext uri="{FF2B5EF4-FFF2-40B4-BE49-F238E27FC236}">
                <a16:creationId xmlns:a16="http://schemas.microsoft.com/office/drawing/2014/main" id="{CC73E9EC-F330-45D7-8681-29671EAE18CF}"/>
              </a:ext>
            </a:extLst>
          </p:cNvPr>
          <p:cNvSpPr>
            <a:spLocks noGrp="1"/>
          </p:cNvSpPr>
          <p:nvPr/>
        </p:nvSpPr>
        <p:spPr>
          <a:xfrm>
            <a:off x="1571625" y="6515100"/>
            <a:ext cx="2286000" cy="6286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9050" rIns="0" bIns="1905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>
                <a:solidFill>
                  <a:srgbClr val="1F497D"/>
                </a:solidFill>
                <a:latin typeface="微软雅黑"/>
                <a:ea typeface="微软雅黑"/>
                <a:cs typeface="微软雅黑"/>
              </a:rPr>
              <a:t>2027.01-2027.02</a:t>
            </a:r>
          </a:p>
        </p:txBody>
      </p:sp>
      <p:sp>
        <p:nvSpPr>
          <p:cNvPr id="28" name="drawio2pptx:shape:28">
            <a:extLst>
              <a:ext uri="{FF2B5EF4-FFF2-40B4-BE49-F238E27FC236}">
                <a16:creationId xmlns:a16="http://schemas.microsoft.com/office/drawing/2014/main" id="{D9CFA904-70DA-4646-BB22-27A7EB6809AB}"/>
              </a:ext>
            </a:extLst>
          </p:cNvPr>
          <p:cNvSpPr>
            <a:spLocks noGrp="1"/>
          </p:cNvSpPr>
          <p:nvPr/>
        </p:nvSpPr>
        <p:spPr>
          <a:xfrm>
            <a:off x="4286250" y="6419850"/>
            <a:ext cx="3429000" cy="3619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9050" rIns="0" bIns="1905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扩展验证与演示整合</a:t>
            </a:r>
          </a:p>
        </p:txBody>
      </p:sp>
      <p:sp>
        <p:nvSpPr>
          <p:cNvPr id="29" name="drawio2pptx:shape:29">
            <a:extLst>
              <a:ext uri="{FF2B5EF4-FFF2-40B4-BE49-F238E27FC236}">
                <a16:creationId xmlns:a16="http://schemas.microsoft.com/office/drawing/2014/main" id="{0DB09FD5-893C-42A4-8A47-29EC4E0AEC14}"/>
              </a:ext>
            </a:extLst>
          </p:cNvPr>
          <p:cNvSpPr>
            <a:spLocks noGrp="1"/>
          </p:cNvSpPr>
          <p:nvPr/>
        </p:nvSpPr>
        <p:spPr>
          <a:xfrm>
            <a:off x="4286250" y="6800850"/>
            <a:ext cx="6572250" cy="5905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9050" rIns="0" bIns="1905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选取少量 OOV 样本进行图像条件适配与演示整合。</a:t>
            </a:r>
          </a:p>
        </p:txBody>
      </p:sp>
      <p:sp>
        <p:nvSpPr>
          <p:cNvPr id="30" name="drawio2pptx:shape:30">
            <a:extLst>
              <a:ext uri="{FF2B5EF4-FFF2-40B4-BE49-F238E27FC236}">
                <a16:creationId xmlns:a16="http://schemas.microsoft.com/office/drawing/2014/main" id="{14EFA7BC-C6CE-4B8B-9A8A-BE80CE91D775}"/>
              </a:ext>
            </a:extLst>
          </p:cNvPr>
          <p:cNvSpPr>
            <a:spLocks noGrp="1"/>
          </p:cNvSpPr>
          <p:nvPr/>
        </p:nvSpPr>
        <p:spPr>
          <a:xfrm>
            <a:off x="2647950" y="7277100"/>
            <a:ext cx="133350" cy="3238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1" name="drawio2pptx:shape:31">
            <a:extLst>
              <a:ext uri="{FF2B5EF4-FFF2-40B4-BE49-F238E27FC236}">
                <a16:creationId xmlns:a16="http://schemas.microsoft.com/office/drawing/2014/main" id="{F1466CCF-80A9-45C1-AAD8-54FF2359C470}"/>
              </a:ext>
            </a:extLst>
          </p:cNvPr>
          <p:cNvSpPr>
            <a:spLocks noGrp="1"/>
          </p:cNvSpPr>
          <p:nvPr/>
        </p:nvSpPr>
        <p:spPr>
          <a:xfrm>
            <a:off x="1571625" y="7543800"/>
            <a:ext cx="2286000" cy="62865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2" name="drawio2pptx:shape:32">
            <a:extLst>
              <a:ext uri="{FF2B5EF4-FFF2-40B4-BE49-F238E27FC236}">
                <a16:creationId xmlns:a16="http://schemas.microsoft.com/office/drawing/2014/main" id="{F6E8AAA8-DEB8-4D54-B7FA-EC5490CF3B9A}"/>
              </a:ext>
            </a:extLst>
          </p:cNvPr>
          <p:cNvSpPr>
            <a:spLocks noGrp="1"/>
          </p:cNvSpPr>
          <p:nvPr/>
        </p:nvSpPr>
        <p:spPr>
          <a:xfrm>
            <a:off x="1571625" y="7543800"/>
            <a:ext cx="2286000" cy="6286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9050" rIns="0" bIns="1905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>
                <a:solidFill>
                  <a:srgbClr val="1F497D"/>
                </a:solidFill>
                <a:latin typeface="微软雅黑"/>
                <a:ea typeface="微软雅黑"/>
                <a:cs typeface="微软雅黑"/>
              </a:rPr>
              <a:t>2027.03-2027.05</a:t>
            </a:r>
          </a:p>
        </p:txBody>
      </p:sp>
      <p:sp>
        <p:nvSpPr>
          <p:cNvPr id="33" name="drawio2pptx:shape:33">
            <a:extLst>
              <a:ext uri="{FF2B5EF4-FFF2-40B4-BE49-F238E27FC236}">
                <a16:creationId xmlns:a16="http://schemas.microsoft.com/office/drawing/2014/main" id="{E6B8548E-B75C-4452-B46E-7E07EC1687AD}"/>
              </a:ext>
            </a:extLst>
          </p:cNvPr>
          <p:cNvSpPr>
            <a:spLocks noGrp="1"/>
          </p:cNvSpPr>
          <p:nvPr/>
        </p:nvSpPr>
        <p:spPr>
          <a:xfrm>
            <a:off x="4286250" y="7448550"/>
            <a:ext cx="3429000" cy="3619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9050" rIns="0" bIns="1905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论文写作与答辩准备</a:t>
            </a:r>
          </a:p>
        </p:txBody>
      </p:sp>
      <p:sp>
        <p:nvSpPr>
          <p:cNvPr id="34" name="drawio2pptx:shape:34">
            <a:extLst>
              <a:ext uri="{FF2B5EF4-FFF2-40B4-BE49-F238E27FC236}">
                <a16:creationId xmlns:a16="http://schemas.microsoft.com/office/drawing/2014/main" id="{73FB762C-B9F9-4B9F-889E-FB188F0103B1}"/>
              </a:ext>
            </a:extLst>
          </p:cNvPr>
          <p:cNvSpPr>
            <a:spLocks noGrp="1"/>
          </p:cNvSpPr>
          <p:nvPr/>
        </p:nvSpPr>
        <p:spPr>
          <a:xfrm>
            <a:off x="4286250" y="7829550"/>
            <a:ext cx="6572250" cy="5905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9050" rIns="0" bIns="1905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完成图表整理、结果复核、论文写作和答辩材料收束。</a:t>
            </a:r>
          </a:p>
        </p:txBody>
      </p:sp>
      <p:sp>
        <p:nvSpPr>
          <p:cNvPr id="35" name="drawio2pptx:shape:35">
            <a:extLst>
              <a:ext uri="{FF2B5EF4-FFF2-40B4-BE49-F238E27FC236}">
                <a16:creationId xmlns:a16="http://schemas.microsoft.com/office/drawing/2014/main" id="{C88EBD1F-FAFB-43B5-B1E8-0433FB94BBED}"/>
              </a:ext>
            </a:extLst>
          </p:cNvPr>
          <p:cNvSpPr>
            <a:spLocks noGrp="1"/>
          </p:cNvSpPr>
          <p:nvPr/>
        </p:nvSpPr>
        <p:spPr>
          <a:xfrm>
            <a:off x="12287250" y="2857500"/>
            <a:ext cx="4762500" cy="590550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200"/>
          </a:p>
        </p:txBody>
      </p:sp>
      <p:sp>
        <p:nvSpPr>
          <p:cNvPr id="36" name="drawio2pptx:shape:36">
            <a:extLst>
              <a:ext uri="{FF2B5EF4-FFF2-40B4-BE49-F238E27FC236}">
                <a16:creationId xmlns:a16="http://schemas.microsoft.com/office/drawing/2014/main" id="{458519E1-6CB6-471F-B51A-E270543C5C78}"/>
              </a:ext>
            </a:extLst>
          </p:cNvPr>
          <p:cNvSpPr>
            <a:spLocks noGrp="1"/>
          </p:cNvSpPr>
          <p:nvPr/>
        </p:nvSpPr>
        <p:spPr>
          <a:xfrm>
            <a:off x="12515850" y="3028950"/>
            <a:ext cx="4305300" cy="342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9050" rIns="0" bIns="1905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预期成果</a:t>
            </a:r>
          </a:p>
        </p:txBody>
      </p:sp>
      <p:sp>
        <p:nvSpPr>
          <p:cNvPr id="37" name="drawio2pptx:shape:37">
            <a:extLst>
              <a:ext uri="{FF2B5EF4-FFF2-40B4-BE49-F238E27FC236}">
                <a16:creationId xmlns:a16="http://schemas.microsoft.com/office/drawing/2014/main" id="{30870BDD-7317-4BC6-8F12-9F594BBC437B}"/>
              </a:ext>
            </a:extLst>
          </p:cNvPr>
          <p:cNvSpPr>
            <a:spLocks noGrp="1"/>
          </p:cNvSpPr>
          <p:nvPr/>
        </p:nvSpPr>
        <p:spPr>
          <a:xfrm>
            <a:off x="12515850" y="3448050"/>
            <a:ext cx="4305300" cy="51054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9050" rIns="0" bIns="1905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 i="0" u="none" dirty="0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1. </a:t>
            </a:r>
            <a:r>
              <a:rPr sz="2000" b="0" i="0" u="none" dirty="0" err="1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形成覆盖数据准备、模型训练、评测和推理的研究原型</a:t>
            </a:r>
            <a:r>
              <a:rPr sz="2000" b="0" i="0" u="none" dirty="0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。
</a:t>
            </a:r>
            <a:r>
              <a:rPr lang="en-US" sz="2000" b="0" i="0" u="none" dirty="0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2</a:t>
            </a:r>
            <a:r>
              <a:rPr sz="2000" b="0" i="0" u="none" dirty="0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. </a:t>
            </a:r>
            <a:r>
              <a:rPr sz="2000" b="0" i="0" u="none" dirty="0" err="1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建立以整字留出切分为核心的评测协议</a:t>
            </a:r>
            <a:r>
              <a:rPr sz="2000" b="0" i="0" u="none" dirty="0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。
</a:t>
            </a:r>
            <a:r>
              <a:rPr lang="en-US" sz="2000" dirty="0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3</a:t>
            </a:r>
            <a:r>
              <a:rPr sz="2000" b="0" i="0" u="none" dirty="0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. </a:t>
            </a:r>
            <a:r>
              <a:rPr sz="2000" b="0" i="0" u="none" dirty="0" err="1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通过小规模</a:t>
            </a:r>
            <a:r>
              <a:rPr sz="2000" b="0" i="0" u="none" dirty="0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 OOV </a:t>
            </a:r>
            <a:r>
              <a:rPr sz="2000" b="0" i="0" u="none" dirty="0" err="1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扩展验证统一条件接口的可迁移性</a:t>
            </a:r>
            <a:r>
              <a:rPr sz="2000" b="0" i="0" u="none" dirty="0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。
</a:t>
            </a:r>
            <a:r>
              <a:rPr lang="en-US" sz="2000" b="0" i="0" u="none" dirty="0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4</a:t>
            </a:r>
            <a:r>
              <a:rPr sz="2000" b="0" i="0" u="none" dirty="0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. </a:t>
            </a:r>
            <a:r>
              <a:rPr sz="2000" b="0" i="0" u="none" dirty="0" err="1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完成硕士开题后的持续研究与论文写作材料</a:t>
            </a:r>
            <a:r>
              <a:rPr sz="2000" b="0" i="0" u="none" dirty="0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4306978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rawio2pptx:shape:2">
            <a:extLst>
              <a:ext uri="{FF2B5EF4-FFF2-40B4-BE49-F238E27FC236}">
                <a16:creationId xmlns:a16="http://schemas.microsoft.com/office/drawing/2014/main" id="{C7D89429-094E-4D63-9689-468D0FDA3A3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drawio2pptx:shape:3">
            <a:extLst>
              <a:ext uri="{FF2B5EF4-FFF2-40B4-BE49-F238E27FC236}">
                <a16:creationId xmlns:a16="http://schemas.microsoft.com/office/drawing/2014/main" id="{79400874-0B77-492B-8427-C2D15E62965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143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drawio2pptx:shape:4">
            <a:extLst>
              <a:ext uri="{FF2B5EF4-FFF2-40B4-BE49-F238E27FC236}">
                <a16:creationId xmlns:a16="http://schemas.microsoft.com/office/drawing/2014/main" id="{5089EA23-6A1E-47B5-B8CF-C418C951BECD}"/>
              </a:ext>
            </a:extLst>
          </p:cNvPr>
          <p:cNvSpPr>
            <a:spLocks noGrp="1"/>
          </p:cNvSpPr>
          <p:nvPr/>
        </p:nvSpPr>
        <p:spPr>
          <a:xfrm>
            <a:off x="0" y="1143000"/>
            <a:ext cx="18288000" cy="5715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drawio2pptx:shape:5">
            <a:extLst>
              <a:ext uri="{FF2B5EF4-FFF2-40B4-BE49-F238E27FC236}">
                <a16:creationId xmlns:a16="http://schemas.microsoft.com/office/drawing/2014/main" id="{FF2D94BF-33F6-4A11-A45E-E9B8A6E4FC0D}"/>
              </a:ext>
            </a:extLst>
          </p:cNvPr>
          <p:cNvSpPr>
            <a:spLocks noGrp="1"/>
          </p:cNvSpPr>
          <p:nvPr/>
        </p:nvSpPr>
        <p:spPr>
          <a:xfrm>
            <a:off x="2857500" y="3143250"/>
            <a:ext cx="12573000" cy="6667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9050" rIns="0" bIns="1905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150" b="1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感谢各位老师的聆听与指导</a:t>
            </a:r>
          </a:p>
        </p:txBody>
      </p:sp>
      <p:sp>
        <p:nvSpPr>
          <p:cNvPr id="6" name="drawio2pptx:shape:6">
            <a:extLst>
              <a:ext uri="{FF2B5EF4-FFF2-40B4-BE49-F238E27FC236}">
                <a16:creationId xmlns:a16="http://schemas.microsoft.com/office/drawing/2014/main" id="{7515CC02-5CE9-4485-98DD-F83BD27A902E}"/>
              </a:ext>
            </a:extLst>
          </p:cNvPr>
          <p:cNvSpPr>
            <a:spLocks noGrp="1"/>
          </p:cNvSpPr>
          <p:nvPr/>
        </p:nvSpPr>
        <p:spPr>
          <a:xfrm>
            <a:off x="5334000" y="4476750"/>
            <a:ext cx="7620000" cy="9525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9050" rIns="0" bIns="1905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650" b="1" i="0" u="none">
                <a:solidFill>
                  <a:srgbClr val="1F497D"/>
                </a:solidFill>
                <a:latin typeface="微软雅黑"/>
                <a:ea typeface="微软雅黑"/>
                <a:cs typeface="微软雅黑"/>
              </a:rPr>
              <a:t>Q &amp; A</a:t>
            </a:r>
          </a:p>
        </p:txBody>
      </p:sp>
      <p:sp>
        <p:nvSpPr>
          <p:cNvPr id="7" name="drawio2pptx:shape:7">
            <a:extLst>
              <a:ext uri="{FF2B5EF4-FFF2-40B4-BE49-F238E27FC236}">
                <a16:creationId xmlns:a16="http://schemas.microsoft.com/office/drawing/2014/main" id="{94943163-0CB9-473B-B158-7A827D22CAC5}"/>
              </a:ext>
            </a:extLst>
          </p:cNvPr>
          <p:cNvSpPr>
            <a:spLocks noGrp="1"/>
          </p:cNvSpPr>
          <p:nvPr/>
        </p:nvSpPr>
        <p:spPr>
          <a:xfrm>
            <a:off x="3429000" y="6572250"/>
            <a:ext cx="11430000" cy="4191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9050" rIns="0" bIns="1905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>
                <a:solidFill>
                  <a:srgbClr val="4A5568"/>
                </a:solidFill>
                <a:latin typeface="微软雅黑"/>
                <a:ea typeface="微软雅黑"/>
                <a:cs typeface="微软雅黑"/>
              </a:rPr>
              <a:t>汇报人：黄子涵    指导教师：白凤波    2026 年 4 月</a:t>
            </a:r>
          </a:p>
        </p:txBody>
      </p:sp>
      <p:sp>
        <p:nvSpPr>
          <p:cNvPr id="8" name="drawio2pptx:shape:8">
            <a:extLst>
              <a:ext uri="{FF2B5EF4-FFF2-40B4-BE49-F238E27FC236}">
                <a16:creationId xmlns:a16="http://schemas.microsoft.com/office/drawing/2014/main" id="{06512ECE-7581-4EFC-BE91-C23A9B4691DD}"/>
              </a:ext>
            </a:extLst>
          </p:cNvPr>
          <p:cNvSpPr>
            <a:spLocks noGrp="1"/>
          </p:cNvSpPr>
          <p:nvPr/>
        </p:nvSpPr>
        <p:spPr>
          <a:xfrm>
            <a:off x="5143500" y="7334250"/>
            <a:ext cx="8001000" cy="381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19050" rIns="0" bIns="1905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>
                <a:solidFill>
                  <a:srgbClr val="1A1A2E"/>
                </a:solidFill>
                <a:latin typeface="微软雅黑"/>
                <a:ea typeface="微软雅黑"/>
                <a:cs typeface="微软雅黑"/>
              </a:rPr>
              <a:t>请各位老师批评指正</a:t>
            </a:r>
          </a:p>
        </p:txBody>
      </p:sp>
    </p:spTree>
    <p:extLst>
      <p:ext uri="{BB962C8B-B14F-4D97-AF65-F5344CB8AC3E}">
        <p14:creationId xmlns:p14="http://schemas.microsoft.com/office/powerpoint/2010/main" val="1804156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588</Words>
  <Application>Microsoft Office PowerPoint</Application>
  <DocSecurity>0</DocSecurity>
  <PresentationFormat>自定义</PresentationFormat>
  <Paragraphs>143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微软雅黑</vt:lpstr>
      <vt:lpstr>Calibri</vt:lpstr>
      <vt:lpstr>Calibri Light</vt:lpstr>
      <vt:lpstr>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ZH H</cp:lastModifiedBy>
  <cp:revision>1</cp:revision>
  <dcterms:created xsi:type="dcterms:W3CDTF">2026-04-21T07:45:25Z</dcterms:created>
  <dcterms:modified xsi:type="dcterms:W3CDTF">2026-04-21T08:44:15Z</dcterms:modified>
</cp:coreProperties>
</file>