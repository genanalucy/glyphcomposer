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b2d2b95cbc24f45" /><Relationship Type="http://schemas.openxmlformats.org/officeDocument/2006/relationships/extended-properties" Target="/docProps/app.xml" Id="R09fbecb066a04d77" /><Relationship Type="http://schemas.openxmlformats.org/officeDocument/2006/relationships/officeDocument" Target="/ppt/presentation.xml" Id="R1f27042491664c9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75a787d440d49de"/>
  </p:sldMasterIdLst>
  <p:notesMasterIdLst>
    <p:notesMasterId xmlns:r="http://schemas.openxmlformats.org/officeDocument/2006/relationships" r:id="R4b7e86c8706c4ccb"/>
  </p:notesMasterIdLst>
  <p:sldIdLst>
    <p:sldId xmlns:r="http://schemas.openxmlformats.org/officeDocument/2006/relationships" id="256" r:id="Re5b69dc700894007"/>
    <p:sldId xmlns:r="http://schemas.openxmlformats.org/officeDocument/2006/relationships" id="257" r:id="Rb7a3102d0bb24a5e"/>
    <p:sldId xmlns:r="http://schemas.openxmlformats.org/officeDocument/2006/relationships" id="258" r:id="Rebc10171d5514996"/>
    <p:sldId xmlns:r="http://schemas.openxmlformats.org/officeDocument/2006/relationships" id="259" r:id="Rbbc33cab4b554406"/>
    <p:sldId xmlns:r="http://schemas.openxmlformats.org/officeDocument/2006/relationships" id="260" r:id="R6a4cb9f30dfe44ba"/>
    <p:sldId xmlns:r="http://schemas.openxmlformats.org/officeDocument/2006/relationships" id="261" r:id="Rcfe7dc53e78344e8"/>
    <p:sldId xmlns:r="http://schemas.openxmlformats.org/officeDocument/2006/relationships" id="262" r:id="R4f8de2c8ccb94748"/>
    <p:sldId xmlns:r="http://schemas.openxmlformats.org/officeDocument/2006/relationships" id="263" r:id="R3d2802806dbb49b6"/>
    <p:sldId xmlns:r="http://schemas.openxmlformats.org/officeDocument/2006/relationships" id="264" r:id="Re38ede5ab9d246f8"/>
    <p:sldId xmlns:r="http://schemas.openxmlformats.org/officeDocument/2006/relationships" id="265" r:id="R55bc24ac1f5a4d12"/>
    <p:sldId xmlns:r="http://schemas.openxmlformats.org/officeDocument/2006/relationships" id="266" r:id="Rbd8dd9921e924f49"/>
    <p:sldId xmlns:r="http://schemas.openxmlformats.org/officeDocument/2006/relationships" id="267" r:id="R144fb00a13f44728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5a787d440d49de" /><Relationship Type="http://schemas.openxmlformats.org/officeDocument/2006/relationships/theme" Target="/ppt/theme/theme1.xml" Id="Rc45e4e4595654a20" /><Relationship Type="http://schemas.openxmlformats.org/officeDocument/2006/relationships/notesMaster" Target="/ppt/notesMasters/notesMaster1.xml" Id="R4b7e86c8706c4ccb" /><Relationship Type="http://schemas.openxmlformats.org/officeDocument/2006/relationships/presProps" Target="/ppt/presProps.xml" Id="R7a52d355ab014918" /><Relationship Type="http://schemas.openxmlformats.org/officeDocument/2006/relationships/viewProps" Target="/ppt/viewProps.xml" Id="R5fc7d3d7aa6e48ee" /><Relationship Type="http://schemas.openxmlformats.org/officeDocument/2006/relationships/tableStyles" Target="/ppt/tableStyles.xml" Id="R5ded9855c7b34b4b" /><Relationship Type="http://schemas.openxmlformats.org/officeDocument/2006/relationships/slide" Target="/ppt/slides/slide1.xml" Id="Re5b69dc700894007" /><Relationship Type="http://schemas.openxmlformats.org/officeDocument/2006/relationships/slide" Target="/ppt/slides/slide2.xml" Id="Rb7a3102d0bb24a5e" /><Relationship Type="http://schemas.openxmlformats.org/officeDocument/2006/relationships/slide" Target="/ppt/slides/slide3.xml" Id="Rebc10171d5514996" /><Relationship Type="http://schemas.openxmlformats.org/officeDocument/2006/relationships/slide" Target="/ppt/slides/slide4.xml" Id="Rbbc33cab4b554406" /><Relationship Type="http://schemas.openxmlformats.org/officeDocument/2006/relationships/slide" Target="/ppt/slides/slide5.xml" Id="R6a4cb9f30dfe44ba" /><Relationship Type="http://schemas.openxmlformats.org/officeDocument/2006/relationships/slide" Target="/ppt/slides/slide6.xml" Id="Rcfe7dc53e78344e8" /><Relationship Type="http://schemas.openxmlformats.org/officeDocument/2006/relationships/slide" Target="/ppt/slides/slide7.xml" Id="R4f8de2c8ccb94748" /><Relationship Type="http://schemas.openxmlformats.org/officeDocument/2006/relationships/slide" Target="/ppt/slides/slide8.xml" Id="R3d2802806dbb49b6" /><Relationship Type="http://schemas.openxmlformats.org/officeDocument/2006/relationships/slide" Target="/ppt/slides/slide9.xml" Id="Re38ede5ab9d246f8" /><Relationship Type="http://schemas.openxmlformats.org/officeDocument/2006/relationships/slide" Target="/ppt/slides/slide10.xml" Id="R55bc24ac1f5a4d12" /><Relationship Type="http://schemas.openxmlformats.org/officeDocument/2006/relationships/slide" Target="/ppt/slides/slide11.xml" Id="Rbd8dd9921e924f49" /><Relationship Type="http://schemas.openxmlformats.org/officeDocument/2006/relationships/slide" Target="/ppt/slides/slide12.xml" Id="R144fb00a13f4472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f90cab1f2054df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67f2980ab1543c8" /><Relationship Type="http://schemas.openxmlformats.org/officeDocument/2006/relationships/notesMaster" Target="/ppt/notesMasters/notesMaster1.xml" Id="Rd524dcd63619432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6f836113463450c" /><Relationship Type="http://schemas.openxmlformats.org/officeDocument/2006/relationships/notesMaster" Target="/ppt/notesMasters/notesMaster1.xml" Id="R709d2b94868f49e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177bac14eab4d2f" /><Relationship Type="http://schemas.openxmlformats.org/officeDocument/2006/relationships/notesMaster" Target="/ppt/notesMasters/notesMaster1.xml" Id="R6f168c08727d498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e84a058d8ae4ebd" /><Relationship Type="http://schemas.openxmlformats.org/officeDocument/2006/relationships/notesMaster" Target="/ppt/notesMasters/notesMaster1.xml" Id="R9cf50d631257413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b1824d7be5b4a50" /><Relationship Type="http://schemas.openxmlformats.org/officeDocument/2006/relationships/notesMaster" Target="/ppt/notesMasters/notesMaster1.xml" Id="R8b0e1317777740c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eaeb32af1e847cb" /><Relationship Type="http://schemas.openxmlformats.org/officeDocument/2006/relationships/notesMaster" Target="/ppt/notesMasters/notesMaster1.xml" Id="R73145ccd4ce04d0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8e16be573554e8e" /><Relationship Type="http://schemas.openxmlformats.org/officeDocument/2006/relationships/notesMaster" Target="/ppt/notesMasters/notesMaster1.xml" Id="Rd235bdcb078940b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9b4a46327fe41dd" /><Relationship Type="http://schemas.openxmlformats.org/officeDocument/2006/relationships/notesMaster" Target="/ppt/notesMasters/notesMaster1.xml" Id="R3ab2a87217c94cb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c786b75756c494e" /><Relationship Type="http://schemas.openxmlformats.org/officeDocument/2006/relationships/notesMaster" Target="/ppt/notesMasters/notesMaster1.xml" Id="R4e49f0d7a1074d8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1c51981f1674579" /><Relationship Type="http://schemas.openxmlformats.org/officeDocument/2006/relationships/notesMaster" Target="/ppt/notesMasters/notesMaster1.xml" Id="R6c27cdeed40445c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778ae3b3ff84df9" /><Relationship Type="http://schemas.openxmlformats.org/officeDocument/2006/relationships/notesMaster" Target="/ppt/notesMasters/notesMaster1.xml" Id="Rd1b2d1d54625456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ce6b79b2f334744" /><Relationship Type="http://schemas.openxmlformats.org/officeDocument/2006/relationships/notesMaster" Target="/ppt/notesMasters/notesMaster1.xml" Id="R6d05404ad02e438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83ddea344e409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ec1bb890294e8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8b688114b14d0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db12f5f93b443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6546442e11486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e2c24464964e6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fc95b21b3a432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c918482d854ee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ee82eebdfe406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e0799208dc4b0e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35059ddf4b44e1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16D5B7F-0F9B-40DE-BACF-A249632246FA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526899B-7B59-4139-9C50-DB7BF87BDB04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B0D7C5-8F9A-40AB-8B90-8B321078E0A9}"/>
              </a:ext>
            </a:extLst>
          </p:cNvPr>
          <p:cNvSpPr/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32BB951-AD52-4D39-8F0C-20331F59FAAF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A179153-106F-46E3-BAA2-F506F913C008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72CCF0-01E6-4599-883E-8D98C636C15F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/>
            </a:lvl1pPr>
          </a:lstStyle>
          <a:p xmlns:a="http://schemas.openxmlformats.org/drawingml/2006/main"/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62FF992-CF29-4965-A53E-DBF5279FBEA7}"/>
              </a:ext>
            </a:extLst>
          </p:cNvPr>
          <p:cNvSpPr/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/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2ED38C0-4B5C-45D3-9681-D3D3E0C51CB0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29CBD78-5FDE-4D80-96EE-FEE60448E3CF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5A13672-8CCC-4D46-8460-DA7BE89C0125}"/>
              </a:ext>
            </a:extLst>
          </p:cNvPr>
          <p:cNvSpPr/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5D8C0DA-48ED-475F-958D-FA18ED623996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8E24F45-7666-45F7-9CE4-D6AC5910A09E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E180ECB-EB93-4D5C-89B5-9BC48010A879}"/>
              </a:ext>
            </a:extLst>
          </p:cNvPr>
          <p:cNvSpPr/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/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868735C-6575-4358-8A02-4116BB3DD15D}"/>
              </a:ext>
            </a:extLst>
          </p:cNvPr>
          <p:cNvSpPr/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07C497F-43DB-4ED6-91AC-BE39ACE6A579}"/>
              </a:ext>
            </a:extLst>
          </p:cNvPr>
          <p:cNvSpPr/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2C806AE-CA4D-4F56-A8DB-596D7AC07756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381541A-D8C4-43B9-8C3B-52E90BD15DC3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7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B7E24A3-4565-45E4-8721-A921D6FD4B36}"/>
              </a:ext>
            </a:extLst>
          </p:cNvPr>
          <p:cNvSpPr/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1959CC4-23BA-4FB8-8598-99FB789699F9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AD31FD2-9FE6-4D2C-A7CB-07B2F2653295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8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CB3D1B6-2071-4652-8527-2D52F701A79B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28B30D3-E4BA-4D04-B4B2-D214E9F295DC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9.xml><?xml version="1.0" encoding="utf-8"?>
<p:sldLayout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54BFAEE-FA35-4783-A3D8-16DDFD746986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DAAAE61-0E12-453A-83E6-EE5C96653B76}"/>
              </a:ext>
            </a:extLst>
          </p:cNvPr>
          <p:cNvSpPr/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/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C221D3D-E6AE-4E62-AE05-BCBFD951FD42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06805E9-726A-4CA5-9436-916B809BD449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10.xml><?xml version="1.0" encoding="utf-8"?>
<p:sldLayout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3B461A-2522-4093-A7F3-E82834480C7B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/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1B3C9CC6-8561-451D-B087-95A409B9F596}"/>
              </a:ext>
            </a:extLst>
          </p:cNvPr>
          <p:cNvSpPr/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6D10818-22BF-4D19-BC94-E76D9DC033A8}"/>
              </a:ext>
            </a:extLst>
          </p:cNvPr>
          <p:cNvSpPr/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/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D14CA3F-9C18-4D07-907E-E83D5625E57A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C7F5A48-C497-4988-8941-EAA33F33BC0B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11.xml><?xml version="1.0" encoding="utf-8"?>
<p:sldLayout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E87EF9C-EFAA-4F76-B651-0943E78ABE76}"/>
              </a:ext>
            </a:extLst>
          </p:cNvPr>
          <p:cNvSpPr/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4CA9CEC-6616-40DA-8B2D-F4535E645C88}"/>
              </a:ext>
            </a:extLst>
          </p:cNvPr>
          <p:cNvSpPr/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/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D0C9CEF-1FD9-4875-900B-D7B3F33E47FC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F8027A8-BB0B-4710-B2B4-A0CA934A5FC0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12.xml><?xml version="1.0" encoding="utf-8"?>
<p:sldLayout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AB0373B-68D4-4F93-AF9F-4E88C4FCBEB5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/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98F27AA-27C4-41BA-9E54-6DC9E5968008}"/>
              </a:ext>
            </a:extLst>
          </p:cNvPr>
          <p:cNvSpPr/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/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E1C9D03-96EF-4C91-A764-56D50A1B4E42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DBC9473-4711-4B3B-BA98-EC1F037B0F66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653501c2373e4b44" /><Relationship Type="http://schemas.openxmlformats.org/officeDocument/2006/relationships/slideLayout" Target="/ppt/slideLayouts/slideLayout2.xml" Id="R75fe1eb44f454565" /><Relationship Type="http://schemas.openxmlformats.org/officeDocument/2006/relationships/slideLayout" Target="/ppt/slideLayouts/slideLayout3.xml" Id="Rbc250bb78c944178" /><Relationship Type="http://schemas.openxmlformats.org/officeDocument/2006/relationships/slideLayout" Target="/ppt/slideLayouts/slideLayout4.xml" Id="Re0c98f83673249b1" /><Relationship Type="http://schemas.openxmlformats.org/officeDocument/2006/relationships/slideLayout" Target="/ppt/slideLayouts/slideLayout5.xml" Id="R587cf8da69904d4f" /><Relationship Type="http://schemas.openxmlformats.org/officeDocument/2006/relationships/slideLayout" Target="/ppt/slideLayouts/slideLayout6.xml" Id="R690d8782b7b94f85" /><Relationship Type="http://schemas.openxmlformats.org/officeDocument/2006/relationships/slideLayout" Target="/ppt/slideLayouts/slideLayout7.xml" Id="R66f90afbaff3465a" /><Relationship Type="http://schemas.openxmlformats.org/officeDocument/2006/relationships/slideLayout" Target="/ppt/slideLayouts/slideLayout8.xml" Id="R765e9dc9cd074e1d" /><Relationship Type="http://schemas.openxmlformats.org/officeDocument/2006/relationships/slideLayout" Target="/ppt/slideLayouts/slideLayout9.xml" Id="R454a8a23cc474d92" /><Relationship Type="http://schemas.openxmlformats.org/officeDocument/2006/relationships/slideLayout" Target="/ppt/slideLayouts/slideLayout10.xml" Id="Rcc1f00b0d8684dcd" /><Relationship Type="http://schemas.openxmlformats.org/officeDocument/2006/relationships/slideLayout" Target="/ppt/slideLayouts/slideLayout11.xml" Id="Rb1c0817fc75d48aa" /><Relationship Type="http://schemas.openxmlformats.org/officeDocument/2006/relationships/slideLayout" Target="/ppt/slideLayouts/slideLayout12.xml" Id="Rca000750fc95467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F3BD1BB-47BD-44FF-BD38-4E5FD06B4F42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57C56F6-42BB-4241-899B-50A5B68AD661}"/>
              </a:ext>
            </a:extLst>
          </p:cNvPr>
          <p:cNvSpPr/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B7684FD-153B-4998-9042-BEAB783861A0}"/>
              </a:ext>
            </a:extLst>
          </p:cNvPr>
          <p:cNvSpPr/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203375-07D7-46B6-AB67-D57F2C00FC13}"/>
              </a:ext>
            </a:extLst>
          </p:cNvPr>
          <p:cNvSpPr/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96790E7-8DBB-4246-A197-849B4CB5E8A7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5fe1eb44f454565"/>
    <p:sldLayoutId xmlns:r="http://schemas.openxmlformats.org/officeDocument/2006/relationships" id="2147483650" r:id="Rbc250bb78c944178"/>
    <p:sldLayoutId xmlns:r="http://schemas.openxmlformats.org/officeDocument/2006/relationships" id="2147483651" r:id="Re0c98f83673249b1"/>
    <p:sldLayoutId xmlns:r="http://schemas.openxmlformats.org/officeDocument/2006/relationships" id="2147483652" r:id="R587cf8da69904d4f"/>
    <p:sldLayoutId xmlns:r="http://schemas.openxmlformats.org/officeDocument/2006/relationships" id="2147483653" r:id="R690d8782b7b94f85"/>
    <p:sldLayoutId xmlns:r="http://schemas.openxmlformats.org/officeDocument/2006/relationships" id="2147483654" r:id="R66f90afbaff3465a"/>
    <p:sldLayoutId xmlns:r="http://schemas.openxmlformats.org/officeDocument/2006/relationships" id="2147483655" r:id="R765e9dc9cd074e1d"/>
    <p:sldLayoutId xmlns:r="http://schemas.openxmlformats.org/officeDocument/2006/relationships" id="2147483656" r:id="R454a8a23cc474d92"/>
    <p:sldLayoutId xmlns:r="http://schemas.openxmlformats.org/officeDocument/2006/relationships" id="2147483657" r:id="Rcc1f00b0d8684dcd"/>
    <p:sldLayoutId xmlns:r="http://schemas.openxmlformats.org/officeDocument/2006/relationships" id="2147483658" r:id="Rb1c0817fc75d48aa"/>
    <p:sldLayoutId xmlns:r="http://schemas.openxmlformats.org/officeDocument/2006/relationships" id="2147483659" r:id="Rca000750fc954679"/>
  </p:sldLayoutIdLst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3a5664defc9e40cb" /><Relationship Type="http://schemas.openxmlformats.org/officeDocument/2006/relationships/image" Target="/ppt/media/image.png" Id="Rd65c11aaa1204e42" /><Relationship Type="http://schemas.openxmlformats.org/officeDocument/2006/relationships/image" Target="/ppt/media/image2.png" Id="Re1b32f0d17724e90" /><Relationship Type="http://schemas.openxmlformats.org/officeDocument/2006/relationships/image" Target="/ppt/media/image3.png" Id="Rd23362ad07784fcf" /><Relationship Type="http://schemas.openxmlformats.org/officeDocument/2006/relationships/image" Target="/ppt/media/image4.png" Id="R9c3a93e679654d23" /><Relationship Type="http://schemas.openxmlformats.org/officeDocument/2006/relationships/notesSlide" Target="/ppt/notesSlides/notesSlide1.xml" Id="R428131f760e843a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fe1adac76cd44384" /><Relationship Type="http://schemas.openxmlformats.org/officeDocument/2006/relationships/notesSlide" Target="/ppt/notesSlides/notesSlide2.xml" Id="Rb92f30de065f43d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f17bfb202b754dc1" /><Relationship Type="http://schemas.openxmlformats.org/officeDocument/2006/relationships/image" Target="/ppt/media/image5.png" Id="Rbf984fe5f3fd4b16" /><Relationship Type="http://schemas.openxmlformats.org/officeDocument/2006/relationships/image" Target="/ppt/media/image6.png" Id="R49fd7c27cfd644df" /><Relationship Type="http://schemas.openxmlformats.org/officeDocument/2006/relationships/image" Target="/ppt/media/image7.png" Id="R9b6e3f8bd49b44f7" /><Relationship Type="http://schemas.openxmlformats.org/officeDocument/2006/relationships/image" Target="/ppt/media/image8.png" Id="R13039629090647e7" /><Relationship Type="http://schemas.openxmlformats.org/officeDocument/2006/relationships/notesSlide" Target="/ppt/notesSlides/notesSlide3.xml" Id="R526a5c905789470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eae47f43a8d0459f" /><Relationship Type="http://schemas.openxmlformats.org/officeDocument/2006/relationships/notesSlide" Target="/ppt/notesSlides/notesSlide4.xml" Id="R0f3598d79c76469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bb0dcdcf41f54cac" /><Relationship Type="http://schemas.openxmlformats.org/officeDocument/2006/relationships/notesSlide" Target="/ppt/notesSlides/notesSlide5.xml" Id="R5afdcdacf7be41a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4bbdf1b252c5480f" /><Relationship Type="http://schemas.openxmlformats.org/officeDocument/2006/relationships/image" Target="/ppt/media/image9.png" Id="R85df0047d51d4565" /><Relationship Type="http://schemas.openxmlformats.org/officeDocument/2006/relationships/image" Target="/ppt/media/image10.png" Id="R15f777916f6a4d86" /><Relationship Type="http://schemas.openxmlformats.org/officeDocument/2006/relationships/image" Target="/ppt/media/image11.png" Id="Rcb5ae76cd9bc47e6" /><Relationship Type="http://schemas.openxmlformats.org/officeDocument/2006/relationships/image" Target="/ppt/media/image12.png" Id="R16a6abb29dc544ac" /><Relationship Type="http://schemas.openxmlformats.org/officeDocument/2006/relationships/image" Target="/ppt/media/image13.png" Id="R447458f65a2d461f" /><Relationship Type="http://schemas.openxmlformats.org/officeDocument/2006/relationships/image" Target="/ppt/media/image14.png" Id="R91dae80b5ad145a3" /><Relationship Type="http://schemas.openxmlformats.org/officeDocument/2006/relationships/notesSlide" Target="/ppt/notesSlides/notesSlide6.xml" Id="R9fdf822446d84e0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94e620d5ad2c4380" /><Relationship Type="http://schemas.openxmlformats.org/officeDocument/2006/relationships/notesSlide" Target="/ppt/notesSlides/notesSlide7.xml" Id="R5dcfab8c43ad43d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bb90ea1d4cd54de8" /><Relationship Type="http://schemas.openxmlformats.org/officeDocument/2006/relationships/notesSlide" Target="/ppt/notesSlides/notesSlide8.xml" Id="Raeeede38d5fb432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db3833305bae4581" /><Relationship Type="http://schemas.openxmlformats.org/officeDocument/2006/relationships/notesSlide" Target="/ppt/notesSlides/notesSlide9.xml" Id="R2a871dfc2b884a6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2627adc7020042b8" /><Relationship Type="http://schemas.openxmlformats.org/officeDocument/2006/relationships/notesSlide" Target="/ppt/notesSlides/notesSlide10.xml" Id="Rd5bede64b5ff457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7bb1da8b8ede4eb8" /><Relationship Type="http://schemas.openxmlformats.org/officeDocument/2006/relationships/notesSlide" Target="/ppt/notesSlides/notesSlide11.xml" Id="R2cad1495977c4f5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86c46028c6b842fa" /><Relationship Type="http://schemas.openxmlformats.org/officeDocument/2006/relationships/notesSlide" Target="/ppt/notesSlides/notesSlide12.xml" Id="R5805033d0f3a4fc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rawio2pptx:shape:2">
            <a:extLst xmlns:a="http://schemas.openxmlformats.org/drawingml/2006/main">
              <a:ext uri="{FF2B5EF4-FFF2-40B4-BE49-F238E27FC236}">
                <a16:creationId xmlns:a16="http://schemas.microsoft.com/office/drawing/2014/main" id="{9E9EE1DD-256D-4172-BFFA-4AC9CD208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drawio2pptx:shape:3">
            <a:extLst xmlns:a="http://schemas.openxmlformats.org/drawingml/2006/main">
              <a:ext uri="{FF2B5EF4-FFF2-40B4-BE49-F238E27FC236}">
                <a16:creationId xmlns:a16="http://schemas.microsoft.com/office/drawing/2014/main" id="{DE5AD157-ED19-4184-881D-3839AB7BA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97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drawio2pptx:shape:4">
            <a:extLst xmlns:a="http://schemas.openxmlformats.org/drawingml/2006/main">
              <a:ext uri="{FF2B5EF4-FFF2-40B4-BE49-F238E27FC236}">
                <a16:creationId xmlns:a16="http://schemas.microsoft.com/office/drawing/2014/main" id="{C15E714C-147B-43D2-AB72-3275FEFC0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0"/>
            <a:ext cx="18288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drawio2pptx:shape:5">
            <a:extLst xmlns:a="http://schemas.openxmlformats.org/drawingml/2006/main">
              <a:ext uri="{FF2B5EF4-FFF2-40B4-BE49-F238E27FC236}">
                <a16:creationId xmlns:a16="http://schemas.microsoft.com/office/drawing/2014/main" id="{9B0B5369-9BD2-40B1-A283-FD87BC0EE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66700"/>
            <a:ext cx="1828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广西民族大学硕士学位论文开题答辩</a:t>
            </a:r>
          </a:p>
        </p:txBody>
      </p:sp>
      <p:sp>
        <p:nvSpPr>
          <p:cNvPr id="6" name="drawio2pptx:shape:6">
            <a:extLst xmlns:a="http://schemas.openxmlformats.org/drawingml/2006/main">
              <a:ext uri="{FF2B5EF4-FFF2-40B4-BE49-F238E27FC236}">
                <a16:creationId xmlns:a16="http://schemas.microsoft.com/office/drawing/2014/main" id="{A3422978-8388-4227-A293-142699F2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9334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基于部件与结构条件约束的
方块字字形生成方法研究</a:t>
            </a:r>
          </a:p>
        </p:txBody>
      </p:sp>
      <p:sp>
        <p:nvSpPr>
          <p:cNvPr id="7" name="drawio2pptx:shape:7">
            <a:extLst xmlns:a="http://schemas.openxmlformats.org/drawingml/2006/main">
              <a:ext uri="{FF2B5EF4-FFF2-40B4-BE49-F238E27FC236}">
                <a16:creationId xmlns:a16="http://schemas.microsoft.com/office/drawing/2014/main" id="{10FEC287-FB82-4EF7-AAD4-4C5420B90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91000"/>
            <a:ext cx="381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>
                <a:solidFill>
                  <a:srgbClr val="4A5568"/>
                </a:solidFill>
                <a:latin typeface="微软雅黑"/>
                <a:ea typeface="微软雅黑"/>
                <a:cs typeface="微软雅黑"/>
              </a:rPr>
              <a:t>人工智能学院
计算机科学与技术</a:t>
            </a:r>
          </a:p>
        </p:txBody>
      </p:sp>
      <p:sp>
        <p:nvSpPr>
          <p:cNvPr id="8" name="drawio2pptx:shape:8">
            <a:extLst xmlns:a="http://schemas.openxmlformats.org/drawingml/2006/main">
              <a:ext uri="{FF2B5EF4-FFF2-40B4-BE49-F238E27FC236}">
                <a16:creationId xmlns:a16="http://schemas.microsoft.com/office/drawing/2014/main" id="{43F85E1C-973D-44AF-904C-35350E5F9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10250"/>
            <a:ext cx="4000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汇报人：黄子涵
指导教师：白凤波
时间：2026 年 4 月</a:t>
            </a:r>
          </a:p>
        </p:txBody>
      </p:sp>
      <p:sp>
        <p:nvSpPr>
          <p:cNvPr id="9" name="drawio2pptx:shape:9">
            <a:extLst xmlns:a="http://schemas.openxmlformats.org/drawingml/2006/main">
              <a:ext uri="{FF2B5EF4-FFF2-40B4-BE49-F238E27FC236}">
                <a16:creationId xmlns:a16="http://schemas.microsoft.com/office/drawing/2014/main" id="{24440936-90E6-4419-8433-63B1A87BE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0" y="2000250"/>
            <a:ext cx="4857750" cy="5810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drawio2pptx:shape:10">
            <a:extLst xmlns:a="http://schemas.openxmlformats.org/drawingml/2006/main">
              <a:ext uri="{FF2B5EF4-FFF2-40B4-BE49-F238E27FC236}">
                <a16:creationId xmlns:a16="http://schemas.microsoft.com/office/drawing/2014/main" id="{9DD3B6B9-3302-4299-82C0-9D12A65A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0" y="2266950"/>
            <a:ext cx="485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研究对象示意</a:t>
            </a:r>
          </a:p>
        </p:txBody>
      </p:sp>
      <p:sp>
        <p:nvSpPr>
          <p:cNvPr id="11" name="drawio2pptx:shape:11">
            <a:extLst xmlns:a="http://schemas.openxmlformats.org/drawingml/2006/main">
              <a:ext uri="{FF2B5EF4-FFF2-40B4-BE49-F238E27FC236}">
                <a16:creationId xmlns:a16="http://schemas.microsoft.com/office/drawing/2014/main" id="{2EFDD64D-D5C0-4992-9CBC-8E2285F9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0625" y="3048000"/>
            <a:ext cx="1428750" cy="1809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drawio2pptx:shape:12">
            <a:extLst xmlns:a="http://schemas.openxmlformats.org/drawingml/2006/main">
              <a:ext uri="{FF2B5EF4-FFF2-40B4-BE49-F238E27FC236}">
                <a16:creationId xmlns:a16="http://schemas.microsoft.com/office/drawing/2014/main" id="{E648696C-F23C-4C9B-9432-6333890D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53975" y="3181350"/>
            <a:ext cx="11620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drawio2pptx:shape:13">
            <a:extLst xmlns:a="http://schemas.openxmlformats.org/drawingml/2006/main">
              <a:ext uri="{FF2B5EF4-FFF2-40B4-BE49-F238E27FC236}">
                <a16:creationId xmlns:a16="http://schemas.microsoft.com/office/drawing/2014/main" id="{7F96E3D2-745E-44A3-916C-23225864E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44767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左右结构</a:t>
            </a:r>
          </a:p>
        </p:txBody>
      </p:sp>
      <p:sp>
        <p:nvSpPr>
          <p:cNvPr id="14" name="drawio2pptx:shape:14">
            <a:extLst xmlns:a="http://schemas.openxmlformats.org/drawingml/2006/main">
              <a:ext uri="{FF2B5EF4-FFF2-40B4-BE49-F238E27FC236}">
                <a16:creationId xmlns:a16="http://schemas.microsoft.com/office/drawing/2014/main" id="{EF09EEF0-664E-401D-8343-3217D5EB5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3048000"/>
            <a:ext cx="1428750" cy="1809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drawio2pptx:shape:15">
            <a:extLst xmlns:a="http://schemas.openxmlformats.org/drawingml/2006/main">
              <a:ext uri="{FF2B5EF4-FFF2-40B4-BE49-F238E27FC236}">
                <a16:creationId xmlns:a16="http://schemas.microsoft.com/office/drawing/2014/main" id="{165797DA-5E84-4A88-B9EC-8A959A579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25600" y="3181350"/>
            <a:ext cx="11620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drawio2pptx:shape:16">
            <a:extLst xmlns:a="http://schemas.openxmlformats.org/drawingml/2006/main">
              <a:ext uri="{FF2B5EF4-FFF2-40B4-BE49-F238E27FC236}">
                <a16:creationId xmlns:a16="http://schemas.microsoft.com/office/drawing/2014/main" id="{F88E28AF-DE10-4C19-BDE7-5131857F3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44767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全包围结构</a:t>
            </a:r>
          </a:p>
        </p:txBody>
      </p:sp>
      <p:sp>
        <p:nvSpPr>
          <p:cNvPr id="17" name="drawio2pptx:shape:17">
            <a:extLst xmlns:a="http://schemas.openxmlformats.org/drawingml/2006/main">
              <a:ext uri="{FF2B5EF4-FFF2-40B4-BE49-F238E27FC236}">
                <a16:creationId xmlns:a16="http://schemas.microsoft.com/office/drawing/2014/main" id="{CFD4F320-4B35-4E75-BF29-294D7F808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0625" y="5143500"/>
            <a:ext cx="1428750" cy="1809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drawio2pptx:shape:18">
            <a:extLst xmlns:a="http://schemas.openxmlformats.org/drawingml/2006/main">
              <a:ext uri="{FF2B5EF4-FFF2-40B4-BE49-F238E27FC236}">
                <a16:creationId xmlns:a16="http://schemas.microsoft.com/office/drawing/2014/main" id="{75794476-460B-481B-8DB6-5699A7F0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53975" y="5276850"/>
            <a:ext cx="11620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drawio2pptx:shape:19">
            <a:extLst xmlns:a="http://schemas.openxmlformats.org/drawingml/2006/main">
              <a:ext uri="{FF2B5EF4-FFF2-40B4-BE49-F238E27FC236}">
                <a16:creationId xmlns:a16="http://schemas.microsoft.com/office/drawing/2014/main" id="{150C918E-AA3D-4E6A-8A0E-42D64B90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65722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半包围结构</a:t>
            </a:r>
          </a:p>
        </p:txBody>
      </p:sp>
      <p:sp>
        <p:nvSpPr>
          <p:cNvPr id="20" name="drawio2pptx:shape:20">
            <a:extLst xmlns:a="http://schemas.openxmlformats.org/drawingml/2006/main">
              <a:ext uri="{FF2B5EF4-FFF2-40B4-BE49-F238E27FC236}">
                <a16:creationId xmlns:a16="http://schemas.microsoft.com/office/drawing/2014/main" id="{4D570D2F-DC4B-4B4E-A1EF-9831E2F8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5143500"/>
            <a:ext cx="1428750" cy="1809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drawio2pptx:shape:21">
            <a:extLst xmlns:a="http://schemas.openxmlformats.org/drawingml/2006/main">
              <a:ext uri="{FF2B5EF4-FFF2-40B4-BE49-F238E27FC236}">
                <a16:creationId xmlns:a16="http://schemas.microsoft.com/office/drawing/2014/main" id="{A27D5F5E-84F4-4822-9139-F871E8646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25600" y="5276850"/>
            <a:ext cx="11620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drawio2pptx:shape:22">
            <a:extLst xmlns:a="http://schemas.openxmlformats.org/drawingml/2006/main">
              <a:ext uri="{FF2B5EF4-FFF2-40B4-BE49-F238E27FC236}">
                <a16:creationId xmlns:a16="http://schemas.microsoft.com/office/drawing/2014/main" id="{419FB0D5-5A3A-4054-9EA8-37D353F90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65722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组合生成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5c11aaa1204e42"/>
          <a:stretch xmlns:a="http://schemas.openxmlformats.org/drawingml/2006/main"/>
        </p:blipFill>
        <p:spPr>
          <a:xfrm xmlns:a="http://schemas.openxmlformats.org/drawingml/2006/main">
            <a:off x="12773025" y="3181350"/>
            <a:ext cx="1123950" cy="1123950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b32f0d17724e90"/>
          <a:stretch xmlns:a="http://schemas.openxmlformats.org/drawingml/2006/main"/>
        </p:blipFill>
        <p:spPr>
          <a:xfrm xmlns:a="http://schemas.openxmlformats.org/drawingml/2006/main">
            <a:off x="14344650" y="3181350"/>
            <a:ext cx="1123950" cy="1123950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3362ad07784fcf"/>
          <a:stretch xmlns:a="http://schemas.openxmlformats.org/drawingml/2006/main"/>
        </p:blipFill>
        <p:spPr>
          <a:xfrm xmlns:a="http://schemas.openxmlformats.org/drawingml/2006/main">
            <a:off x="12773025" y="5276850"/>
            <a:ext cx="1123950" cy="1123950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3a93e679654d23"/>
          <a:stretch xmlns:a="http://schemas.openxmlformats.org/drawingml/2006/main"/>
        </p:blipFill>
        <p:spPr>
          <a:xfrm xmlns:a="http://schemas.openxmlformats.org/drawingml/2006/main">
            <a:off x="14344650" y="5276850"/>
            <a:ext cx="1123950" cy="1123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39757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rawio2pptx:shape:2">
            <a:extLst xmlns:a="http://schemas.openxmlformats.org/drawingml/2006/main">
              <a:ext uri="{FF2B5EF4-FFF2-40B4-BE49-F238E27FC236}">
                <a16:creationId xmlns:a16="http://schemas.microsoft.com/office/drawing/2014/main" id="{F162D5FF-CD06-4B36-8B81-88A8064E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drawio2pptx:shape:3">
            <a:extLst xmlns:a="http://schemas.openxmlformats.org/drawingml/2006/main">
              <a:ext uri="{FF2B5EF4-FFF2-40B4-BE49-F238E27FC236}">
                <a16:creationId xmlns:a16="http://schemas.microsoft.com/office/drawing/2014/main" id="{F89F5727-C2E3-43A1-ACFD-779D49EA5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97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drawio2pptx:shape:4">
            <a:extLst xmlns:a="http://schemas.openxmlformats.org/drawingml/2006/main">
              <a:ext uri="{FF2B5EF4-FFF2-40B4-BE49-F238E27FC236}">
                <a16:creationId xmlns:a16="http://schemas.microsoft.com/office/drawing/2014/main" id="{7C460040-AA89-4D7F-B0C5-54201F83B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0"/>
            <a:ext cx="18288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drawio2pptx:shape:5">
            <a:extLst xmlns:a="http://schemas.openxmlformats.org/drawingml/2006/main">
              <a:ext uri="{FF2B5EF4-FFF2-40B4-BE49-F238E27FC236}">
                <a16:creationId xmlns:a16="http://schemas.microsoft.com/office/drawing/2014/main" id="{09D6DCFE-C246-40CF-A8D1-AAE7B4B2A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 b="1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目录</a:t>
            </a:r>
          </a:p>
        </p:txBody>
      </p:sp>
      <p:sp>
        <p:nvSpPr>
          <p:cNvPr id="6" name="drawio2pptx:shape:6">
            <a:extLst xmlns:a="http://schemas.openxmlformats.org/drawingml/2006/main">
              <a:ext uri="{FF2B5EF4-FFF2-40B4-BE49-F238E27FC236}">
                <a16:creationId xmlns:a16="http://schemas.microsoft.com/office/drawing/2014/main" id="{7F7F7CE9-9936-4732-AFA2-8861FEB03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906000"/>
            <a:ext cx="18288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drawio2pptx:shape:7">
            <a:extLst xmlns:a="http://schemas.openxmlformats.org/drawingml/2006/main">
              <a:ext uri="{FF2B5EF4-FFF2-40B4-BE49-F238E27FC236}">
                <a16:creationId xmlns:a16="http://schemas.microsoft.com/office/drawing/2014/main" id="{0FA9F986-5DB5-492F-93F6-DA11ACE4C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0" y="99250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>
                <a:solidFill>
                  <a:srgbClr val="4A5568"/>
                </a:solidFill>
                <a:latin typeface="微软雅黑"/>
                <a:ea typeface="微软雅黑"/>
                <a:cs typeface="微软雅黑"/>
              </a:rPr>
              <a:t>2026 年 4 月</a:t>
            </a:r>
          </a:p>
        </p:txBody>
      </p:sp>
      <p:sp>
        <p:nvSpPr>
          <p:cNvPr id="8" name="drawio2pptx:shape:8">
            <a:extLst xmlns:a="http://schemas.openxmlformats.org/drawingml/2006/main">
              <a:ext uri="{FF2B5EF4-FFF2-40B4-BE49-F238E27FC236}">
                <a16:creationId xmlns:a16="http://schemas.microsoft.com/office/drawing/2014/main" id="{715388DB-3CA3-4D13-B291-B378D42F9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095500"/>
            <a:ext cx="533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350" b="1" i="0" u="none">
                <a:solidFill>
                  <a:srgbClr val="1F497D"/>
                </a:solidFill>
                <a:latin typeface="微软雅黑"/>
                <a:ea typeface="微软雅黑"/>
                <a:cs typeface="微软雅黑"/>
              </a:rPr>
              <a:t>CONTENTS</a:t>
            </a:r>
          </a:p>
        </p:txBody>
      </p:sp>
      <p:sp>
        <p:nvSpPr>
          <p:cNvPr id="9" name="drawio2pptx:shape:9">
            <a:extLst xmlns:a="http://schemas.openxmlformats.org/drawingml/2006/main">
              <a:ext uri="{FF2B5EF4-FFF2-40B4-BE49-F238E27FC236}">
                <a16:creationId xmlns:a16="http://schemas.microsoft.com/office/drawing/2014/main" id="{D79C1D56-AD1A-4BC9-9AFB-569519612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95550"/>
            <a:ext cx="76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drawio2pptx:shape:10">
            <a:extLst xmlns:a="http://schemas.openxmlformats.org/drawingml/2006/main">
              <a:ext uri="{FF2B5EF4-FFF2-40B4-BE49-F238E27FC236}">
                <a16:creationId xmlns:a16="http://schemas.microsoft.com/office/drawing/2014/main" id="{EB4B6952-E737-4099-A295-7A71B39F1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38125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01 研究背景与问题提出</a:t>
            </a:r>
          </a:p>
        </p:txBody>
      </p:sp>
      <p:sp>
        <p:nvSpPr>
          <p:cNvPr id="11" name="drawio2pptx:shape:11">
            <a:extLst xmlns:a="http://schemas.openxmlformats.org/drawingml/2006/main">
              <a:ext uri="{FF2B5EF4-FFF2-40B4-BE49-F238E27FC236}">
                <a16:creationId xmlns:a16="http://schemas.microsoft.com/office/drawing/2014/main" id="{D53F71E6-2D18-4146-820E-5D5D5DA3C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33750"/>
            <a:ext cx="76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drawio2pptx:shape:12">
            <a:extLst xmlns:a="http://schemas.openxmlformats.org/drawingml/2006/main">
              <a:ext uri="{FF2B5EF4-FFF2-40B4-BE49-F238E27FC236}">
                <a16:creationId xmlns:a16="http://schemas.microsoft.com/office/drawing/2014/main" id="{1EF4781F-CBF1-43EB-A4F2-7D95BBCE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21945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02 研究意义与应用场景</a:t>
            </a:r>
          </a:p>
        </p:txBody>
      </p:sp>
      <p:sp>
        <p:nvSpPr>
          <p:cNvPr id="13" name="drawio2pptx:shape:13">
            <a:extLst xmlns:a="http://schemas.openxmlformats.org/drawingml/2006/main">
              <a:ext uri="{FF2B5EF4-FFF2-40B4-BE49-F238E27FC236}">
                <a16:creationId xmlns:a16="http://schemas.microsoft.com/office/drawing/2014/main" id="{0A6A186B-C6BC-49EE-BB7B-058FD503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171950"/>
            <a:ext cx="76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drawio2pptx:shape:14">
            <a:extLst xmlns:a="http://schemas.openxmlformats.org/drawingml/2006/main">
              <a:ext uri="{FF2B5EF4-FFF2-40B4-BE49-F238E27FC236}">
                <a16:creationId xmlns:a16="http://schemas.microsoft.com/office/drawing/2014/main" id="{8896A63D-76F2-4F90-9598-7E219D616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05765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03 国内外研究现状与研究空缺</a:t>
            </a:r>
          </a:p>
        </p:txBody>
      </p:sp>
      <p:sp>
        <p:nvSpPr>
          <p:cNvPr id="15" name="drawio2pptx:shape:15">
            <a:extLst xmlns:a="http://schemas.openxmlformats.org/drawingml/2006/main">
              <a:ext uri="{FF2B5EF4-FFF2-40B4-BE49-F238E27FC236}">
                <a16:creationId xmlns:a16="http://schemas.microsoft.com/office/drawing/2014/main" id="{709E6EF6-A984-47D2-940C-79E76FADB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10150"/>
            <a:ext cx="76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drawio2pptx:shape:16">
            <a:extLst xmlns:a="http://schemas.openxmlformats.org/drawingml/2006/main">
              <a:ext uri="{FF2B5EF4-FFF2-40B4-BE49-F238E27FC236}">
                <a16:creationId xmlns:a16="http://schemas.microsoft.com/office/drawing/2014/main" id="{842ABD2C-8E0B-4DBC-8B69-C612D69CA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89585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04 任务定义与研究方案</a:t>
            </a:r>
          </a:p>
        </p:txBody>
      </p:sp>
      <p:sp>
        <p:nvSpPr>
          <p:cNvPr id="17" name="drawio2pptx:shape:17">
            <a:extLst xmlns:a="http://schemas.openxmlformats.org/drawingml/2006/main">
              <a:ext uri="{FF2B5EF4-FFF2-40B4-BE49-F238E27FC236}">
                <a16:creationId xmlns:a16="http://schemas.microsoft.com/office/drawing/2014/main" id="{0FADB8CB-B3E1-4A30-B0D9-4F9B3C1BA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848350"/>
            <a:ext cx="76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drawio2pptx:shape:18">
            <a:extLst xmlns:a="http://schemas.openxmlformats.org/drawingml/2006/main">
              <a:ext uri="{FF2B5EF4-FFF2-40B4-BE49-F238E27FC236}">
                <a16:creationId xmlns:a16="http://schemas.microsoft.com/office/drawing/2014/main" id="{1B048472-6891-4F76-87D2-8936F53BC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73405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05 方法设计、创新点与可行性</a:t>
            </a:r>
          </a:p>
        </p:txBody>
      </p:sp>
      <p:sp>
        <p:nvSpPr>
          <p:cNvPr id="19" name="drawio2pptx:shape:19">
            <a:extLst xmlns:a="http://schemas.openxmlformats.org/drawingml/2006/main">
              <a:ext uri="{FF2B5EF4-FFF2-40B4-BE49-F238E27FC236}">
                <a16:creationId xmlns:a16="http://schemas.microsoft.com/office/drawing/2014/main" id="{F91AC9D7-68C4-48A2-AEB7-C56670254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686550"/>
            <a:ext cx="76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drawio2pptx:shape:20">
            <a:extLst xmlns:a="http://schemas.openxmlformats.org/drawingml/2006/main">
              <a:ext uri="{FF2B5EF4-FFF2-40B4-BE49-F238E27FC236}">
                <a16:creationId xmlns:a16="http://schemas.microsoft.com/office/drawing/2014/main" id="{8B57AEDD-4B95-4CE7-9E49-DE7BDC58C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657225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06 研究计划与预期成果</a:t>
            </a:r>
          </a:p>
        </p:txBody>
      </p:sp>
      <p:sp>
        <p:nvSpPr>
          <p:cNvPr id="21" name="drawio2pptx:shape:21">
            <a:extLst xmlns:a="http://schemas.openxmlformats.org/drawingml/2006/main">
              <a:ext uri="{FF2B5EF4-FFF2-40B4-BE49-F238E27FC236}">
                <a16:creationId xmlns:a16="http://schemas.microsoft.com/office/drawing/2014/main" id="{05704BF9-5EFC-4FAE-9F72-B61604DF7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429000"/>
            <a:ext cx="5619750" cy="2762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drawio2pptx:shape:22">
            <a:extLst xmlns:a="http://schemas.openxmlformats.org/drawingml/2006/main">
              <a:ext uri="{FF2B5EF4-FFF2-40B4-BE49-F238E27FC236}">
                <a16:creationId xmlns:a16="http://schemas.microsoft.com/office/drawing/2014/main" id="{42BFACB7-14B9-4AC7-8080-7F97BCD3D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600450"/>
            <a:ext cx="5162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汇报逻辑</a:t>
            </a:r>
          </a:p>
        </p:txBody>
      </p:sp>
      <p:sp>
        <p:nvSpPr>
          <p:cNvPr id="23" name="drawio2pptx:shape:23">
            <a:extLst xmlns:a="http://schemas.openxmlformats.org/drawingml/2006/main">
              <a:ext uri="{FF2B5EF4-FFF2-40B4-BE49-F238E27FC236}">
                <a16:creationId xmlns:a16="http://schemas.microsoft.com/office/drawing/2014/main" id="{AEB34E88-8411-4DFD-A2DB-0371483FF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4019550"/>
            <a:ext cx="5162550" cy="196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从问题出发，而不是按表单逐项复述。
先说明为什么这个题目值得做，再交代现有研究的不足，随后收束到任务定义、研究方案和后续计划。</a:t>
            </a:r>
          </a:p>
        </p:txBody>
      </p:sp>
    </p:spTree>
    <p:extLst>
      <p:ext uri="{BB962C8B-B14F-4D97-AF65-F5344CB8AC3E}">
        <p14:creationId xmlns:p14="http://schemas.microsoft.com/office/powerpoint/2010/main" val="58200104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rawio2pptx:shape:2">
            <a:extLst xmlns:a="http://schemas.openxmlformats.org/drawingml/2006/main">
              <a:ext uri="{FF2B5EF4-FFF2-40B4-BE49-F238E27FC236}">
                <a16:creationId xmlns:a16="http://schemas.microsoft.com/office/drawing/2014/main" id="{140D4C48-371B-49B3-905C-2FC14418B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drawio2pptx:shape:3">
            <a:extLst xmlns:a="http://schemas.openxmlformats.org/drawingml/2006/main">
              <a:ext uri="{FF2B5EF4-FFF2-40B4-BE49-F238E27FC236}">
                <a16:creationId xmlns:a16="http://schemas.microsoft.com/office/drawing/2014/main" id="{5183B734-7A7A-46FA-9B85-8F0999B7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97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drawio2pptx:shape:4">
            <a:extLst xmlns:a="http://schemas.openxmlformats.org/drawingml/2006/main">
              <a:ext uri="{FF2B5EF4-FFF2-40B4-BE49-F238E27FC236}">
                <a16:creationId xmlns:a16="http://schemas.microsoft.com/office/drawing/2014/main" id="{BBA756D2-72AB-4CC3-9AAA-461BFE34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0"/>
            <a:ext cx="18288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drawio2pptx:shape:5">
            <a:extLst xmlns:a="http://schemas.openxmlformats.org/drawingml/2006/main">
              <a:ext uri="{FF2B5EF4-FFF2-40B4-BE49-F238E27FC236}">
                <a16:creationId xmlns:a16="http://schemas.microsoft.com/office/drawing/2014/main" id="{CBF0DBC6-C6B6-46E6-8ED4-A8CEBB4C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 b="1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 研究背景与问题提出</a:t>
            </a:r>
          </a:p>
        </p:txBody>
      </p:sp>
      <p:sp>
        <p:nvSpPr>
          <p:cNvPr id="6" name="drawio2pptx:shape:6">
            <a:extLst xmlns:a="http://schemas.openxmlformats.org/drawingml/2006/main">
              <a:ext uri="{FF2B5EF4-FFF2-40B4-BE49-F238E27FC236}">
                <a16:creationId xmlns:a16="http://schemas.microsoft.com/office/drawing/2014/main" id="{04896D0F-65BE-4B1C-B53C-E2DE77E4D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906000"/>
            <a:ext cx="18288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drawio2pptx:shape:7">
            <a:extLst xmlns:a="http://schemas.openxmlformats.org/drawingml/2006/main">
              <a:ext uri="{FF2B5EF4-FFF2-40B4-BE49-F238E27FC236}">
                <a16:creationId xmlns:a16="http://schemas.microsoft.com/office/drawing/2014/main" id="{75FA2B7A-B32D-4191-83D6-A0480D04F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0" y="99250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>
                <a:solidFill>
                  <a:srgbClr val="4A5568"/>
                </a:solidFill>
                <a:latin typeface="微软雅黑"/>
                <a:ea typeface="微软雅黑"/>
                <a:cs typeface="微软雅黑"/>
              </a:rPr>
              <a:t>2026 年 4 月</a:t>
            </a:r>
          </a:p>
        </p:txBody>
      </p:sp>
      <p:sp>
        <p:nvSpPr>
          <p:cNvPr id="8" name="drawio2pptx:shape:8">
            <a:extLst xmlns:a="http://schemas.openxmlformats.org/drawingml/2006/main">
              <a:ext uri="{FF2B5EF4-FFF2-40B4-BE49-F238E27FC236}">
                <a16:creationId xmlns:a16="http://schemas.microsoft.com/office/drawing/2014/main" id="{6E5C9DC9-3FD4-4710-A385-4E04D0AD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52600"/>
            <a:ext cx="9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drawio2pptx:shape:9">
            <a:extLst xmlns:a="http://schemas.openxmlformats.org/drawingml/2006/main">
              <a:ext uri="{FF2B5EF4-FFF2-40B4-BE49-F238E27FC236}">
                <a16:creationId xmlns:a16="http://schemas.microsoft.com/office/drawing/2014/main" id="{3036ABD7-E795-4ED5-973B-0F0E3A05B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733550"/>
            <a:ext cx="876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75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为什么把“字形生成”收束到部件和结构条件上？</a:t>
            </a:r>
          </a:p>
        </p:txBody>
      </p:sp>
      <p:sp>
        <p:nvSpPr>
          <p:cNvPr id="10" name="drawio2pptx:shape:10">
            <a:extLst xmlns:a="http://schemas.openxmlformats.org/drawingml/2006/main">
              <a:ext uri="{FF2B5EF4-FFF2-40B4-BE49-F238E27FC236}">
                <a16:creationId xmlns:a16="http://schemas.microsoft.com/office/drawing/2014/main" id="{BC13D6F4-7DF4-499A-B076-D0DABB307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76500"/>
            <a:ext cx="8667750" cy="5048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drawio2pptx:shape:11">
            <a:extLst xmlns:a="http://schemas.openxmlformats.org/drawingml/2006/main">
              <a:ext uri="{FF2B5EF4-FFF2-40B4-BE49-F238E27FC236}">
                <a16:creationId xmlns:a16="http://schemas.microsoft.com/office/drawing/2014/main" id="{E6AF6F2C-961B-46BB-8E11-3279FCF2F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647950"/>
            <a:ext cx="821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现实需求</a:t>
            </a:r>
          </a:p>
        </p:txBody>
      </p:sp>
      <p:sp>
        <p:nvSpPr>
          <p:cNvPr id="12" name="drawio2pptx:shape:12">
            <a:extLst xmlns:a="http://schemas.openxmlformats.org/drawingml/2006/main">
              <a:ext uri="{FF2B5EF4-FFF2-40B4-BE49-F238E27FC236}">
                <a16:creationId xmlns:a16="http://schemas.microsoft.com/office/drawing/2014/main" id="{60EEBF6C-E397-4246-9F41-6CEB7368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067050"/>
            <a:ext cx="8210550" cy="424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现代常用字已有成熟字库，但面对生僻字、异体字和未登录字符时，传统补字流程往往成本高、周期长，而且高度依赖人工经验。
在古籍整理、地方志数字化、少数民族文字信息化等场景中，字符数量不一定大，但对结构正确性和快速试排的需求很强。</a:t>
            </a:r>
          </a:p>
        </p:txBody>
      </p:sp>
      <p:sp>
        <p:nvSpPr>
          <p:cNvPr id="13" name="drawio2pptx:shape:13">
            <a:extLst xmlns:a="http://schemas.openxmlformats.org/drawingml/2006/main">
              <a:ext uri="{FF2B5EF4-FFF2-40B4-BE49-F238E27FC236}">
                <a16:creationId xmlns:a16="http://schemas.microsoft.com/office/drawing/2014/main" id="{D4ABB9B6-9555-4572-B342-4DC9F9F79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810500"/>
            <a:ext cx="8667750" cy="1333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drawio2pptx:shape:14">
            <a:extLst xmlns:a="http://schemas.openxmlformats.org/drawingml/2006/main">
              <a:ext uri="{FF2B5EF4-FFF2-40B4-BE49-F238E27FC236}">
                <a16:creationId xmlns:a16="http://schemas.microsoft.com/office/drawing/2014/main" id="{A3258052-1B4A-4CC3-B0CE-B6C047B3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7981950"/>
            <a:ext cx="821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问题提出</a:t>
            </a:r>
          </a:p>
        </p:txBody>
      </p:sp>
      <p:sp>
        <p:nvSpPr>
          <p:cNvPr id="15" name="drawio2pptx:shape:15">
            <a:extLst xmlns:a="http://schemas.openxmlformats.org/drawingml/2006/main">
              <a:ext uri="{FF2B5EF4-FFF2-40B4-BE49-F238E27FC236}">
                <a16:creationId xmlns:a16="http://schemas.microsoft.com/office/drawing/2014/main" id="{682BC732-70BA-4F65-91D4-321BD493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8401050"/>
            <a:ext cx="8210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与其把字当作普通图像去生成，不如直接利用方块字的构形规律，把部件和结构关系作为显式条件纳入模型。</a:t>
            </a:r>
          </a:p>
        </p:txBody>
      </p:sp>
      <p:sp>
        <p:nvSpPr>
          <p:cNvPr id="16" name="drawio2pptx:shape:16">
            <a:extLst xmlns:a="http://schemas.openxmlformats.org/drawingml/2006/main">
              <a:ext uri="{FF2B5EF4-FFF2-40B4-BE49-F238E27FC236}">
                <a16:creationId xmlns:a16="http://schemas.microsoft.com/office/drawing/2014/main" id="{81179A15-F0EB-4D0F-8ABC-38D8D498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095500"/>
            <a:ext cx="6762750" cy="7048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drawio2pptx:shape:17">
            <a:extLst xmlns:a="http://schemas.openxmlformats.org/drawingml/2006/main">
              <a:ext uri="{FF2B5EF4-FFF2-40B4-BE49-F238E27FC236}">
                <a16:creationId xmlns:a16="http://schemas.microsoft.com/office/drawing/2014/main" id="{32AF41AF-849D-4651-8B4F-112EA3DAC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362200"/>
            <a:ext cx="676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现有样例字形</a:t>
            </a:r>
          </a:p>
        </p:txBody>
      </p:sp>
      <p:sp>
        <p:nvSpPr>
          <p:cNvPr id="18" name="drawio2pptx:shape:18">
            <a:extLst xmlns:a="http://schemas.openxmlformats.org/drawingml/2006/main">
              <a:ext uri="{FF2B5EF4-FFF2-40B4-BE49-F238E27FC236}">
                <a16:creationId xmlns:a16="http://schemas.microsoft.com/office/drawing/2014/main" id="{66AB57B7-540B-4679-9F60-B1834DF66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3143250"/>
            <a:ext cx="2190750" cy="2095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drawio2pptx:shape:19">
            <a:extLst xmlns:a="http://schemas.openxmlformats.org/drawingml/2006/main">
              <a:ext uri="{FF2B5EF4-FFF2-40B4-BE49-F238E27FC236}">
                <a16:creationId xmlns:a16="http://schemas.microsoft.com/office/drawing/2014/main" id="{B7643422-718F-4579-9AD9-BE784C69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9475" y="3276600"/>
            <a:ext cx="19240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drawio2pptx:shape:20">
            <a:extLst xmlns:a="http://schemas.openxmlformats.org/drawingml/2006/main">
              <a:ext uri="{FF2B5EF4-FFF2-40B4-BE49-F238E27FC236}">
                <a16:creationId xmlns:a16="http://schemas.microsoft.com/office/drawing/2014/main" id="{769ED4C8-8FD4-4C46-8554-AA15E4915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48577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狗</a:t>
            </a:r>
          </a:p>
        </p:txBody>
      </p:sp>
      <p:sp>
        <p:nvSpPr>
          <p:cNvPr id="21" name="drawio2pptx:shape:21">
            <a:extLst xmlns:a="http://schemas.openxmlformats.org/drawingml/2006/main">
              <a:ext uri="{FF2B5EF4-FFF2-40B4-BE49-F238E27FC236}">
                <a16:creationId xmlns:a16="http://schemas.microsoft.com/office/drawing/2014/main" id="{406C6DC2-CCEC-4BC3-808D-ED7117CC2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3143250"/>
            <a:ext cx="2190750" cy="2095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drawio2pptx:shape:22">
            <a:extLst xmlns:a="http://schemas.openxmlformats.org/drawingml/2006/main">
              <a:ext uri="{FF2B5EF4-FFF2-40B4-BE49-F238E27FC236}">
                <a16:creationId xmlns:a16="http://schemas.microsoft.com/office/drawing/2014/main" id="{40D24745-E782-4EF4-A455-1421FD333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6975" y="3276600"/>
            <a:ext cx="19240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drawio2pptx:shape:23">
            <a:extLst xmlns:a="http://schemas.openxmlformats.org/drawingml/2006/main">
              <a:ext uri="{FF2B5EF4-FFF2-40B4-BE49-F238E27FC236}">
                <a16:creationId xmlns:a16="http://schemas.microsoft.com/office/drawing/2014/main" id="{2182C3BC-2DAB-45F7-93A4-95DBBF526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58875" y="48577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困</a:t>
            </a:r>
          </a:p>
        </p:txBody>
      </p:sp>
      <p:sp>
        <p:nvSpPr>
          <p:cNvPr id="24" name="drawio2pptx:shape:24">
            <a:extLst xmlns:a="http://schemas.openxmlformats.org/drawingml/2006/main">
              <a:ext uri="{FF2B5EF4-FFF2-40B4-BE49-F238E27FC236}">
                <a16:creationId xmlns:a16="http://schemas.microsoft.com/office/drawing/2014/main" id="{ECB5B57B-F6D7-458E-B5DF-F67A92A90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810250"/>
            <a:ext cx="2190750" cy="2095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drawio2pptx:shape:25">
            <a:extLst xmlns:a="http://schemas.openxmlformats.org/drawingml/2006/main">
              <a:ext uri="{FF2B5EF4-FFF2-40B4-BE49-F238E27FC236}">
                <a16:creationId xmlns:a16="http://schemas.microsoft.com/office/drawing/2014/main" id="{A61660AE-6884-41F9-875D-0DC630D1F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9475" y="5943600"/>
            <a:ext cx="19240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drawio2pptx:shape:26">
            <a:extLst xmlns:a="http://schemas.openxmlformats.org/drawingml/2006/main">
              <a:ext uri="{FF2B5EF4-FFF2-40B4-BE49-F238E27FC236}">
                <a16:creationId xmlns:a16="http://schemas.microsoft.com/office/drawing/2014/main" id="{B02779A2-67CA-4BB8-A138-184B13637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75247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间</a:t>
            </a:r>
          </a:p>
        </p:txBody>
      </p:sp>
      <p:sp>
        <p:nvSpPr>
          <p:cNvPr id="27" name="drawio2pptx:shape:27">
            <a:extLst xmlns:a="http://schemas.openxmlformats.org/drawingml/2006/main">
              <a:ext uri="{FF2B5EF4-FFF2-40B4-BE49-F238E27FC236}">
                <a16:creationId xmlns:a16="http://schemas.microsoft.com/office/drawing/2014/main" id="{D41AAC8A-8653-45F8-9522-F390CA3BE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5810250"/>
            <a:ext cx="2190750" cy="2095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drawio2pptx:shape:28">
            <a:extLst xmlns:a="http://schemas.openxmlformats.org/drawingml/2006/main">
              <a:ext uri="{FF2B5EF4-FFF2-40B4-BE49-F238E27FC236}">
                <a16:creationId xmlns:a16="http://schemas.microsoft.com/office/drawing/2014/main" id="{8A3EE9F7-001B-4D46-A1B5-DF1CC3463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6975" y="5943600"/>
            <a:ext cx="19240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drawio2pptx:shape:29">
            <a:extLst xmlns:a="http://schemas.openxmlformats.org/drawingml/2006/main">
              <a:ext uri="{FF2B5EF4-FFF2-40B4-BE49-F238E27FC236}">
                <a16:creationId xmlns:a16="http://schemas.microsoft.com/office/drawing/2014/main" id="{6A7E34BB-44B5-4BB0-86B2-1E7D25966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58875" y="75247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闪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984fe5f3fd4b16"/>
          <a:stretch xmlns:a="http://schemas.openxmlformats.org/drawingml/2006/main"/>
        </p:blipFill>
        <p:spPr>
          <a:xfrm xmlns:a="http://schemas.openxmlformats.org/drawingml/2006/main">
            <a:off x="11268075" y="3276600"/>
            <a:ext cx="1466850" cy="1466850"/>
          </a:xfrm>
          <a:prstGeom xmlns:a="http://schemas.openxmlformats.org/drawingml/2006/main" prst="rect">
            <a:avLst/>
          </a:prstGeom>
        </p:spPr>
      </p:pic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fd7c27cfd644df"/>
          <a:stretch xmlns:a="http://schemas.openxmlformats.org/drawingml/2006/main"/>
        </p:blipFill>
        <p:spPr>
          <a:xfrm xmlns:a="http://schemas.openxmlformats.org/drawingml/2006/main">
            <a:off x="14125575" y="3276600"/>
            <a:ext cx="1466850" cy="1466850"/>
          </a:xfrm>
          <a:prstGeom xmlns:a="http://schemas.openxmlformats.org/drawingml/2006/main" prst="rect">
            <a:avLst/>
          </a:prstGeom>
        </p:spPr>
      </p:pic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6e3f8bd49b44f7"/>
          <a:stretch xmlns:a="http://schemas.openxmlformats.org/drawingml/2006/main"/>
        </p:blipFill>
        <p:spPr>
          <a:xfrm xmlns:a="http://schemas.openxmlformats.org/drawingml/2006/main">
            <a:off x="11268075" y="5943600"/>
            <a:ext cx="1466850" cy="1466850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039629090647e7"/>
          <a:stretch xmlns:a="http://schemas.openxmlformats.org/drawingml/2006/main"/>
        </p:blipFill>
        <p:spPr>
          <a:xfrm xmlns:a="http://schemas.openxmlformats.org/drawingml/2006/main">
            <a:off x="14125575" y="5943600"/>
            <a:ext cx="1466850" cy="14668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32075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rawio2pptx:shape:2">
            <a:extLst xmlns:a="http://schemas.openxmlformats.org/drawingml/2006/main">
              <a:ext uri="{FF2B5EF4-FFF2-40B4-BE49-F238E27FC236}">
                <a16:creationId xmlns:a16="http://schemas.microsoft.com/office/drawing/2014/main" id="{0623D08E-6CF6-4F85-BCF1-6E6C2A751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drawio2pptx:shape:3">
            <a:extLst xmlns:a="http://schemas.openxmlformats.org/drawingml/2006/main">
              <a:ext uri="{FF2B5EF4-FFF2-40B4-BE49-F238E27FC236}">
                <a16:creationId xmlns:a16="http://schemas.microsoft.com/office/drawing/2014/main" id="{E776006F-8474-4339-BBD7-97C650C0C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97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drawio2pptx:shape:4">
            <a:extLst xmlns:a="http://schemas.openxmlformats.org/drawingml/2006/main">
              <a:ext uri="{FF2B5EF4-FFF2-40B4-BE49-F238E27FC236}">
                <a16:creationId xmlns:a16="http://schemas.microsoft.com/office/drawing/2014/main" id="{F5B17FEA-1BB0-40A0-82F6-5CA785FC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0"/>
            <a:ext cx="18288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drawio2pptx:shape:5">
            <a:extLst xmlns:a="http://schemas.openxmlformats.org/drawingml/2006/main">
              <a:ext uri="{FF2B5EF4-FFF2-40B4-BE49-F238E27FC236}">
                <a16:creationId xmlns:a16="http://schemas.microsoft.com/office/drawing/2014/main" id="{FE92C210-45F2-4BD9-B647-309D45C15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 b="1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 研究意义与应用场景</a:t>
            </a:r>
          </a:p>
        </p:txBody>
      </p:sp>
      <p:sp>
        <p:nvSpPr>
          <p:cNvPr id="6" name="drawio2pptx:shape:6">
            <a:extLst xmlns:a="http://schemas.openxmlformats.org/drawingml/2006/main">
              <a:ext uri="{FF2B5EF4-FFF2-40B4-BE49-F238E27FC236}">
                <a16:creationId xmlns:a16="http://schemas.microsoft.com/office/drawing/2014/main" id="{9BDB61B7-671F-4051-83F8-733848E25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906000"/>
            <a:ext cx="18288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drawio2pptx:shape:7">
            <a:extLst xmlns:a="http://schemas.openxmlformats.org/drawingml/2006/main">
              <a:ext uri="{FF2B5EF4-FFF2-40B4-BE49-F238E27FC236}">
                <a16:creationId xmlns:a16="http://schemas.microsoft.com/office/drawing/2014/main" id="{65E7D7A0-91CC-40C5-87D1-5AFB04A66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0" y="99250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>
                <a:solidFill>
                  <a:srgbClr val="4A5568"/>
                </a:solidFill>
                <a:latin typeface="微软雅黑"/>
                <a:ea typeface="微软雅黑"/>
                <a:cs typeface="微软雅黑"/>
              </a:rPr>
              <a:t>2026 年 4 月</a:t>
            </a:r>
          </a:p>
        </p:txBody>
      </p:sp>
      <p:sp>
        <p:nvSpPr>
          <p:cNvPr id="8" name="drawio2pptx:shape:8">
            <a:extLst xmlns:a="http://schemas.openxmlformats.org/drawingml/2006/main">
              <a:ext uri="{FF2B5EF4-FFF2-40B4-BE49-F238E27FC236}">
                <a16:creationId xmlns:a16="http://schemas.microsoft.com/office/drawing/2014/main" id="{9CC7C821-C4F9-42FB-965A-9AD3354BA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33550"/>
            <a:ext cx="9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drawio2pptx:shape:9">
            <a:extLst xmlns:a="http://schemas.openxmlformats.org/drawingml/2006/main">
              <a:ext uri="{FF2B5EF4-FFF2-40B4-BE49-F238E27FC236}">
                <a16:creationId xmlns:a16="http://schemas.microsoft.com/office/drawing/2014/main" id="{8C46D4A7-AC21-44AC-AB75-8A150FAC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714500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75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方法研究先行，应用价值作为自然外延</a:t>
            </a:r>
          </a:p>
        </p:txBody>
      </p:sp>
      <p:sp>
        <p:nvSpPr>
          <p:cNvPr id="10" name="drawio2pptx:shape:10">
            <a:extLst xmlns:a="http://schemas.openxmlformats.org/drawingml/2006/main">
              <a:ext uri="{FF2B5EF4-FFF2-40B4-BE49-F238E27FC236}">
                <a16:creationId xmlns:a16="http://schemas.microsoft.com/office/drawing/2014/main" id="{7E09E7C0-C2A8-4805-B2F0-E01486AE7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4953000" cy="4000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drawio2pptx:shape:11">
            <a:extLst xmlns:a="http://schemas.openxmlformats.org/drawingml/2006/main">
              <a:ext uri="{FF2B5EF4-FFF2-40B4-BE49-F238E27FC236}">
                <a16:creationId xmlns:a16="http://schemas.microsoft.com/office/drawing/2014/main" id="{1553C6A6-A441-4162-8CAE-4E79AC028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028950"/>
            <a:ext cx="449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字库补字与字体设计</a:t>
            </a:r>
          </a:p>
        </p:txBody>
      </p:sp>
      <p:sp>
        <p:nvSpPr>
          <p:cNvPr id="12" name="drawio2pptx:shape:12">
            <a:extLst xmlns:a="http://schemas.openxmlformats.org/drawingml/2006/main">
              <a:ext uri="{FF2B5EF4-FFF2-40B4-BE49-F238E27FC236}">
                <a16:creationId xmlns:a16="http://schemas.microsoft.com/office/drawing/2014/main" id="{827D4603-C42B-4262-87EC-179BD1F6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48050"/>
            <a:ext cx="44958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在目标字符缺失时，为字体设计和快速试排提供结构正确的候选字形，而不是完全依赖人工描绘。</a:t>
            </a:r>
          </a:p>
        </p:txBody>
      </p:sp>
      <p:sp>
        <p:nvSpPr>
          <p:cNvPr id="13" name="drawio2pptx:shape:13">
            <a:extLst xmlns:a="http://schemas.openxmlformats.org/drawingml/2006/main">
              <a:ext uri="{FF2B5EF4-FFF2-40B4-BE49-F238E27FC236}">
                <a16:creationId xmlns:a16="http://schemas.microsoft.com/office/drawing/2014/main" id="{7F6344AC-FD6D-46BD-900F-25BBA5F2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57500"/>
            <a:ext cx="4953000" cy="4000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drawio2pptx:shape:14">
            <a:extLst xmlns:a="http://schemas.openxmlformats.org/drawingml/2006/main">
              <a:ext uri="{FF2B5EF4-FFF2-40B4-BE49-F238E27FC236}">
                <a16:creationId xmlns:a16="http://schemas.microsoft.com/office/drawing/2014/main" id="{5550AEF3-B12C-40F5-BD1D-7E6485F3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28950"/>
            <a:ext cx="449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古籍整理与异体字数字化</a:t>
            </a:r>
          </a:p>
        </p:txBody>
      </p:sp>
      <p:sp>
        <p:nvSpPr>
          <p:cNvPr id="15" name="drawio2pptx:shape:15">
            <a:extLst xmlns:a="http://schemas.openxmlformats.org/drawingml/2006/main">
              <a:ext uri="{FF2B5EF4-FFF2-40B4-BE49-F238E27FC236}">
                <a16:creationId xmlns:a16="http://schemas.microsoft.com/office/drawing/2014/main" id="{A31613D0-B09B-4D25-A33E-68A3F4ACF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48050"/>
            <a:ext cx="44958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许多字符没有稳定编码入口，但研究者通常能给出构形描述或局部部件图像，这使统一条件接口有了真实使用场景。</a:t>
            </a:r>
          </a:p>
        </p:txBody>
      </p:sp>
      <p:sp>
        <p:nvSpPr>
          <p:cNvPr id="16" name="drawio2pptx:shape:16">
            <a:extLst xmlns:a="http://schemas.openxmlformats.org/drawingml/2006/main">
              <a:ext uri="{FF2B5EF4-FFF2-40B4-BE49-F238E27FC236}">
                <a16:creationId xmlns:a16="http://schemas.microsoft.com/office/drawing/2014/main" id="{53DA5DDD-3211-4A7D-B54D-0375DFF60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2857500"/>
            <a:ext cx="4953000" cy="4000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drawio2pptx:shape:17">
            <a:extLst xmlns:a="http://schemas.openxmlformats.org/drawingml/2006/main">
              <a:ext uri="{FF2B5EF4-FFF2-40B4-BE49-F238E27FC236}">
                <a16:creationId xmlns:a16="http://schemas.microsoft.com/office/drawing/2014/main" id="{FDD1F127-B552-43E2-A403-9DACEA7CA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20600" y="3028950"/>
            <a:ext cx="449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低资源字符处理</a:t>
            </a:r>
          </a:p>
        </p:txBody>
      </p:sp>
      <p:sp>
        <p:nvSpPr>
          <p:cNvPr id="18" name="drawio2pptx:shape:18">
            <a:extLst xmlns:a="http://schemas.openxmlformats.org/drawingml/2006/main">
              <a:ext uri="{FF2B5EF4-FFF2-40B4-BE49-F238E27FC236}">
                <a16:creationId xmlns:a16="http://schemas.microsoft.com/office/drawing/2014/main" id="{71940E17-BB33-416A-AB58-1F57D4EB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20600" y="3448050"/>
            <a:ext cx="44958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若模型能够在有限样本下维持结构约束，就有机会把现代汉字主任务平滑延伸到 OOV 字符、古壮字等边缘场景。</a:t>
            </a:r>
          </a:p>
        </p:txBody>
      </p:sp>
      <p:sp>
        <p:nvSpPr>
          <p:cNvPr id="19" name="drawio2pptx:shape:19">
            <a:extLst xmlns:a="http://schemas.openxmlformats.org/drawingml/2006/main">
              <a:ext uri="{FF2B5EF4-FFF2-40B4-BE49-F238E27FC236}">
                <a16:creationId xmlns:a16="http://schemas.microsoft.com/office/drawing/2014/main" id="{4E74EA56-D492-42C5-8EF5-C0845C62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429500"/>
            <a:ext cx="14478000" cy="1428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drawio2pptx:shape:20">
            <a:extLst xmlns:a="http://schemas.openxmlformats.org/drawingml/2006/main">
              <a:ext uri="{FF2B5EF4-FFF2-40B4-BE49-F238E27FC236}">
                <a16:creationId xmlns:a16="http://schemas.microsoft.com/office/drawing/2014/main" id="{9CEB165A-0CF1-4B29-BF99-F39F476E9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7600950"/>
            <a:ext cx="14020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研究定位</a:t>
            </a:r>
          </a:p>
        </p:txBody>
      </p:sp>
      <p:sp>
        <p:nvSpPr>
          <p:cNvPr id="21" name="drawio2pptx:shape:21">
            <a:extLst xmlns:a="http://schemas.openxmlformats.org/drawingml/2006/main">
              <a:ext uri="{FF2B5EF4-FFF2-40B4-BE49-F238E27FC236}">
                <a16:creationId xmlns:a16="http://schemas.microsoft.com/office/drawing/2014/main" id="{2D92F00B-6717-4AFC-B6B6-BB24B3BB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8020050"/>
            <a:ext cx="14020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本课题首先讨论的是“部件与结构条件如何驱动整字生成”，不是把系统包装成已经成熟落地的工程产品。</a:t>
            </a:r>
          </a:p>
        </p:txBody>
      </p:sp>
    </p:spTree>
    <p:extLst>
      <p:ext uri="{BB962C8B-B14F-4D97-AF65-F5344CB8AC3E}">
        <p14:creationId xmlns:p14="http://schemas.microsoft.com/office/powerpoint/2010/main" val="119428493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rawio2pptx:shape:2">
            <a:extLst xmlns:a="http://schemas.openxmlformats.org/drawingml/2006/main">
              <a:ext uri="{FF2B5EF4-FFF2-40B4-BE49-F238E27FC236}">
                <a16:creationId xmlns:a16="http://schemas.microsoft.com/office/drawing/2014/main" id="{A8AB897F-B749-4866-BB86-3E5096193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drawio2pptx:shape:3">
            <a:extLst xmlns:a="http://schemas.openxmlformats.org/drawingml/2006/main">
              <a:ext uri="{FF2B5EF4-FFF2-40B4-BE49-F238E27FC236}">
                <a16:creationId xmlns:a16="http://schemas.microsoft.com/office/drawing/2014/main" id="{D834C9C0-9882-4546-87EE-AF7A7CC1B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97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drawio2pptx:shape:4">
            <a:extLst xmlns:a="http://schemas.openxmlformats.org/drawingml/2006/main">
              <a:ext uri="{FF2B5EF4-FFF2-40B4-BE49-F238E27FC236}">
                <a16:creationId xmlns:a16="http://schemas.microsoft.com/office/drawing/2014/main" id="{015A1C2A-6624-4117-814A-EDD72BCE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0"/>
            <a:ext cx="18288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drawio2pptx:shape:5">
            <a:extLst xmlns:a="http://schemas.openxmlformats.org/drawingml/2006/main">
              <a:ext uri="{FF2B5EF4-FFF2-40B4-BE49-F238E27FC236}">
                <a16:creationId xmlns:a16="http://schemas.microsoft.com/office/drawing/2014/main" id="{900E982F-F528-47EC-BDC0-7A6040755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 b="1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 国内外研究现状与研究空缺</a:t>
            </a:r>
          </a:p>
        </p:txBody>
      </p:sp>
      <p:sp>
        <p:nvSpPr>
          <p:cNvPr id="6" name="drawio2pptx:shape:6">
            <a:extLst xmlns:a="http://schemas.openxmlformats.org/drawingml/2006/main">
              <a:ext uri="{FF2B5EF4-FFF2-40B4-BE49-F238E27FC236}">
                <a16:creationId xmlns:a16="http://schemas.microsoft.com/office/drawing/2014/main" id="{3F435B7D-5719-47B0-B2DF-4BC6438B0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906000"/>
            <a:ext cx="18288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drawio2pptx:shape:7">
            <a:extLst xmlns:a="http://schemas.openxmlformats.org/drawingml/2006/main">
              <a:ext uri="{FF2B5EF4-FFF2-40B4-BE49-F238E27FC236}">
                <a16:creationId xmlns:a16="http://schemas.microsoft.com/office/drawing/2014/main" id="{0A067508-D935-483E-A153-DA4AB34AB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0" y="99250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>
                <a:solidFill>
                  <a:srgbClr val="4A5568"/>
                </a:solidFill>
                <a:latin typeface="微软雅黑"/>
                <a:ea typeface="微软雅黑"/>
                <a:cs typeface="微软雅黑"/>
              </a:rPr>
              <a:t>2026 年 4 月</a:t>
            </a:r>
          </a:p>
        </p:txBody>
      </p:sp>
      <p:sp>
        <p:nvSpPr>
          <p:cNvPr id="8" name="drawio2pptx:shape:8">
            <a:extLst xmlns:a="http://schemas.openxmlformats.org/drawingml/2006/main">
              <a:ext uri="{FF2B5EF4-FFF2-40B4-BE49-F238E27FC236}">
                <a16:creationId xmlns:a16="http://schemas.microsoft.com/office/drawing/2014/main" id="{84325802-0D5A-4BB1-8E6D-43A42B1D8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33550"/>
            <a:ext cx="9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drawio2pptx:shape:9">
            <a:extLst xmlns:a="http://schemas.openxmlformats.org/drawingml/2006/main">
              <a:ext uri="{FF2B5EF4-FFF2-40B4-BE49-F238E27FC236}">
                <a16:creationId xmlns:a16="http://schemas.microsoft.com/office/drawing/2014/main" id="{EE5A16C7-CBD3-486B-984D-9C89C307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7145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75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相关研究已经很多，但尚未自然汇聚成统一任务框架</a:t>
            </a:r>
          </a:p>
        </p:txBody>
      </p:sp>
      <p:sp>
        <p:nvSpPr>
          <p:cNvPr id="10" name="drawio2pptx:shape:10">
            <a:extLst xmlns:a="http://schemas.openxmlformats.org/drawingml/2006/main">
              <a:ext uri="{FF2B5EF4-FFF2-40B4-BE49-F238E27FC236}">
                <a16:creationId xmlns:a16="http://schemas.microsoft.com/office/drawing/2014/main" id="{8F41D9A5-188E-4E9E-895A-989EE7526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5143500" cy="4095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drawio2pptx:shape:11">
            <a:extLst xmlns:a="http://schemas.openxmlformats.org/drawingml/2006/main">
              <a:ext uri="{FF2B5EF4-FFF2-40B4-BE49-F238E27FC236}">
                <a16:creationId xmlns:a16="http://schemas.microsoft.com/office/drawing/2014/main" id="{3EB4EB1B-6AFC-4A34-9CDF-F110C78D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28950"/>
            <a:ext cx="4686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部件与结构表征</a:t>
            </a:r>
          </a:p>
        </p:txBody>
      </p:sp>
      <p:sp>
        <p:nvSpPr>
          <p:cNvPr id="12" name="drawio2pptx:shape:12">
            <a:extLst xmlns:a="http://schemas.openxmlformats.org/drawingml/2006/main">
              <a:ext uri="{FF2B5EF4-FFF2-40B4-BE49-F238E27FC236}">
                <a16:creationId xmlns:a16="http://schemas.microsoft.com/office/drawing/2014/main" id="{F0AA8228-D218-4A13-89D1-E6AC360B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48050"/>
            <a:ext cx="4686300" cy="3295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零样本汉字识别、显式偏旁编码、IDS 对齐、formation tree 等工作说明：汉字可以被拆解，也值得以结构化方式表示。</a:t>
            </a:r>
          </a:p>
        </p:txBody>
      </p:sp>
      <p:sp>
        <p:nvSpPr>
          <p:cNvPr id="13" name="drawio2pptx:shape:13">
            <a:extLst xmlns:a="http://schemas.openxmlformats.org/drawingml/2006/main">
              <a:ext uri="{FF2B5EF4-FFF2-40B4-BE49-F238E27FC236}">
                <a16:creationId xmlns:a16="http://schemas.microsoft.com/office/drawing/2014/main" id="{5038F874-E21E-4660-A7F7-DDB0D36C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57500"/>
            <a:ext cx="5143500" cy="4095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drawio2pptx:shape:14">
            <a:extLst xmlns:a="http://schemas.openxmlformats.org/drawingml/2006/main">
              <a:ext uri="{FF2B5EF4-FFF2-40B4-BE49-F238E27FC236}">
                <a16:creationId xmlns:a16="http://schemas.microsoft.com/office/drawing/2014/main" id="{D0F74D02-3B40-4E99-9FEF-A1AA444DA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028950"/>
            <a:ext cx="4686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字体迁移与字形生成</a:t>
            </a:r>
          </a:p>
        </p:txBody>
      </p:sp>
      <p:sp>
        <p:nvSpPr>
          <p:cNvPr id="15" name="drawio2pptx:shape:15">
            <a:extLst xmlns:a="http://schemas.openxmlformats.org/drawingml/2006/main">
              <a:ext uri="{FF2B5EF4-FFF2-40B4-BE49-F238E27FC236}">
                <a16:creationId xmlns:a16="http://schemas.microsoft.com/office/drawing/2014/main" id="{2A7464F0-309E-41C7-B9D4-A26E37EB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448050"/>
            <a:ext cx="4686300" cy="3295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GAN、Transformer 和扩散模型显著提升了字形生成质量，但多数研究默认目标字符身份已知，关注的是风格迁移而非“部件到整字”的组合生成。</a:t>
            </a:r>
          </a:p>
        </p:txBody>
      </p:sp>
      <p:sp>
        <p:nvSpPr>
          <p:cNvPr id="16" name="drawio2pptx:shape:16">
            <a:extLst xmlns:a="http://schemas.openxmlformats.org/drawingml/2006/main">
              <a:ext uri="{FF2B5EF4-FFF2-40B4-BE49-F238E27FC236}">
                <a16:creationId xmlns:a16="http://schemas.microsoft.com/office/drawing/2014/main" id="{8B1F7A2A-4015-44AE-B668-AA26D7EBC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2857500"/>
            <a:ext cx="5143500" cy="4095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drawio2pptx:shape:17">
            <a:extLst xmlns:a="http://schemas.openxmlformats.org/drawingml/2006/main">
              <a:ext uri="{FF2B5EF4-FFF2-40B4-BE49-F238E27FC236}">
                <a16:creationId xmlns:a16="http://schemas.microsoft.com/office/drawing/2014/main" id="{6A15653D-045F-41DB-8028-17B1FF4D4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20600" y="3028950"/>
            <a:ext cx="4686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扩散模型与稀有字符处理</a:t>
            </a:r>
          </a:p>
        </p:txBody>
      </p:sp>
      <p:sp>
        <p:nvSpPr>
          <p:cNvPr id="18" name="drawio2pptx:shape:18">
            <a:extLst xmlns:a="http://schemas.openxmlformats.org/drawingml/2006/main">
              <a:ext uri="{FF2B5EF4-FFF2-40B4-BE49-F238E27FC236}">
                <a16:creationId xmlns:a16="http://schemas.microsoft.com/office/drawing/2014/main" id="{DA3F5C95-70ED-4B14-8B01-5A8EFD394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20600" y="3448050"/>
            <a:ext cx="4686300" cy="3295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近年的相关工作证明生成模型能够服务字体合成和低资源字符任务。
但在这些研究中，结构约束通常还不是最核心的控制信号。</a:t>
            </a:r>
          </a:p>
        </p:txBody>
      </p:sp>
      <p:sp>
        <p:nvSpPr>
          <p:cNvPr id="19" name="drawio2pptx:shape:19">
            <a:extLst xmlns:a="http://schemas.openxmlformats.org/drawingml/2006/main">
              <a:ext uri="{FF2B5EF4-FFF2-40B4-BE49-F238E27FC236}">
                <a16:creationId xmlns:a16="http://schemas.microsoft.com/office/drawing/2014/main" id="{CCFE51A0-B0B3-48FA-9CE5-DB248953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7524750"/>
            <a:ext cx="15621000" cy="1381125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497D"/>
          </a:solidFill>
          <a:ln xmlns:a="http://schemas.openxmlformats.org/drawingml/2006/main" w="9525">
            <a:solidFill>
              <a:srgbClr val="1F497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drawio2pptx:shape:20">
            <a:extLst xmlns:a="http://schemas.openxmlformats.org/drawingml/2006/main">
              <a:ext uri="{FF2B5EF4-FFF2-40B4-BE49-F238E27FC236}">
                <a16:creationId xmlns:a16="http://schemas.microsoft.com/office/drawing/2014/main" id="{13A77246-CECB-4A90-BC62-F4C0774E1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810500"/>
            <a:ext cx="15049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研究空缺：现有工作分别回答了“如何表示部件”“如何迁移字体风格”“如何提升图像生成质量”，
但还没有形成成熟的“部件 + 结构条件 -&gt; 整字图像”的统一研究框架。</a:t>
            </a:r>
          </a:p>
        </p:txBody>
      </p:sp>
    </p:spTree>
    <p:extLst>
      <p:ext uri="{BB962C8B-B14F-4D97-AF65-F5344CB8AC3E}">
        <p14:creationId xmlns:p14="http://schemas.microsoft.com/office/powerpoint/2010/main" val="102887877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rawio2pptx:shape:2">
            <a:extLst xmlns:a="http://schemas.openxmlformats.org/drawingml/2006/main">
              <a:ext uri="{FF2B5EF4-FFF2-40B4-BE49-F238E27FC236}">
                <a16:creationId xmlns:a16="http://schemas.microsoft.com/office/drawing/2014/main" id="{78F3F08B-03E9-415A-99C3-BD0E4DACE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drawio2pptx:shape:3">
            <a:extLst xmlns:a="http://schemas.openxmlformats.org/drawingml/2006/main">
              <a:ext uri="{FF2B5EF4-FFF2-40B4-BE49-F238E27FC236}">
                <a16:creationId xmlns:a16="http://schemas.microsoft.com/office/drawing/2014/main" id="{1F837993-7F45-458C-AE05-708A0B365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97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drawio2pptx:shape:4">
            <a:extLst xmlns:a="http://schemas.openxmlformats.org/drawingml/2006/main">
              <a:ext uri="{FF2B5EF4-FFF2-40B4-BE49-F238E27FC236}">
                <a16:creationId xmlns:a16="http://schemas.microsoft.com/office/drawing/2014/main" id="{B6494F44-1310-4345-9AC5-994C5EC3A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0"/>
            <a:ext cx="18288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drawio2pptx:shape:5">
            <a:extLst xmlns:a="http://schemas.openxmlformats.org/drawingml/2006/main">
              <a:ext uri="{FF2B5EF4-FFF2-40B4-BE49-F238E27FC236}">
                <a16:creationId xmlns:a16="http://schemas.microsoft.com/office/drawing/2014/main" id="{42E6CD70-8857-43FD-A050-67C7716B5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 b="1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 任务定义与研究目标</a:t>
            </a:r>
          </a:p>
        </p:txBody>
      </p:sp>
      <p:sp>
        <p:nvSpPr>
          <p:cNvPr id="6" name="drawio2pptx:shape:6">
            <a:extLst xmlns:a="http://schemas.openxmlformats.org/drawingml/2006/main">
              <a:ext uri="{FF2B5EF4-FFF2-40B4-BE49-F238E27FC236}">
                <a16:creationId xmlns:a16="http://schemas.microsoft.com/office/drawing/2014/main" id="{FE9C468A-0316-471A-BAE2-C0B5E2E9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906000"/>
            <a:ext cx="18288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drawio2pptx:shape:7">
            <a:extLst xmlns:a="http://schemas.openxmlformats.org/drawingml/2006/main">
              <a:ext uri="{FF2B5EF4-FFF2-40B4-BE49-F238E27FC236}">
                <a16:creationId xmlns:a16="http://schemas.microsoft.com/office/drawing/2014/main" id="{FEEC715D-E634-4680-8C6C-CA458BE4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0" y="99250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>
                <a:solidFill>
                  <a:srgbClr val="4A5568"/>
                </a:solidFill>
                <a:latin typeface="微软雅黑"/>
                <a:ea typeface="微软雅黑"/>
                <a:cs typeface="微软雅黑"/>
              </a:rPr>
              <a:t>2026 年 4 月</a:t>
            </a:r>
          </a:p>
        </p:txBody>
      </p:sp>
      <p:sp>
        <p:nvSpPr>
          <p:cNvPr id="8" name="drawio2pptx:shape:8">
            <a:extLst xmlns:a="http://schemas.openxmlformats.org/drawingml/2006/main">
              <a:ext uri="{FF2B5EF4-FFF2-40B4-BE49-F238E27FC236}">
                <a16:creationId xmlns:a16="http://schemas.microsoft.com/office/drawing/2014/main" id="{3A6867A4-AFDB-4836-B1AE-40AC3842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52600"/>
            <a:ext cx="9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drawio2pptx:shape:9">
            <a:extLst xmlns:a="http://schemas.openxmlformats.org/drawingml/2006/main">
              <a:ext uri="{FF2B5EF4-FFF2-40B4-BE49-F238E27FC236}">
                <a16:creationId xmlns:a16="http://schemas.microsoft.com/office/drawing/2014/main" id="{14560949-3401-4853-8E81-58100A8A1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733550"/>
            <a:ext cx="809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75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输入部件和结构条件，输出完整字形图像</a:t>
            </a:r>
          </a:p>
        </p:txBody>
      </p:sp>
      <p:sp>
        <p:nvSpPr>
          <p:cNvPr id="10" name="drawio2pptx:shape:10">
            <a:extLst xmlns:a="http://schemas.openxmlformats.org/drawingml/2006/main">
              <a:ext uri="{FF2B5EF4-FFF2-40B4-BE49-F238E27FC236}">
                <a16:creationId xmlns:a16="http://schemas.microsoft.com/office/drawing/2014/main" id="{A98E1AB5-31D8-483B-B6A5-9A97E8AF8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24125"/>
            <a:ext cx="2095500" cy="3238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 w="9525">
            <a:solidFill>
              <a:srgbClr val="C9A84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drawio2pptx:shape:11">
            <a:extLst xmlns:a="http://schemas.openxmlformats.org/drawingml/2006/main">
              <a:ext uri="{FF2B5EF4-FFF2-40B4-BE49-F238E27FC236}">
                <a16:creationId xmlns:a16="http://schemas.microsoft.com/office/drawing/2014/main" id="{7415F562-8C91-4587-A52D-EAD72BD1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2412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示例一：左右结构</a:t>
            </a:r>
          </a:p>
        </p:txBody>
      </p:sp>
      <p:sp>
        <p:nvSpPr>
          <p:cNvPr id="12" name="drawio2pptx:shape:12">
            <a:extLst xmlns:a="http://schemas.openxmlformats.org/drawingml/2006/main">
              <a:ext uri="{FF2B5EF4-FFF2-40B4-BE49-F238E27FC236}">
                <a16:creationId xmlns:a16="http://schemas.microsoft.com/office/drawing/2014/main" id="{A4A94013-7698-4A5F-9D38-6929808CF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00375"/>
            <a:ext cx="1524000" cy="1714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drawio2pptx:shape:13">
            <a:extLst xmlns:a="http://schemas.openxmlformats.org/drawingml/2006/main">
              <a:ext uri="{FF2B5EF4-FFF2-40B4-BE49-F238E27FC236}">
                <a16:creationId xmlns:a16="http://schemas.microsoft.com/office/drawing/2014/main" id="{F84D91D6-6047-488E-9138-0439D3F4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33725"/>
            <a:ext cx="12573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drawio2pptx:shape:14">
            <a:extLst xmlns:a="http://schemas.openxmlformats.org/drawingml/2006/main">
              <a:ext uri="{FF2B5EF4-FFF2-40B4-BE49-F238E27FC236}">
                <a16:creationId xmlns:a16="http://schemas.microsoft.com/office/drawing/2014/main" id="{9980B025-33AF-4AE7-87DA-78596E83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3387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部件 A：犭</a:t>
            </a:r>
          </a:p>
        </p:txBody>
      </p:sp>
      <p:sp>
        <p:nvSpPr>
          <p:cNvPr id="15" name="drawio2pptx:shape:15">
            <a:extLst xmlns:a="http://schemas.openxmlformats.org/drawingml/2006/main">
              <a:ext uri="{FF2B5EF4-FFF2-40B4-BE49-F238E27FC236}">
                <a16:creationId xmlns:a16="http://schemas.microsoft.com/office/drawing/2014/main" id="{BC88F997-1B40-4A1F-B61A-5002EF4FA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429000"/>
            <a:ext cx="857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1" i="0" u="none">
                <a:solidFill>
                  <a:srgbClr val="1F497D"/>
                </a:solidFill>
                <a:latin typeface="微软雅黑"/>
                <a:ea typeface="微软雅黑"/>
                <a:cs typeface="微软雅黑"/>
              </a:rPr>
              <a:t>+</a:t>
            </a:r>
          </a:p>
        </p:txBody>
      </p:sp>
      <p:sp>
        <p:nvSpPr>
          <p:cNvPr id="16" name="drawio2pptx:shape:16">
            <a:extLst xmlns:a="http://schemas.openxmlformats.org/drawingml/2006/main">
              <a:ext uri="{FF2B5EF4-FFF2-40B4-BE49-F238E27FC236}">
                <a16:creationId xmlns:a16="http://schemas.microsoft.com/office/drawing/2014/main" id="{BE74EEA2-34F9-47C3-8D6A-8DF465A8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000375"/>
            <a:ext cx="1524000" cy="1714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drawio2pptx:shape:17">
            <a:extLst xmlns:a="http://schemas.openxmlformats.org/drawingml/2006/main">
              <a:ext uri="{FF2B5EF4-FFF2-40B4-BE49-F238E27FC236}">
                <a16:creationId xmlns:a16="http://schemas.microsoft.com/office/drawing/2014/main" id="{036B0BB1-B26A-4C22-9AA2-AE10A17A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3133725"/>
            <a:ext cx="12573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drawio2pptx:shape:18">
            <a:extLst xmlns:a="http://schemas.openxmlformats.org/drawingml/2006/main">
              <a:ext uri="{FF2B5EF4-FFF2-40B4-BE49-F238E27FC236}">
                <a16:creationId xmlns:a16="http://schemas.microsoft.com/office/drawing/2014/main" id="{298ECAC2-1888-49F8-9C2B-F5CE890BD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33387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部件 B：句</a:t>
            </a:r>
          </a:p>
        </p:txBody>
      </p:sp>
      <p:sp>
        <p:nvSpPr>
          <p:cNvPr id="19" name="drawio2pptx:shape:19">
            <a:extLst xmlns:a="http://schemas.openxmlformats.org/drawingml/2006/main">
              <a:ext uri="{FF2B5EF4-FFF2-40B4-BE49-F238E27FC236}">
                <a16:creationId xmlns:a16="http://schemas.microsoft.com/office/drawing/2014/main" id="{3F8BA7AF-9964-4630-A7E8-47B859328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29000"/>
            <a:ext cx="857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1" i="0" u="none">
                <a:solidFill>
                  <a:srgbClr val="1F497D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0" name="drawio2pptx:shape:20">
            <a:extLst xmlns:a="http://schemas.openxmlformats.org/drawingml/2006/main">
              <a:ext uri="{FF2B5EF4-FFF2-40B4-BE49-F238E27FC236}">
                <a16:creationId xmlns:a16="http://schemas.microsoft.com/office/drawing/2014/main" id="{6EB848F4-7747-4D4C-ADD0-CBAE3801F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590925"/>
            <a:ext cx="2381250" cy="3238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497D"/>
          </a:solidFill>
          <a:ln xmlns:a="http://schemas.openxmlformats.org/drawingml/2006/main" w="9525">
            <a:solidFill>
              <a:srgbClr val="1F497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drawio2pptx:shape:21">
            <a:extLst xmlns:a="http://schemas.openxmlformats.org/drawingml/2006/main">
              <a:ext uri="{FF2B5EF4-FFF2-40B4-BE49-F238E27FC236}">
                <a16:creationId xmlns:a16="http://schemas.microsoft.com/office/drawing/2014/main" id="{0DFFF8B8-EC33-4B11-82DB-B9996192D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59092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结构标签：left_right</a:t>
            </a:r>
          </a:p>
        </p:txBody>
      </p:sp>
      <p:sp>
        <p:nvSpPr>
          <p:cNvPr id="22" name="drawio2pptx:shape:22">
            <a:extLst xmlns:a="http://schemas.openxmlformats.org/drawingml/2006/main">
              <a:ext uri="{FF2B5EF4-FFF2-40B4-BE49-F238E27FC236}">
                <a16:creationId xmlns:a16="http://schemas.microsoft.com/office/drawing/2014/main" id="{DAA1D0AB-507B-464C-A8F7-F31910D9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857500"/>
            <a:ext cx="1809750" cy="2095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drawio2pptx:shape:23">
            <a:extLst xmlns:a="http://schemas.openxmlformats.org/drawingml/2006/main">
              <a:ext uri="{FF2B5EF4-FFF2-40B4-BE49-F238E27FC236}">
                <a16:creationId xmlns:a16="http://schemas.microsoft.com/office/drawing/2014/main" id="{0A3A9201-A207-4DCC-B337-039E6AE26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990850"/>
            <a:ext cx="15430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drawio2pptx:shape:24">
            <a:extLst xmlns:a="http://schemas.openxmlformats.org/drawingml/2006/main">
              <a:ext uri="{FF2B5EF4-FFF2-40B4-BE49-F238E27FC236}">
                <a16:creationId xmlns:a16="http://schemas.microsoft.com/office/drawing/2014/main" id="{17752615-8EA2-4F57-89B3-0E14E052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720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输出：狗</a:t>
            </a:r>
          </a:p>
        </p:txBody>
      </p:sp>
      <p:sp>
        <p:nvSpPr>
          <p:cNvPr id="25" name="drawio2pptx:shape:25">
            <a:extLst xmlns:a="http://schemas.openxmlformats.org/drawingml/2006/main">
              <a:ext uri="{FF2B5EF4-FFF2-40B4-BE49-F238E27FC236}">
                <a16:creationId xmlns:a16="http://schemas.microsoft.com/office/drawing/2014/main" id="{6B8C1531-74F6-4B98-85C9-82E822EDF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72125"/>
            <a:ext cx="2381250" cy="3238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 w="9525">
            <a:solidFill>
              <a:srgbClr val="C9A84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drawio2pptx:shape:26">
            <a:extLst xmlns:a="http://schemas.openxmlformats.org/drawingml/2006/main">
              <a:ext uri="{FF2B5EF4-FFF2-40B4-BE49-F238E27FC236}">
                <a16:creationId xmlns:a16="http://schemas.microsoft.com/office/drawing/2014/main" id="{5269C6FC-F546-4957-ABAA-5BB4DA54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7212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示例二：全包围结构</a:t>
            </a:r>
          </a:p>
        </p:txBody>
      </p:sp>
      <p:sp>
        <p:nvSpPr>
          <p:cNvPr id="27" name="drawio2pptx:shape:27">
            <a:extLst xmlns:a="http://schemas.openxmlformats.org/drawingml/2006/main">
              <a:ext uri="{FF2B5EF4-FFF2-40B4-BE49-F238E27FC236}">
                <a16:creationId xmlns:a16="http://schemas.microsoft.com/office/drawing/2014/main" id="{F4144B93-5D71-41F9-9D73-7F6BDA8B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048375"/>
            <a:ext cx="1524000" cy="1714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drawio2pptx:shape:28">
            <a:extLst xmlns:a="http://schemas.openxmlformats.org/drawingml/2006/main">
              <a:ext uri="{FF2B5EF4-FFF2-40B4-BE49-F238E27FC236}">
                <a16:creationId xmlns:a16="http://schemas.microsoft.com/office/drawing/2014/main" id="{FE808E00-80DF-4151-8F7C-695CF8252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6181725"/>
            <a:ext cx="12573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drawio2pptx:shape:29">
            <a:extLst xmlns:a="http://schemas.openxmlformats.org/drawingml/2006/main">
              <a:ext uri="{FF2B5EF4-FFF2-40B4-BE49-F238E27FC236}">
                <a16:creationId xmlns:a16="http://schemas.microsoft.com/office/drawing/2014/main" id="{6909F8DC-B8BA-420C-9A75-D7AF1DE0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38187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部件 A：囗</a:t>
            </a:r>
          </a:p>
        </p:txBody>
      </p:sp>
      <p:sp>
        <p:nvSpPr>
          <p:cNvPr id="30" name="drawio2pptx:shape:30">
            <a:extLst xmlns:a="http://schemas.openxmlformats.org/drawingml/2006/main">
              <a:ext uri="{FF2B5EF4-FFF2-40B4-BE49-F238E27FC236}">
                <a16:creationId xmlns:a16="http://schemas.microsoft.com/office/drawing/2014/main" id="{0BFCBCDB-BBDC-4EBF-B8DD-CB725F576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6477000"/>
            <a:ext cx="857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1" i="0" u="none">
                <a:solidFill>
                  <a:srgbClr val="1F497D"/>
                </a:solidFill>
                <a:latin typeface="微软雅黑"/>
                <a:ea typeface="微软雅黑"/>
                <a:cs typeface="微软雅黑"/>
              </a:rPr>
              <a:t>+</a:t>
            </a:r>
          </a:p>
        </p:txBody>
      </p:sp>
      <p:sp>
        <p:nvSpPr>
          <p:cNvPr id="31" name="drawio2pptx:shape:31">
            <a:extLst xmlns:a="http://schemas.openxmlformats.org/drawingml/2006/main">
              <a:ext uri="{FF2B5EF4-FFF2-40B4-BE49-F238E27FC236}">
                <a16:creationId xmlns:a16="http://schemas.microsoft.com/office/drawing/2014/main" id="{F3CB2D9D-34C9-4F37-B3FA-B9798E4F0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048375"/>
            <a:ext cx="1524000" cy="1714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drawio2pptx:shape:32">
            <a:extLst xmlns:a="http://schemas.openxmlformats.org/drawingml/2006/main">
              <a:ext uri="{FF2B5EF4-FFF2-40B4-BE49-F238E27FC236}">
                <a16:creationId xmlns:a16="http://schemas.microsoft.com/office/drawing/2014/main" id="{49E62AC7-44F8-4BBC-8252-39158D45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6181725"/>
            <a:ext cx="12573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drawio2pptx:shape:33">
            <a:extLst xmlns:a="http://schemas.openxmlformats.org/drawingml/2006/main">
              <a:ext uri="{FF2B5EF4-FFF2-40B4-BE49-F238E27FC236}">
                <a16:creationId xmlns:a16="http://schemas.microsoft.com/office/drawing/2014/main" id="{80933385-6961-424A-B603-437865F7A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738187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部件 B：木</a:t>
            </a:r>
          </a:p>
        </p:txBody>
      </p:sp>
      <p:sp>
        <p:nvSpPr>
          <p:cNvPr id="34" name="drawio2pptx:shape:34">
            <a:extLst xmlns:a="http://schemas.openxmlformats.org/drawingml/2006/main">
              <a:ext uri="{FF2B5EF4-FFF2-40B4-BE49-F238E27FC236}">
                <a16:creationId xmlns:a16="http://schemas.microsoft.com/office/drawing/2014/main" id="{89CDC007-82B5-4BAD-BDC2-E4889B02C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477000"/>
            <a:ext cx="857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1" i="0" u="none">
                <a:solidFill>
                  <a:srgbClr val="1F497D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5" name="drawio2pptx:shape:35">
            <a:extLst xmlns:a="http://schemas.openxmlformats.org/drawingml/2006/main">
              <a:ext uri="{FF2B5EF4-FFF2-40B4-BE49-F238E27FC236}">
                <a16:creationId xmlns:a16="http://schemas.microsoft.com/office/drawing/2014/main" id="{C957185F-D6F0-4D76-A1CB-661B863AC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6638925"/>
            <a:ext cx="2667000" cy="3238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497D"/>
          </a:solidFill>
          <a:ln xmlns:a="http://schemas.openxmlformats.org/drawingml/2006/main" w="9525">
            <a:solidFill>
              <a:srgbClr val="1F497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drawio2pptx:shape:36">
            <a:extLst xmlns:a="http://schemas.openxmlformats.org/drawingml/2006/main">
              <a:ext uri="{FF2B5EF4-FFF2-40B4-BE49-F238E27FC236}">
                <a16:creationId xmlns:a16="http://schemas.microsoft.com/office/drawing/2014/main" id="{D61D305C-3CCA-4609-A68E-6F0F9CF37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663892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结构标签：full_surround</a:t>
            </a:r>
          </a:p>
        </p:txBody>
      </p:sp>
      <p:sp>
        <p:nvSpPr>
          <p:cNvPr id="37" name="drawio2pptx:shape:37">
            <a:extLst xmlns:a="http://schemas.openxmlformats.org/drawingml/2006/main">
              <a:ext uri="{FF2B5EF4-FFF2-40B4-BE49-F238E27FC236}">
                <a16:creationId xmlns:a16="http://schemas.microsoft.com/office/drawing/2014/main" id="{3A5440ED-A69C-410A-8096-B75839A9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905500"/>
            <a:ext cx="1809750" cy="2095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drawio2pptx:shape:38">
            <a:extLst xmlns:a="http://schemas.openxmlformats.org/drawingml/2006/main">
              <a:ext uri="{FF2B5EF4-FFF2-40B4-BE49-F238E27FC236}">
                <a16:creationId xmlns:a16="http://schemas.microsoft.com/office/drawing/2014/main" id="{ADB64E67-E325-472F-B8F0-28CC98B04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6038850"/>
            <a:ext cx="15430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9" name="drawio2pptx:shape:39">
            <a:extLst xmlns:a="http://schemas.openxmlformats.org/drawingml/2006/main">
              <a:ext uri="{FF2B5EF4-FFF2-40B4-BE49-F238E27FC236}">
                <a16:creationId xmlns:a16="http://schemas.microsoft.com/office/drawing/2014/main" id="{AADE32FE-0044-4FC8-ABE1-126E68BFD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6200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输出：困</a:t>
            </a:r>
          </a:p>
        </p:txBody>
      </p:sp>
      <p:sp>
        <p:nvSpPr>
          <p:cNvPr id="40" name="drawio2pptx:shape:40">
            <a:extLst xmlns:a="http://schemas.openxmlformats.org/drawingml/2006/main">
              <a:ext uri="{FF2B5EF4-FFF2-40B4-BE49-F238E27FC236}">
                <a16:creationId xmlns:a16="http://schemas.microsoft.com/office/drawing/2014/main" id="{54A2639E-7B9C-400A-8DC2-87DDB4A3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2476500"/>
            <a:ext cx="4762500" cy="609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1" name="drawio2pptx:shape:41">
            <a:extLst xmlns:a="http://schemas.openxmlformats.org/drawingml/2006/main">
              <a:ext uri="{FF2B5EF4-FFF2-40B4-BE49-F238E27FC236}">
                <a16:creationId xmlns:a16="http://schemas.microsoft.com/office/drawing/2014/main" id="{38D6112E-97FF-4D74-AE47-EFB24F158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15850" y="2647950"/>
            <a:ext cx="4305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42" name="drawio2pptx:shape:42">
            <a:extLst xmlns:a="http://schemas.openxmlformats.org/drawingml/2006/main">
              <a:ext uri="{FF2B5EF4-FFF2-40B4-BE49-F238E27FC236}">
                <a16:creationId xmlns:a16="http://schemas.microsoft.com/office/drawing/2014/main" id="{ED836FF0-9693-4D01-A5D8-2EB3281B1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15850" y="3067050"/>
            <a:ext cx="4305300" cy="529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1. 生成结果在结构上正确、在视觉上可辨识。
2. 在随机切分之外，还要在未见整字组合上保持一定泛化能力。
3. 条件接口同时兼容文本部件输入和图像部件输入，为后续 OOV 扩展验证留下空间。
4. 任务不是规则拼接，也不是开放域文生图，而是一个边界清楚的结构化条件生成问题。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df0047d51d4565"/>
          <a:stretch xmlns:a="http://schemas.openxmlformats.org/drawingml/2006/main"/>
        </p:blipFill>
        <p:spPr>
          <a:xfrm xmlns:a="http://schemas.openxmlformats.org/drawingml/2006/main">
            <a:off x="1657350" y="3133725"/>
            <a:ext cx="1066800" cy="1066800"/>
          </a:xfrm>
          <a:prstGeom xmlns:a="http://schemas.openxmlformats.org/drawingml/2006/main" prst="rect">
            <a:avLst/>
          </a:prstGeom>
        </p:spPr>
      </p:pic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f777916f6a4d86"/>
          <a:stretch xmlns:a="http://schemas.openxmlformats.org/drawingml/2006/main"/>
        </p:blipFill>
        <p:spPr>
          <a:xfrm xmlns:a="http://schemas.openxmlformats.org/drawingml/2006/main">
            <a:off x="4181475" y="3133725"/>
            <a:ext cx="1066800" cy="1066800"/>
          </a:xfrm>
          <a:prstGeom xmlns:a="http://schemas.openxmlformats.org/drawingml/2006/main" prst="rect">
            <a:avLst/>
          </a:prstGeom>
        </p:spPr>
      </p:pic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5ae76cd9bc47e6"/>
          <a:stretch xmlns:a="http://schemas.openxmlformats.org/drawingml/2006/main"/>
        </p:blipFill>
        <p:spPr>
          <a:xfrm xmlns:a="http://schemas.openxmlformats.org/drawingml/2006/main">
            <a:off x="9791700" y="2990850"/>
            <a:ext cx="1466850" cy="1466850"/>
          </a:xfrm>
          <a:prstGeom xmlns:a="http://schemas.openxmlformats.org/drawingml/2006/main" prst="rect">
            <a:avLst/>
          </a:prstGeom>
        </p:spPr>
      </p:pic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a6abb29dc544ac"/>
          <a:stretch xmlns:a="http://schemas.openxmlformats.org/drawingml/2006/main"/>
        </p:blipFill>
        <p:spPr>
          <a:xfrm xmlns:a="http://schemas.openxmlformats.org/drawingml/2006/main">
            <a:off x="1657350" y="6181725"/>
            <a:ext cx="1066800" cy="1066800"/>
          </a:xfrm>
          <a:prstGeom xmlns:a="http://schemas.openxmlformats.org/drawingml/2006/main" prst="rect">
            <a:avLst/>
          </a:prstGeom>
        </p:spPr>
      </p:pic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7458f65a2d461f"/>
          <a:stretch xmlns:a="http://schemas.openxmlformats.org/drawingml/2006/main"/>
        </p:blipFill>
        <p:spPr>
          <a:xfrm xmlns:a="http://schemas.openxmlformats.org/drawingml/2006/main">
            <a:off x="4181475" y="6181725"/>
            <a:ext cx="1066800" cy="1066800"/>
          </a:xfrm>
          <a:prstGeom xmlns:a="http://schemas.openxmlformats.org/drawingml/2006/main" prst="rect">
            <a:avLst/>
          </a:prstGeom>
        </p:spPr>
      </p:pic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dae80b5ad145a3"/>
          <a:stretch xmlns:a="http://schemas.openxmlformats.org/drawingml/2006/main"/>
        </p:blipFill>
        <p:spPr>
          <a:xfrm xmlns:a="http://schemas.openxmlformats.org/drawingml/2006/main">
            <a:off x="9982200" y="6038850"/>
            <a:ext cx="1466850" cy="14668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29200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rawio2pptx:shape:2">
            <a:extLst xmlns:a="http://schemas.openxmlformats.org/drawingml/2006/main">
              <a:ext uri="{FF2B5EF4-FFF2-40B4-BE49-F238E27FC236}">
                <a16:creationId xmlns:a16="http://schemas.microsoft.com/office/drawing/2014/main" id="{963D3BED-2256-4CA1-A3C1-E2A2AC87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drawio2pptx:shape:3">
            <a:extLst xmlns:a="http://schemas.openxmlformats.org/drawingml/2006/main">
              <a:ext uri="{FF2B5EF4-FFF2-40B4-BE49-F238E27FC236}">
                <a16:creationId xmlns:a16="http://schemas.microsoft.com/office/drawing/2014/main" id="{7C406F2C-B31C-47F8-850A-8E56C609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97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drawio2pptx:shape:4">
            <a:extLst xmlns:a="http://schemas.openxmlformats.org/drawingml/2006/main">
              <a:ext uri="{FF2B5EF4-FFF2-40B4-BE49-F238E27FC236}">
                <a16:creationId xmlns:a16="http://schemas.microsoft.com/office/drawing/2014/main" id="{06AEF253-D9EB-4985-A1CF-AB042F51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0"/>
            <a:ext cx="18288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drawio2pptx:shape:5">
            <a:extLst xmlns:a="http://schemas.openxmlformats.org/drawingml/2006/main">
              <a:ext uri="{FF2B5EF4-FFF2-40B4-BE49-F238E27FC236}">
                <a16:creationId xmlns:a16="http://schemas.microsoft.com/office/drawing/2014/main" id="{DCD53034-BAF1-4D90-947B-294912CE4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 b="1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05 总体研究方案</a:t>
            </a:r>
          </a:p>
        </p:txBody>
      </p:sp>
      <p:sp>
        <p:nvSpPr>
          <p:cNvPr id="6" name="drawio2pptx:shape:6">
            <a:extLst xmlns:a="http://schemas.openxmlformats.org/drawingml/2006/main">
              <a:ext uri="{FF2B5EF4-FFF2-40B4-BE49-F238E27FC236}">
                <a16:creationId xmlns:a16="http://schemas.microsoft.com/office/drawing/2014/main" id="{831FA930-0242-45E7-9EAB-C00B5772A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906000"/>
            <a:ext cx="18288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drawio2pptx:shape:7">
            <a:extLst xmlns:a="http://schemas.openxmlformats.org/drawingml/2006/main">
              <a:ext uri="{FF2B5EF4-FFF2-40B4-BE49-F238E27FC236}">
                <a16:creationId xmlns:a16="http://schemas.microsoft.com/office/drawing/2014/main" id="{150A78F3-7B60-4CF8-AE80-CFADB8DA7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0" y="99250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>
                <a:solidFill>
                  <a:srgbClr val="4A5568"/>
                </a:solidFill>
                <a:latin typeface="微软雅黑"/>
                <a:ea typeface="微软雅黑"/>
                <a:cs typeface="微软雅黑"/>
              </a:rPr>
              <a:t>2026 年 4 月</a:t>
            </a:r>
          </a:p>
        </p:txBody>
      </p:sp>
      <p:sp>
        <p:nvSpPr>
          <p:cNvPr id="8" name="drawio2pptx:shape:8">
            <a:extLst xmlns:a="http://schemas.openxmlformats.org/drawingml/2006/main">
              <a:ext uri="{FF2B5EF4-FFF2-40B4-BE49-F238E27FC236}">
                <a16:creationId xmlns:a16="http://schemas.microsoft.com/office/drawing/2014/main" id="{5C235BEB-5657-4712-98AA-883219369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33550"/>
            <a:ext cx="9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drawio2pptx:shape:9">
            <a:extLst xmlns:a="http://schemas.openxmlformats.org/drawingml/2006/main">
              <a:ext uri="{FF2B5EF4-FFF2-40B4-BE49-F238E27FC236}">
                <a16:creationId xmlns:a16="http://schemas.microsoft.com/office/drawing/2014/main" id="{F290EEB9-1B50-4385-A33A-7C1FF249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714500"/>
            <a:ext cx="800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75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先把任务做小、做稳，再推进到主模型</a:t>
            </a:r>
          </a:p>
        </p:txBody>
      </p:sp>
      <p:sp>
        <p:nvSpPr>
          <p:cNvPr id="10" name="drawio2pptx:shape:10">
            <a:extLst xmlns:a="http://schemas.openxmlformats.org/drawingml/2006/main">
              <a:ext uri="{FF2B5EF4-FFF2-40B4-BE49-F238E27FC236}">
                <a16:creationId xmlns:a16="http://schemas.microsoft.com/office/drawing/2014/main" id="{6D12AAD9-2239-4844-82D7-74FCF5A1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33750"/>
            <a:ext cx="2857500" cy="3429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drawio2pptx:shape:11">
            <a:extLst xmlns:a="http://schemas.openxmlformats.org/drawingml/2006/main">
              <a:ext uri="{FF2B5EF4-FFF2-40B4-BE49-F238E27FC236}">
                <a16:creationId xmlns:a16="http://schemas.microsoft.com/office/drawing/2014/main" id="{073B0FAB-4636-4DED-95A8-092DB3532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67125"/>
            <a:ext cx="68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50" b="1" i="0" u="none">
                <a:solidFill>
                  <a:srgbClr val="1F497D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2" name="drawio2pptx:shape:12">
            <a:extLst xmlns:a="http://schemas.openxmlformats.org/drawingml/2006/main">
              <a:ext uri="{FF2B5EF4-FFF2-40B4-BE49-F238E27FC236}">
                <a16:creationId xmlns:a16="http://schemas.microsoft.com/office/drawing/2014/main" id="{881C15C8-4F90-432D-9E54-9F638574F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714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数据构建</a:t>
            </a:r>
          </a:p>
        </p:txBody>
      </p:sp>
      <p:sp>
        <p:nvSpPr>
          <p:cNvPr id="13" name="drawio2pptx:shape:13">
            <a:extLst xmlns:a="http://schemas.openxmlformats.org/drawingml/2006/main">
              <a:ext uri="{FF2B5EF4-FFF2-40B4-BE49-F238E27FC236}">
                <a16:creationId xmlns:a16="http://schemas.microsoft.com/office/drawing/2014/main" id="{002611E0-A63C-405E-8E2F-EB809A02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76750"/>
            <a:ext cx="23622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字体渲染 + 拆字表
生成目标字、部件图、结构标签和样式信息</a:t>
            </a:r>
          </a:p>
        </p:txBody>
      </p:sp>
      <p:sp>
        <p:nvSpPr>
          <p:cNvPr id="14" name="drawio2pptx:shape:14">
            <a:extLst xmlns:a="http://schemas.openxmlformats.org/drawingml/2006/main">
              <a:ext uri="{FF2B5EF4-FFF2-40B4-BE49-F238E27FC236}">
                <a16:creationId xmlns:a16="http://schemas.microsoft.com/office/drawing/2014/main" id="{FA6306DC-CA6D-4645-8872-48A28B70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76750"/>
            <a:ext cx="857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1" i="0" u="none">
                <a:solidFill>
                  <a:srgbClr val="1F497D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5" name="drawio2pptx:shape:15">
            <a:extLst xmlns:a="http://schemas.openxmlformats.org/drawingml/2006/main">
              <a:ext uri="{FF2B5EF4-FFF2-40B4-BE49-F238E27FC236}">
                <a16:creationId xmlns:a16="http://schemas.microsoft.com/office/drawing/2014/main" id="{079D1287-B855-45FC-80AD-CC046BB68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333750"/>
            <a:ext cx="2857500" cy="3429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drawio2pptx:shape:16">
            <a:extLst xmlns:a="http://schemas.openxmlformats.org/drawingml/2006/main">
              <a:ext uri="{FF2B5EF4-FFF2-40B4-BE49-F238E27FC236}">
                <a16:creationId xmlns:a16="http://schemas.microsoft.com/office/drawing/2014/main" id="{8BE40CA3-D75E-4B8C-8F67-F862D4B3B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667125"/>
            <a:ext cx="68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50" b="1" i="0" u="none">
                <a:solidFill>
                  <a:srgbClr val="1F497D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drawio2pptx:shape:17">
            <a:extLst xmlns:a="http://schemas.openxmlformats.org/drawingml/2006/main">
              <a:ext uri="{FF2B5EF4-FFF2-40B4-BE49-F238E27FC236}">
                <a16:creationId xmlns:a16="http://schemas.microsoft.com/office/drawing/2014/main" id="{33EABD06-B1BA-4DCE-BA3B-7F401035C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714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基线模型</a:t>
            </a:r>
          </a:p>
        </p:txBody>
      </p:sp>
      <p:sp>
        <p:nvSpPr>
          <p:cNvPr id="18" name="drawio2pptx:shape:18">
            <a:extLst xmlns:a="http://schemas.openxmlformats.org/drawingml/2006/main">
              <a:ext uri="{FF2B5EF4-FFF2-40B4-BE49-F238E27FC236}">
                <a16:creationId xmlns:a16="http://schemas.microsoft.com/office/drawing/2014/main" id="{EB940E6A-76FE-4A69-A5B9-F10FD0D8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4476750"/>
            <a:ext cx="23622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先训练条件 U-Net
验证任务是否能稳定跑通</a:t>
            </a:r>
          </a:p>
        </p:txBody>
      </p:sp>
      <p:sp>
        <p:nvSpPr>
          <p:cNvPr id="19" name="drawio2pptx:shape:19">
            <a:extLst xmlns:a="http://schemas.openxmlformats.org/drawingml/2006/main">
              <a:ext uri="{FF2B5EF4-FFF2-40B4-BE49-F238E27FC236}">
                <a16:creationId xmlns:a16="http://schemas.microsoft.com/office/drawing/2014/main" id="{E5FDE7B5-D904-40EE-A54A-56A815A2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476750"/>
            <a:ext cx="857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1" i="0" u="none">
                <a:solidFill>
                  <a:srgbClr val="1F497D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0" name="drawio2pptx:shape:20">
            <a:extLst xmlns:a="http://schemas.openxmlformats.org/drawingml/2006/main">
              <a:ext uri="{FF2B5EF4-FFF2-40B4-BE49-F238E27FC236}">
                <a16:creationId xmlns:a16="http://schemas.microsoft.com/office/drawing/2014/main" id="{31E0CA9E-DE9F-470C-ACA5-FAC7FB8A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333750"/>
            <a:ext cx="2667000" cy="3429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drawio2pptx:shape:21">
            <a:extLst xmlns:a="http://schemas.openxmlformats.org/drawingml/2006/main">
              <a:ext uri="{FF2B5EF4-FFF2-40B4-BE49-F238E27FC236}">
                <a16:creationId xmlns:a16="http://schemas.microsoft.com/office/drawing/2014/main" id="{F0902581-8672-45D5-8C20-06C20CC38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67125"/>
            <a:ext cx="68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50" b="1" i="0" u="none">
                <a:solidFill>
                  <a:srgbClr val="1F497D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drawio2pptx:shape:22">
            <a:extLst xmlns:a="http://schemas.openxmlformats.org/drawingml/2006/main">
              <a:ext uri="{FF2B5EF4-FFF2-40B4-BE49-F238E27FC236}">
                <a16:creationId xmlns:a16="http://schemas.microsoft.com/office/drawing/2014/main" id="{93759382-309B-4134-956E-A6578604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147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表征压缩</a:t>
            </a:r>
          </a:p>
        </p:txBody>
      </p:sp>
      <p:sp>
        <p:nvSpPr>
          <p:cNvPr id="23" name="drawio2pptx:shape:23">
            <a:extLst xmlns:a="http://schemas.openxmlformats.org/drawingml/2006/main">
              <a:ext uri="{FF2B5EF4-FFF2-40B4-BE49-F238E27FC236}">
                <a16:creationId xmlns:a16="http://schemas.microsoft.com/office/drawing/2014/main" id="{7511CEAC-9F8A-4648-B2FF-D8E80507A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476750"/>
            <a:ext cx="21717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训练 VAE
把字形映射到潜空间</a:t>
            </a:r>
          </a:p>
        </p:txBody>
      </p:sp>
      <p:sp>
        <p:nvSpPr>
          <p:cNvPr id="24" name="drawio2pptx:shape:24">
            <a:extLst xmlns:a="http://schemas.openxmlformats.org/drawingml/2006/main">
              <a:ext uri="{FF2B5EF4-FFF2-40B4-BE49-F238E27FC236}">
                <a16:creationId xmlns:a16="http://schemas.microsoft.com/office/drawing/2014/main" id="{3AD6138B-F966-42C3-8064-253048D31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476750"/>
            <a:ext cx="857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1" i="0" u="none">
                <a:solidFill>
                  <a:srgbClr val="1F497D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5" name="drawio2pptx:shape:25">
            <a:extLst xmlns:a="http://schemas.openxmlformats.org/drawingml/2006/main">
              <a:ext uri="{FF2B5EF4-FFF2-40B4-BE49-F238E27FC236}">
                <a16:creationId xmlns:a16="http://schemas.microsoft.com/office/drawing/2014/main" id="{F650FF11-3D12-46BA-AC51-362F40A9D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333750"/>
            <a:ext cx="2857500" cy="3429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drawio2pptx:shape:26">
            <a:extLst xmlns:a="http://schemas.openxmlformats.org/drawingml/2006/main">
              <a:ext uri="{FF2B5EF4-FFF2-40B4-BE49-F238E27FC236}">
                <a16:creationId xmlns:a16="http://schemas.microsoft.com/office/drawing/2014/main" id="{C0788F14-CAA0-4848-AF5C-5CF6FA3B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3667125"/>
            <a:ext cx="68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50" b="1" i="0" u="none">
                <a:solidFill>
                  <a:srgbClr val="1F497D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7" name="drawio2pptx:shape:27">
            <a:extLst xmlns:a="http://schemas.openxmlformats.org/drawingml/2006/main">
              <a:ext uri="{FF2B5EF4-FFF2-40B4-BE49-F238E27FC236}">
                <a16:creationId xmlns:a16="http://schemas.microsoft.com/office/drawing/2014/main" id="{798949E1-CCF9-469F-B18A-8D1D87948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49125" y="3714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主模型</a:t>
            </a:r>
          </a:p>
        </p:txBody>
      </p:sp>
      <p:sp>
        <p:nvSpPr>
          <p:cNvPr id="28" name="drawio2pptx:shape:28">
            <a:extLst xmlns:a="http://schemas.openxmlformats.org/drawingml/2006/main">
              <a:ext uri="{FF2B5EF4-FFF2-40B4-BE49-F238E27FC236}">
                <a16:creationId xmlns:a16="http://schemas.microsoft.com/office/drawing/2014/main" id="{E80931A9-0092-4E4A-9294-246153C0B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75" y="4476750"/>
            <a:ext cx="23622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在潜空间中做条件扩散
比较结构一致性与生成质量</a:t>
            </a:r>
          </a:p>
        </p:txBody>
      </p:sp>
      <p:sp>
        <p:nvSpPr>
          <p:cNvPr id="29" name="drawio2pptx:shape:29">
            <a:extLst xmlns:a="http://schemas.openxmlformats.org/drawingml/2006/main">
              <a:ext uri="{FF2B5EF4-FFF2-40B4-BE49-F238E27FC236}">
                <a16:creationId xmlns:a16="http://schemas.microsoft.com/office/drawing/2014/main" id="{DDA6CF62-197F-48DE-95FA-F6E43AF58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49375" y="4476750"/>
            <a:ext cx="857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1" i="0" u="none">
                <a:solidFill>
                  <a:srgbClr val="1F497D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0" name="drawio2pptx:shape:30">
            <a:extLst xmlns:a="http://schemas.openxmlformats.org/drawingml/2006/main">
              <a:ext uri="{FF2B5EF4-FFF2-40B4-BE49-F238E27FC236}">
                <a16:creationId xmlns:a16="http://schemas.microsoft.com/office/drawing/2014/main" id="{204F5F12-1CF2-460D-9C17-701A4F714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3333750"/>
            <a:ext cx="4000500" cy="3429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drawio2pptx:shape:31">
            <a:extLst xmlns:a="http://schemas.openxmlformats.org/drawingml/2006/main">
              <a:ext uri="{FF2B5EF4-FFF2-40B4-BE49-F238E27FC236}">
                <a16:creationId xmlns:a16="http://schemas.microsoft.com/office/drawing/2014/main" id="{1D2215A0-0D5D-43D2-9250-BCC6E526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0" y="3667125"/>
            <a:ext cx="68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50" b="1" i="0" u="none">
                <a:solidFill>
                  <a:srgbClr val="1F497D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32" name="drawio2pptx:shape:32">
            <a:extLst xmlns:a="http://schemas.openxmlformats.org/drawingml/2006/main">
              <a:ext uri="{FF2B5EF4-FFF2-40B4-BE49-F238E27FC236}">
                <a16:creationId xmlns:a16="http://schemas.microsoft.com/office/drawing/2014/main" id="{870DC179-42F1-474E-ADF3-03174117E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37147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评测与扩展</a:t>
            </a:r>
          </a:p>
        </p:txBody>
      </p:sp>
      <p:sp>
        <p:nvSpPr>
          <p:cNvPr id="33" name="drawio2pptx:shape:33">
            <a:extLst xmlns:a="http://schemas.openxmlformats.org/drawingml/2006/main">
              <a:ext uri="{FF2B5EF4-FFF2-40B4-BE49-F238E27FC236}">
                <a16:creationId xmlns:a16="http://schemas.microsoft.com/office/drawing/2014/main" id="{0A2BEA8A-EA0B-44AE-8CE5-76F6AC80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5650" y="4476750"/>
            <a:ext cx="35052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整字留出评测
加少量 OOV/古壮字扩展验证</a:t>
            </a:r>
          </a:p>
        </p:txBody>
      </p:sp>
      <p:sp>
        <p:nvSpPr>
          <p:cNvPr id="34" name="drawio2pptx:shape:34">
            <a:extLst xmlns:a="http://schemas.openxmlformats.org/drawingml/2006/main">
              <a:ext uri="{FF2B5EF4-FFF2-40B4-BE49-F238E27FC236}">
                <a16:creationId xmlns:a16="http://schemas.microsoft.com/office/drawing/2014/main" id="{6522665C-5078-48E0-8492-4C806BCA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429500"/>
            <a:ext cx="14478000" cy="1333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drawio2pptx:shape:35">
            <a:extLst xmlns:a="http://schemas.openxmlformats.org/drawingml/2006/main">
              <a:ext uri="{FF2B5EF4-FFF2-40B4-BE49-F238E27FC236}">
                <a16:creationId xmlns:a16="http://schemas.microsoft.com/office/drawing/2014/main" id="{C573C6A7-CBD8-4984-B133-274D1E5E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7600950"/>
            <a:ext cx="14020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推进原则</a:t>
            </a:r>
          </a:p>
        </p:txBody>
      </p:sp>
      <p:sp>
        <p:nvSpPr>
          <p:cNvPr id="36" name="drawio2pptx:shape:36">
            <a:extLst xmlns:a="http://schemas.openxmlformats.org/drawingml/2006/main">
              <a:ext uri="{FF2B5EF4-FFF2-40B4-BE49-F238E27FC236}">
                <a16:creationId xmlns:a16="http://schemas.microsoft.com/office/drawing/2014/main" id="{031F2E85-B108-4CCC-B687-4245352E1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8020050"/>
            <a:ext cx="14020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主任务以现代汉字为核心，OOV 或古壮字只作为方法外延验证。研究路线优先保证问题定义清楚、数据协议稳定和基线可复现。</a:t>
            </a:r>
          </a:p>
        </p:txBody>
      </p:sp>
    </p:spTree>
    <p:extLst>
      <p:ext uri="{BB962C8B-B14F-4D97-AF65-F5344CB8AC3E}">
        <p14:creationId xmlns:p14="http://schemas.microsoft.com/office/powerpoint/2010/main" val="138720263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rawio2pptx:shape:2">
            <a:extLst xmlns:a="http://schemas.openxmlformats.org/drawingml/2006/main">
              <a:ext uri="{FF2B5EF4-FFF2-40B4-BE49-F238E27FC236}">
                <a16:creationId xmlns:a16="http://schemas.microsoft.com/office/drawing/2014/main" id="{96E0C7AE-E763-41AB-9CC9-C0A867A87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drawio2pptx:shape:3">
            <a:extLst xmlns:a="http://schemas.openxmlformats.org/drawingml/2006/main">
              <a:ext uri="{FF2B5EF4-FFF2-40B4-BE49-F238E27FC236}">
                <a16:creationId xmlns:a16="http://schemas.microsoft.com/office/drawing/2014/main" id="{1C7D9B8A-AFD4-4008-B293-7A630CAF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97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drawio2pptx:shape:4">
            <a:extLst xmlns:a="http://schemas.openxmlformats.org/drawingml/2006/main">
              <a:ext uri="{FF2B5EF4-FFF2-40B4-BE49-F238E27FC236}">
                <a16:creationId xmlns:a16="http://schemas.microsoft.com/office/drawing/2014/main" id="{9C085285-78D0-40FF-A178-961B401DC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0"/>
            <a:ext cx="18288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drawio2pptx:shape:5">
            <a:extLst xmlns:a="http://schemas.openxmlformats.org/drawingml/2006/main">
              <a:ext uri="{FF2B5EF4-FFF2-40B4-BE49-F238E27FC236}">
                <a16:creationId xmlns:a16="http://schemas.microsoft.com/office/drawing/2014/main" id="{054EB803-2AAD-443A-AC60-9ED90D315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 b="1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06 核心方法设计</a:t>
            </a:r>
          </a:p>
        </p:txBody>
      </p:sp>
      <p:sp>
        <p:nvSpPr>
          <p:cNvPr id="6" name="drawio2pptx:shape:6">
            <a:extLst xmlns:a="http://schemas.openxmlformats.org/drawingml/2006/main">
              <a:ext uri="{FF2B5EF4-FFF2-40B4-BE49-F238E27FC236}">
                <a16:creationId xmlns:a16="http://schemas.microsoft.com/office/drawing/2014/main" id="{98AA725F-BA73-43A1-B2EF-FE804FAA0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906000"/>
            <a:ext cx="18288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drawio2pptx:shape:7">
            <a:extLst xmlns:a="http://schemas.openxmlformats.org/drawingml/2006/main">
              <a:ext uri="{FF2B5EF4-FFF2-40B4-BE49-F238E27FC236}">
                <a16:creationId xmlns:a16="http://schemas.microsoft.com/office/drawing/2014/main" id="{F599E0EA-2E51-4C12-8FB4-50C72C27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0" y="99250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>
                <a:solidFill>
                  <a:srgbClr val="4A5568"/>
                </a:solidFill>
                <a:latin typeface="微软雅黑"/>
                <a:ea typeface="微软雅黑"/>
                <a:cs typeface="微软雅黑"/>
              </a:rPr>
              <a:t>2026 年 4 月</a:t>
            </a:r>
          </a:p>
        </p:txBody>
      </p:sp>
      <p:sp>
        <p:nvSpPr>
          <p:cNvPr id="8" name="drawio2pptx:shape:8">
            <a:extLst xmlns:a="http://schemas.openxmlformats.org/drawingml/2006/main">
              <a:ext uri="{FF2B5EF4-FFF2-40B4-BE49-F238E27FC236}">
                <a16:creationId xmlns:a16="http://schemas.microsoft.com/office/drawing/2014/main" id="{45E13ECB-4F0E-48AA-B8A7-F5F4D719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33550"/>
            <a:ext cx="9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drawio2pptx:shape:9">
            <a:extLst xmlns:a="http://schemas.openxmlformats.org/drawingml/2006/main">
              <a:ext uri="{FF2B5EF4-FFF2-40B4-BE49-F238E27FC236}">
                <a16:creationId xmlns:a16="http://schemas.microsoft.com/office/drawing/2014/main" id="{042C428B-6C89-4332-9955-A015CAF25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714500"/>
            <a:ext cx="723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75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统一条件接口 + 显式结构约束</a:t>
            </a:r>
          </a:p>
        </p:txBody>
      </p:sp>
      <p:sp>
        <p:nvSpPr>
          <p:cNvPr id="10" name="drawio2pptx:shape:10">
            <a:extLst xmlns:a="http://schemas.openxmlformats.org/drawingml/2006/main">
              <a:ext uri="{FF2B5EF4-FFF2-40B4-BE49-F238E27FC236}">
                <a16:creationId xmlns:a16="http://schemas.microsoft.com/office/drawing/2014/main" id="{1BF5271A-949A-41A8-A97E-4B58B2E0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62250"/>
            <a:ext cx="5334000" cy="533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drawio2pptx:shape:11">
            <a:extLst xmlns:a="http://schemas.openxmlformats.org/drawingml/2006/main">
              <a:ext uri="{FF2B5EF4-FFF2-40B4-BE49-F238E27FC236}">
                <a16:creationId xmlns:a16="http://schemas.microsoft.com/office/drawing/2014/main" id="{CC581F72-F40C-40AA-9FA2-CA98BAEC5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933700"/>
            <a:ext cx="4876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统一条件接口</a:t>
            </a:r>
          </a:p>
        </p:txBody>
      </p:sp>
      <p:sp>
        <p:nvSpPr>
          <p:cNvPr id="12" name="drawio2pptx:shape:12">
            <a:extLst xmlns:a="http://schemas.openxmlformats.org/drawingml/2006/main">
              <a:ext uri="{FF2B5EF4-FFF2-40B4-BE49-F238E27FC236}">
                <a16:creationId xmlns:a16="http://schemas.microsoft.com/office/drawing/2014/main" id="{B5829515-BC44-45FF-9EDC-CB879A32B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352800"/>
            <a:ext cx="4876800" cy="453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文本部件输入适合现代汉字的数据构造与词表管理。
图像部件输入更适合未登录字符、古壮字和异体字场景。
结构标签与样式信息与两类输入共同进入同一条件对象，避免形成彼此割裂的两套方法。</a:t>
            </a:r>
          </a:p>
        </p:txBody>
      </p:sp>
      <p:sp>
        <p:nvSpPr>
          <p:cNvPr id="13" name="drawio2pptx:shape:13">
            <a:extLst xmlns:a="http://schemas.openxmlformats.org/drawingml/2006/main">
              <a:ext uri="{FF2B5EF4-FFF2-40B4-BE49-F238E27FC236}">
                <a16:creationId xmlns:a16="http://schemas.microsoft.com/office/drawing/2014/main" id="{B5596C34-4E7D-4796-AF9C-17FDC452B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62250"/>
            <a:ext cx="4953000" cy="2476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drawio2pptx:shape:14">
            <a:extLst xmlns:a="http://schemas.openxmlformats.org/drawingml/2006/main">
              <a:ext uri="{FF2B5EF4-FFF2-40B4-BE49-F238E27FC236}">
                <a16:creationId xmlns:a16="http://schemas.microsoft.com/office/drawing/2014/main" id="{576882D2-296B-4E67-9A94-68D196BD6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33700"/>
            <a:ext cx="449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条件 U-Net 基线</a:t>
            </a:r>
          </a:p>
        </p:txBody>
      </p:sp>
      <p:sp>
        <p:nvSpPr>
          <p:cNvPr id="15" name="drawio2pptx:shape:15">
            <a:extLst xmlns:a="http://schemas.openxmlformats.org/drawingml/2006/main">
              <a:ext uri="{FF2B5EF4-FFF2-40B4-BE49-F238E27FC236}">
                <a16:creationId xmlns:a16="http://schemas.microsoft.com/office/drawing/2014/main" id="{F3288F7A-402A-409E-9715-2BF012DDF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352800"/>
            <a:ext cx="44958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从部件图像、部件 ID、结构标签和样式信息中提取条件，尽早建立一个稳定、可分析的生成基线。</a:t>
            </a:r>
          </a:p>
        </p:txBody>
      </p:sp>
      <p:sp>
        <p:nvSpPr>
          <p:cNvPr id="16" name="drawio2pptx:shape:16">
            <a:extLst xmlns:a="http://schemas.openxmlformats.org/drawingml/2006/main">
              <a:ext uri="{FF2B5EF4-FFF2-40B4-BE49-F238E27FC236}">
                <a16:creationId xmlns:a16="http://schemas.microsoft.com/office/drawing/2014/main" id="{066D96DF-0742-4E78-877A-F0DA8E11D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619750"/>
            <a:ext cx="4953000" cy="2476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drawio2pptx:shape:17">
            <a:extLst xmlns:a="http://schemas.openxmlformats.org/drawingml/2006/main">
              <a:ext uri="{FF2B5EF4-FFF2-40B4-BE49-F238E27FC236}">
                <a16:creationId xmlns:a16="http://schemas.microsoft.com/office/drawing/2014/main" id="{B8198FD9-BB42-4D2E-B923-1DF429106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791200"/>
            <a:ext cx="449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VAE + 潜空间扩散</a:t>
            </a:r>
          </a:p>
        </p:txBody>
      </p:sp>
      <p:sp>
        <p:nvSpPr>
          <p:cNvPr id="18" name="drawio2pptx:shape:18">
            <a:extLst xmlns:a="http://schemas.openxmlformats.org/drawingml/2006/main">
              <a:ext uri="{FF2B5EF4-FFF2-40B4-BE49-F238E27FC236}">
                <a16:creationId xmlns:a16="http://schemas.microsoft.com/office/drawing/2014/main" id="{3004D1B1-7983-4500-91A7-7C083D6CC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6210300"/>
            <a:ext cx="44958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先用 VAE 压缩字形，再在潜空间中做条件去噪生成，降低计算压力，同时比较主模型与基线在结构一致性上的差异。</a:t>
            </a:r>
          </a:p>
        </p:txBody>
      </p:sp>
      <p:sp>
        <p:nvSpPr>
          <p:cNvPr id="19" name="drawio2pptx:shape:19">
            <a:extLst xmlns:a="http://schemas.openxmlformats.org/drawingml/2006/main">
              <a:ext uri="{FF2B5EF4-FFF2-40B4-BE49-F238E27FC236}">
                <a16:creationId xmlns:a16="http://schemas.microsoft.com/office/drawing/2014/main" id="{3ABA7847-3FCC-43AE-9925-B7AF540A1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2762250"/>
            <a:ext cx="4953000" cy="533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drawio2pptx:shape:20">
            <a:extLst xmlns:a="http://schemas.openxmlformats.org/drawingml/2006/main">
              <a:ext uri="{FF2B5EF4-FFF2-40B4-BE49-F238E27FC236}">
                <a16:creationId xmlns:a16="http://schemas.microsoft.com/office/drawing/2014/main" id="{D588FA5C-AF46-4398-8C70-B510455B7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20600" y="2933700"/>
            <a:ext cx="449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显式结构约束</a:t>
            </a:r>
          </a:p>
        </p:txBody>
      </p:sp>
      <p:sp>
        <p:nvSpPr>
          <p:cNvPr id="21" name="drawio2pptx:shape:21">
            <a:extLst xmlns:a="http://schemas.openxmlformats.org/drawingml/2006/main">
              <a:ext uri="{FF2B5EF4-FFF2-40B4-BE49-F238E27FC236}">
                <a16:creationId xmlns:a16="http://schemas.microsoft.com/office/drawing/2014/main" id="{D2889670-82A0-4D68-B954-CAF913ED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20600" y="3352800"/>
            <a:ext cx="4495800" cy="453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布局热图不只是可视化，而是作为空间先验进入模型。
结构监督和后续结构探针共同服务于一个目标：避免模型只记住整字外观，而没有真正学会部件之间该怎样组合。</a:t>
            </a:r>
          </a:p>
        </p:txBody>
      </p:sp>
    </p:spTree>
    <p:extLst>
      <p:ext uri="{BB962C8B-B14F-4D97-AF65-F5344CB8AC3E}">
        <p14:creationId xmlns:p14="http://schemas.microsoft.com/office/powerpoint/2010/main" val="29697205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rawio2pptx:shape:2">
            <a:extLst xmlns:a="http://schemas.openxmlformats.org/drawingml/2006/main">
              <a:ext uri="{FF2B5EF4-FFF2-40B4-BE49-F238E27FC236}">
                <a16:creationId xmlns:a16="http://schemas.microsoft.com/office/drawing/2014/main" id="{9FA1F6C6-12C3-4181-9158-98FD1B0F6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drawio2pptx:shape:3">
            <a:extLst xmlns:a="http://schemas.openxmlformats.org/drawingml/2006/main">
              <a:ext uri="{FF2B5EF4-FFF2-40B4-BE49-F238E27FC236}">
                <a16:creationId xmlns:a16="http://schemas.microsoft.com/office/drawing/2014/main" id="{993BD4C8-365C-490F-BC6B-F50331F0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97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drawio2pptx:shape:4">
            <a:extLst xmlns:a="http://schemas.openxmlformats.org/drawingml/2006/main">
              <a:ext uri="{FF2B5EF4-FFF2-40B4-BE49-F238E27FC236}">
                <a16:creationId xmlns:a16="http://schemas.microsoft.com/office/drawing/2014/main" id="{4D597033-0AF0-439F-97A1-22CFE18B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0"/>
            <a:ext cx="18288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drawio2pptx:shape:5">
            <a:extLst xmlns:a="http://schemas.openxmlformats.org/drawingml/2006/main">
              <a:ext uri="{FF2B5EF4-FFF2-40B4-BE49-F238E27FC236}">
                <a16:creationId xmlns:a16="http://schemas.microsoft.com/office/drawing/2014/main" id="{3AA98EDF-E6F8-4659-BBC0-F98D11B2A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 b="1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07 拟解决的关键问题</a:t>
            </a:r>
          </a:p>
        </p:txBody>
      </p:sp>
      <p:sp>
        <p:nvSpPr>
          <p:cNvPr id="6" name="drawio2pptx:shape:6">
            <a:extLst xmlns:a="http://schemas.openxmlformats.org/drawingml/2006/main">
              <a:ext uri="{FF2B5EF4-FFF2-40B4-BE49-F238E27FC236}">
                <a16:creationId xmlns:a16="http://schemas.microsoft.com/office/drawing/2014/main" id="{254ADBB1-4E79-4B29-AFE6-6D123A33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906000"/>
            <a:ext cx="18288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drawio2pptx:shape:7">
            <a:extLst xmlns:a="http://schemas.openxmlformats.org/drawingml/2006/main">
              <a:ext uri="{FF2B5EF4-FFF2-40B4-BE49-F238E27FC236}">
                <a16:creationId xmlns:a16="http://schemas.microsoft.com/office/drawing/2014/main" id="{C73C46B2-9F57-43AB-8784-CF1F14542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0" y="99250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>
                <a:solidFill>
                  <a:srgbClr val="4A5568"/>
                </a:solidFill>
                <a:latin typeface="微软雅黑"/>
                <a:ea typeface="微软雅黑"/>
                <a:cs typeface="微软雅黑"/>
              </a:rPr>
              <a:t>2026 年 4 月</a:t>
            </a:r>
          </a:p>
        </p:txBody>
      </p:sp>
      <p:sp>
        <p:nvSpPr>
          <p:cNvPr id="8" name="drawio2pptx:shape:8">
            <a:extLst xmlns:a="http://schemas.openxmlformats.org/drawingml/2006/main">
              <a:ext uri="{FF2B5EF4-FFF2-40B4-BE49-F238E27FC236}">
                <a16:creationId xmlns:a16="http://schemas.microsoft.com/office/drawing/2014/main" id="{CBC5D681-0B72-44DA-9CEC-70130D947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33550"/>
            <a:ext cx="9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drawio2pptx:shape:9">
            <a:extLst xmlns:a="http://schemas.openxmlformats.org/drawingml/2006/main">
              <a:ext uri="{FF2B5EF4-FFF2-40B4-BE49-F238E27FC236}">
                <a16:creationId xmlns:a16="http://schemas.microsoft.com/office/drawing/2014/main" id="{33C4033D-E665-41DD-8774-91AAD466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714500"/>
            <a:ext cx="1085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75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真正困难的地方，不是“能不能出图”，而是“是否学会怎样组合”</a:t>
            </a:r>
          </a:p>
        </p:txBody>
      </p:sp>
      <p:sp>
        <p:nvSpPr>
          <p:cNvPr id="10" name="drawio2pptx:shape:10">
            <a:extLst xmlns:a="http://schemas.openxmlformats.org/drawingml/2006/main">
              <a:ext uri="{FF2B5EF4-FFF2-40B4-BE49-F238E27FC236}">
                <a16:creationId xmlns:a16="http://schemas.microsoft.com/office/drawing/2014/main" id="{437D7E03-F418-455D-9BB5-45C1B07F4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05125"/>
            <a:ext cx="4953000" cy="1809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drawio2pptx:shape:11">
            <a:extLst xmlns:a="http://schemas.openxmlformats.org/drawingml/2006/main">
              <a:ext uri="{FF2B5EF4-FFF2-40B4-BE49-F238E27FC236}">
                <a16:creationId xmlns:a16="http://schemas.microsoft.com/office/drawing/2014/main" id="{F72F577E-7163-4642-834D-0171CE3CC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71825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>
                <a:solidFill>
                  <a:srgbClr val="1F497D"/>
                </a:solidFill>
                <a:latin typeface="微软雅黑"/>
                <a:ea typeface="微软雅黑"/>
                <a:cs typeface="微软雅黑"/>
              </a:rPr>
              <a:t>多模态条件如何统一</a:t>
            </a:r>
          </a:p>
        </p:txBody>
      </p:sp>
      <p:sp>
        <p:nvSpPr>
          <p:cNvPr id="12" name="drawio2pptx:shape:12">
            <a:extLst xmlns:a="http://schemas.openxmlformats.org/drawingml/2006/main">
              <a:ext uri="{FF2B5EF4-FFF2-40B4-BE49-F238E27FC236}">
                <a16:creationId xmlns:a16="http://schemas.microsoft.com/office/drawing/2014/main" id="{5FA40DF5-DBB6-47C4-A36D-A9897E586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71875"/>
            <a:ext cx="1143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drawio2pptx:shape:13">
            <a:extLst xmlns:a="http://schemas.openxmlformats.org/drawingml/2006/main">
              <a:ext uri="{FF2B5EF4-FFF2-40B4-BE49-F238E27FC236}">
                <a16:creationId xmlns:a16="http://schemas.microsoft.com/office/drawing/2014/main" id="{D71A54A6-E813-43CE-9B9F-C16D0A055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05125"/>
            <a:ext cx="8858250" cy="1809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drawio2pptx:shape:14">
            <a:extLst xmlns:a="http://schemas.openxmlformats.org/drawingml/2006/main">
              <a:ext uri="{FF2B5EF4-FFF2-40B4-BE49-F238E27FC236}">
                <a16:creationId xmlns:a16="http://schemas.microsoft.com/office/drawing/2014/main" id="{31E08465-A60D-4780-B07D-B97AE7EB7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267075"/>
            <a:ext cx="8191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文本部件与图像部件在接口层和编码层同时保持兼容，避免训练过程出现条件割裂。</a:t>
            </a:r>
          </a:p>
        </p:txBody>
      </p:sp>
      <p:sp>
        <p:nvSpPr>
          <p:cNvPr id="15" name="drawio2pptx:shape:15">
            <a:extLst xmlns:a="http://schemas.openxmlformats.org/drawingml/2006/main">
              <a:ext uri="{FF2B5EF4-FFF2-40B4-BE49-F238E27FC236}">
                <a16:creationId xmlns:a16="http://schemas.microsoft.com/office/drawing/2014/main" id="{714C1EB6-4CE1-429B-A4C4-12815A4EE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48250"/>
            <a:ext cx="4953000" cy="1809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drawio2pptx:shape:16">
            <a:extLst xmlns:a="http://schemas.openxmlformats.org/drawingml/2006/main">
              <a:ext uri="{FF2B5EF4-FFF2-40B4-BE49-F238E27FC236}">
                <a16:creationId xmlns:a16="http://schemas.microsoft.com/office/drawing/2014/main" id="{5D293E19-DFC1-40FA-BF93-2B2BDA75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14950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>
                <a:solidFill>
                  <a:srgbClr val="1F497D"/>
                </a:solidFill>
                <a:latin typeface="微软雅黑"/>
                <a:ea typeface="微软雅黑"/>
                <a:cs typeface="微软雅黑"/>
              </a:rPr>
              <a:t>结构错误如何显式控制</a:t>
            </a:r>
          </a:p>
        </p:txBody>
      </p:sp>
      <p:sp>
        <p:nvSpPr>
          <p:cNvPr id="17" name="drawio2pptx:shape:17">
            <a:extLst xmlns:a="http://schemas.openxmlformats.org/drawingml/2006/main">
              <a:ext uri="{FF2B5EF4-FFF2-40B4-BE49-F238E27FC236}">
                <a16:creationId xmlns:a16="http://schemas.microsoft.com/office/drawing/2014/main" id="{87A93C7C-9459-4723-84CB-9CB73EBA3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715000"/>
            <a:ext cx="1143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drawio2pptx:shape:18">
            <a:extLst xmlns:a="http://schemas.openxmlformats.org/drawingml/2006/main">
              <a:ext uri="{FF2B5EF4-FFF2-40B4-BE49-F238E27FC236}">
                <a16:creationId xmlns:a16="http://schemas.microsoft.com/office/drawing/2014/main" id="{873602FA-F727-4A43-8142-84D1D7CE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0"/>
            <a:ext cx="8858250" cy="1809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drawio2pptx:shape:19">
            <a:extLst xmlns:a="http://schemas.openxmlformats.org/drawingml/2006/main">
              <a:ext uri="{FF2B5EF4-FFF2-40B4-BE49-F238E27FC236}">
                <a16:creationId xmlns:a16="http://schemas.microsoft.com/office/drawing/2014/main" id="{FE6C8EAD-2ADC-4D0C-84B8-994566D53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5410200"/>
            <a:ext cx="8191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通过布局热图、结构监督和辅助探针约束部件比例、位置关系和包围结构，降低“看起来像字但结构不对”的风险。</a:t>
            </a:r>
          </a:p>
        </p:txBody>
      </p:sp>
      <p:sp>
        <p:nvSpPr>
          <p:cNvPr id="20" name="drawio2pptx:shape:20">
            <a:extLst xmlns:a="http://schemas.openxmlformats.org/drawingml/2006/main">
              <a:ext uri="{FF2B5EF4-FFF2-40B4-BE49-F238E27FC236}">
                <a16:creationId xmlns:a16="http://schemas.microsoft.com/office/drawing/2014/main" id="{4FF50378-1DFA-4A45-B859-DB50DC5A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191375"/>
            <a:ext cx="4953000" cy="1809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drawio2pptx:shape:21">
            <a:extLst xmlns:a="http://schemas.openxmlformats.org/drawingml/2006/main">
              <a:ext uri="{FF2B5EF4-FFF2-40B4-BE49-F238E27FC236}">
                <a16:creationId xmlns:a16="http://schemas.microsoft.com/office/drawing/2014/main" id="{35F26586-C212-4505-8FC8-6F548B14B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7458075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>
                <a:solidFill>
                  <a:srgbClr val="1F497D"/>
                </a:solidFill>
                <a:latin typeface="微软雅黑"/>
                <a:ea typeface="微软雅黑"/>
                <a:cs typeface="微软雅黑"/>
              </a:rPr>
              <a:t>组合泛化如何被证明</a:t>
            </a:r>
          </a:p>
        </p:txBody>
      </p:sp>
      <p:sp>
        <p:nvSpPr>
          <p:cNvPr id="22" name="drawio2pptx:shape:22">
            <a:extLst xmlns:a="http://schemas.openxmlformats.org/drawingml/2006/main">
              <a:ext uri="{FF2B5EF4-FFF2-40B4-BE49-F238E27FC236}">
                <a16:creationId xmlns:a16="http://schemas.microsoft.com/office/drawing/2014/main" id="{F1331745-A2F1-4480-8B31-A35E8F56B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7858125"/>
            <a:ext cx="1143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drawio2pptx:shape:23">
            <a:extLst xmlns:a="http://schemas.openxmlformats.org/drawingml/2006/main">
              <a:ext uri="{FF2B5EF4-FFF2-40B4-BE49-F238E27FC236}">
                <a16:creationId xmlns:a16="http://schemas.microsoft.com/office/drawing/2014/main" id="{5CE55029-BC01-48D8-B786-17F99C5C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7191375"/>
            <a:ext cx="8858250" cy="1809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drawio2pptx:shape:24">
            <a:extLst xmlns:a="http://schemas.openxmlformats.org/drawingml/2006/main">
              <a:ext uri="{FF2B5EF4-FFF2-40B4-BE49-F238E27FC236}">
                <a16:creationId xmlns:a16="http://schemas.microsoft.com/office/drawing/2014/main" id="{B3B5FCAA-4C50-4B7F-B854-55DF8CC1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7553325"/>
            <a:ext cx="8191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把整字留出切分放到关键位置，结合结构正确性分析和典型案例，区分真正泛化与训练样本记忆。</a:t>
            </a:r>
          </a:p>
        </p:txBody>
      </p:sp>
    </p:spTree>
    <p:extLst>
      <p:ext uri="{BB962C8B-B14F-4D97-AF65-F5344CB8AC3E}">
        <p14:creationId xmlns:p14="http://schemas.microsoft.com/office/powerpoint/2010/main" val="1878182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rawio2pptx:shape:2">
            <a:extLst xmlns:a="http://schemas.openxmlformats.org/drawingml/2006/main">
              <a:ext uri="{FF2B5EF4-FFF2-40B4-BE49-F238E27FC236}">
                <a16:creationId xmlns:a16="http://schemas.microsoft.com/office/drawing/2014/main" id="{A32085BF-F275-4E7D-AD1F-5FD4A6C88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drawio2pptx:shape:3">
            <a:extLst xmlns:a="http://schemas.openxmlformats.org/drawingml/2006/main">
              <a:ext uri="{FF2B5EF4-FFF2-40B4-BE49-F238E27FC236}">
                <a16:creationId xmlns:a16="http://schemas.microsoft.com/office/drawing/2014/main" id="{A53CA0DE-4D6C-401F-A2A7-AF5F68C1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97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drawio2pptx:shape:4">
            <a:extLst xmlns:a="http://schemas.openxmlformats.org/drawingml/2006/main">
              <a:ext uri="{FF2B5EF4-FFF2-40B4-BE49-F238E27FC236}">
                <a16:creationId xmlns:a16="http://schemas.microsoft.com/office/drawing/2014/main" id="{08FED2D6-7E95-4431-AEFA-F62A97620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0"/>
            <a:ext cx="18288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drawio2pptx:shape:5">
            <a:extLst xmlns:a="http://schemas.openxmlformats.org/drawingml/2006/main">
              <a:ext uri="{FF2B5EF4-FFF2-40B4-BE49-F238E27FC236}">
                <a16:creationId xmlns:a16="http://schemas.microsoft.com/office/drawing/2014/main" id="{E4886BDF-9C29-4FF4-9007-BEE2DEFD1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 b="1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08 创新点与可行性分析</a:t>
            </a:r>
          </a:p>
        </p:txBody>
      </p:sp>
      <p:sp>
        <p:nvSpPr>
          <p:cNvPr id="6" name="drawio2pptx:shape:6">
            <a:extLst xmlns:a="http://schemas.openxmlformats.org/drawingml/2006/main">
              <a:ext uri="{FF2B5EF4-FFF2-40B4-BE49-F238E27FC236}">
                <a16:creationId xmlns:a16="http://schemas.microsoft.com/office/drawing/2014/main" id="{7AF1D62F-E00A-4A63-95AE-45CEFE72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906000"/>
            <a:ext cx="18288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drawio2pptx:shape:7">
            <a:extLst xmlns:a="http://schemas.openxmlformats.org/drawingml/2006/main">
              <a:ext uri="{FF2B5EF4-FFF2-40B4-BE49-F238E27FC236}">
                <a16:creationId xmlns:a16="http://schemas.microsoft.com/office/drawing/2014/main" id="{A3DFBE80-0BA8-4CCF-83DE-E5DB51AB7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0" y="99250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>
                <a:solidFill>
                  <a:srgbClr val="4A5568"/>
                </a:solidFill>
                <a:latin typeface="微软雅黑"/>
                <a:ea typeface="微软雅黑"/>
                <a:cs typeface="微软雅黑"/>
              </a:rPr>
              <a:t>2026 年 4 月</a:t>
            </a:r>
          </a:p>
        </p:txBody>
      </p:sp>
      <p:sp>
        <p:nvSpPr>
          <p:cNvPr id="8" name="drawio2pptx:shape:8">
            <a:extLst xmlns:a="http://schemas.openxmlformats.org/drawingml/2006/main">
              <a:ext uri="{FF2B5EF4-FFF2-40B4-BE49-F238E27FC236}">
                <a16:creationId xmlns:a16="http://schemas.microsoft.com/office/drawing/2014/main" id="{C2CBB845-7852-4625-B8F0-01E986B35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33550"/>
            <a:ext cx="9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drawio2pptx:shape:9">
            <a:extLst xmlns:a="http://schemas.openxmlformats.org/drawingml/2006/main">
              <a:ext uri="{FF2B5EF4-FFF2-40B4-BE49-F238E27FC236}">
                <a16:creationId xmlns:a16="http://schemas.microsoft.com/office/drawing/2014/main" id="{33B47C9E-8B7B-4A2E-8F4B-4F3CF2BA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714500"/>
            <a:ext cx="742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75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创新要讲清楚，可行性也要讲扎实</a:t>
            </a:r>
          </a:p>
        </p:txBody>
      </p:sp>
      <p:sp>
        <p:nvSpPr>
          <p:cNvPr id="10" name="drawio2pptx:shape:10">
            <a:extLst xmlns:a="http://schemas.openxmlformats.org/drawingml/2006/main">
              <a:ext uri="{FF2B5EF4-FFF2-40B4-BE49-F238E27FC236}">
                <a16:creationId xmlns:a16="http://schemas.microsoft.com/office/drawing/2014/main" id="{9899579A-D440-41F2-9E6B-4605B8A66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7239000" cy="5905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drawio2pptx:shape:11">
            <a:extLst xmlns:a="http://schemas.openxmlformats.org/drawingml/2006/main">
              <a:ext uri="{FF2B5EF4-FFF2-40B4-BE49-F238E27FC236}">
                <a16:creationId xmlns:a16="http://schemas.microsoft.com/office/drawing/2014/main" id="{76307A31-9EBB-4F0C-A6B8-E6CC0618C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028950"/>
            <a:ext cx="6781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创新点</a:t>
            </a:r>
          </a:p>
        </p:txBody>
      </p:sp>
      <p:sp>
        <p:nvSpPr>
          <p:cNvPr id="12" name="drawio2pptx:shape:12">
            <a:extLst xmlns:a="http://schemas.openxmlformats.org/drawingml/2006/main">
              <a:ext uri="{FF2B5EF4-FFF2-40B4-BE49-F238E27FC236}">
                <a16:creationId xmlns:a16="http://schemas.microsoft.com/office/drawing/2014/main" id="{3ACAAEA9-E76F-4F06-84E5-09A9ED7C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48050"/>
            <a:ext cx="6781800" cy="510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1. 把文本部件输入和图像部件输入统一到同一条件接口中。
2. 将结构标签、布局热图和结构监督显式引入生成过程，而不是完全依赖模型隐式学习。
3. 将整字留出切分放到更关键的位置，用组合泛化而不是单纯随机切分来检验方法是否成立。</a:t>
            </a:r>
          </a:p>
        </p:txBody>
      </p:sp>
      <p:sp>
        <p:nvSpPr>
          <p:cNvPr id="13" name="drawio2pptx:shape:13">
            <a:extLst xmlns:a="http://schemas.openxmlformats.org/drawingml/2006/main">
              <a:ext uri="{FF2B5EF4-FFF2-40B4-BE49-F238E27FC236}">
                <a16:creationId xmlns:a16="http://schemas.microsoft.com/office/drawing/2014/main" id="{99129F1F-67F9-4C94-92E0-E60524771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57500"/>
            <a:ext cx="8001000" cy="5905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drawio2pptx:shape:14">
            <a:extLst xmlns:a="http://schemas.openxmlformats.org/drawingml/2006/main">
              <a:ext uri="{FF2B5EF4-FFF2-40B4-BE49-F238E27FC236}">
                <a16:creationId xmlns:a16="http://schemas.microsoft.com/office/drawing/2014/main" id="{30E6B1F8-B095-460D-AF03-67207368E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028950"/>
            <a:ext cx="7543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可行性基础</a:t>
            </a:r>
          </a:p>
        </p:txBody>
      </p:sp>
      <p:sp>
        <p:nvSpPr>
          <p:cNvPr id="15" name="drawio2pptx:shape:15">
            <a:extLst xmlns:a="http://schemas.openxmlformats.org/drawingml/2006/main">
              <a:ext uri="{FF2B5EF4-FFF2-40B4-BE49-F238E27FC236}">
                <a16:creationId xmlns:a16="http://schemas.microsoft.com/office/drawing/2014/main" id="{26B36E6D-6D7D-42E7-BD35-91EA918E0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48050"/>
            <a:ext cx="7543800" cy="510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数据来源明确：公开字体与拆字表可以支持自动构造首版样本。
研究路线可控：先做条件 U-Net 基线，再推进到 VAE 与潜空间扩散。
工程基础已具备：仓库中已有 build_dataset、train_baseline、train_diffusion、run_demo 等脚本，说明这项工作不是从零起步。
风险应对清楚：先低分辨率跑通链路，再逐步提升标准分辨率，并把 OOV 验证控制在小样本轻量适配范围内。</a:t>
            </a:r>
          </a:p>
        </p:txBody>
      </p:sp>
    </p:spTree>
    <p:extLst>
      <p:ext uri="{BB962C8B-B14F-4D97-AF65-F5344CB8AC3E}">
        <p14:creationId xmlns:p14="http://schemas.microsoft.com/office/powerpoint/2010/main" val="50590415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rawio2pptx:shape:2">
            <a:extLst xmlns:a="http://schemas.openxmlformats.org/drawingml/2006/main">
              <a:ext uri="{FF2B5EF4-FFF2-40B4-BE49-F238E27FC236}">
                <a16:creationId xmlns:a16="http://schemas.microsoft.com/office/drawing/2014/main" id="{4AFA9ED8-30A4-4B5A-A19E-591923CC6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drawio2pptx:shape:3">
            <a:extLst xmlns:a="http://schemas.openxmlformats.org/drawingml/2006/main">
              <a:ext uri="{FF2B5EF4-FFF2-40B4-BE49-F238E27FC236}">
                <a16:creationId xmlns:a16="http://schemas.microsoft.com/office/drawing/2014/main" id="{56949B8C-CB6D-4634-AB9D-ECC12EE8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97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drawio2pptx:shape:4">
            <a:extLst xmlns:a="http://schemas.openxmlformats.org/drawingml/2006/main">
              <a:ext uri="{FF2B5EF4-FFF2-40B4-BE49-F238E27FC236}">
                <a16:creationId xmlns:a16="http://schemas.microsoft.com/office/drawing/2014/main" id="{C86103ED-8BF2-4048-B25B-5E13FBC2B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0"/>
            <a:ext cx="18288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drawio2pptx:shape:5">
            <a:extLst xmlns:a="http://schemas.openxmlformats.org/drawingml/2006/main">
              <a:ext uri="{FF2B5EF4-FFF2-40B4-BE49-F238E27FC236}">
                <a16:creationId xmlns:a16="http://schemas.microsoft.com/office/drawing/2014/main" id="{BBD5F5E4-1351-4F90-B2D1-8A6C84809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 b="1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09 研究计划与预期成果</a:t>
            </a:r>
          </a:p>
        </p:txBody>
      </p:sp>
      <p:sp>
        <p:nvSpPr>
          <p:cNvPr id="6" name="drawio2pptx:shape:6">
            <a:extLst xmlns:a="http://schemas.openxmlformats.org/drawingml/2006/main">
              <a:ext uri="{FF2B5EF4-FFF2-40B4-BE49-F238E27FC236}">
                <a16:creationId xmlns:a16="http://schemas.microsoft.com/office/drawing/2014/main" id="{784C7394-5315-464B-B434-E0E9CA918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906000"/>
            <a:ext cx="18288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drawio2pptx:shape:7">
            <a:extLst xmlns:a="http://schemas.openxmlformats.org/drawingml/2006/main">
              <a:ext uri="{FF2B5EF4-FFF2-40B4-BE49-F238E27FC236}">
                <a16:creationId xmlns:a16="http://schemas.microsoft.com/office/drawing/2014/main" id="{2C15E07C-21AC-43AE-B5CB-A67FA796E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0" y="99250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>
                <a:solidFill>
                  <a:srgbClr val="4A5568"/>
                </a:solidFill>
                <a:latin typeface="微软雅黑"/>
                <a:ea typeface="微软雅黑"/>
                <a:cs typeface="微软雅黑"/>
              </a:rPr>
              <a:t>2026 年 4 月</a:t>
            </a:r>
          </a:p>
        </p:txBody>
      </p:sp>
      <p:sp>
        <p:nvSpPr>
          <p:cNvPr id="8" name="drawio2pptx:shape:8">
            <a:extLst xmlns:a="http://schemas.openxmlformats.org/drawingml/2006/main">
              <a:ext uri="{FF2B5EF4-FFF2-40B4-BE49-F238E27FC236}">
                <a16:creationId xmlns:a16="http://schemas.microsoft.com/office/drawing/2014/main" id="{7BB4042D-C07F-4CE6-BD90-F42C1E6EB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33550"/>
            <a:ext cx="9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drawio2pptx:shape:9">
            <a:extLst xmlns:a="http://schemas.openxmlformats.org/drawingml/2006/main">
              <a:ext uri="{FF2B5EF4-FFF2-40B4-BE49-F238E27FC236}">
                <a16:creationId xmlns:a16="http://schemas.microsoft.com/office/drawing/2014/main" id="{34D2E68E-D67B-47EA-ACC2-5F05D6D07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714500"/>
            <a:ext cx="819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75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按阶段推进，保证每一步都能形成可复核结果</a:t>
            </a:r>
          </a:p>
        </p:txBody>
      </p:sp>
      <p:sp>
        <p:nvSpPr>
          <p:cNvPr id="10" name="drawio2pptx:shape:10">
            <a:extLst xmlns:a="http://schemas.openxmlformats.org/drawingml/2006/main">
              <a:ext uri="{FF2B5EF4-FFF2-40B4-BE49-F238E27FC236}">
                <a16:creationId xmlns:a16="http://schemas.microsoft.com/office/drawing/2014/main" id="{12DCBE58-07BE-4D65-A1C6-93DD1A958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10572750" cy="5905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drawio2pptx:shape:11">
            <a:extLst xmlns:a="http://schemas.openxmlformats.org/drawingml/2006/main">
              <a:ext uri="{FF2B5EF4-FFF2-40B4-BE49-F238E27FC236}">
                <a16:creationId xmlns:a16="http://schemas.microsoft.com/office/drawing/2014/main" id="{49D58762-949D-4CEC-94AF-B727BC16F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429000"/>
            <a:ext cx="2286000" cy="6286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497D"/>
          </a:solidFill>
          <a:ln xmlns:a="http://schemas.openxmlformats.org/drawingml/2006/main" w="9525">
            <a:solidFill>
              <a:srgbClr val="1F497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drawio2pptx:shape:12">
            <a:extLst xmlns:a="http://schemas.openxmlformats.org/drawingml/2006/main">
              <a:ext uri="{FF2B5EF4-FFF2-40B4-BE49-F238E27FC236}">
                <a16:creationId xmlns:a16="http://schemas.microsoft.com/office/drawing/2014/main" id="{E19C58E1-4ED2-464E-B58E-C64DBC3B4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42900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2026.04-2026.06</a:t>
            </a:r>
          </a:p>
        </p:txBody>
      </p:sp>
      <p:sp>
        <p:nvSpPr>
          <p:cNvPr id="13" name="drawio2pptx:shape:13">
            <a:extLst xmlns:a="http://schemas.openxmlformats.org/drawingml/2006/main">
              <a:ext uri="{FF2B5EF4-FFF2-40B4-BE49-F238E27FC236}">
                <a16:creationId xmlns:a16="http://schemas.microsoft.com/office/drawing/2014/main" id="{5A029167-5FDA-4A3C-ADF4-FC84A2AC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3375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文献梳理与任务收口</a:t>
            </a:r>
          </a:p>
        </p:txBody>
      </p:sp>
      <p:sp>
        <p:nvSpPr>
          <p:cNvPr id="14" name="drawio2pptx:shape:14">
            <a:extLst xmlns:a="http://schemas.openxmlformats.org/drawingml/2006/main">
              <a:ext uri="{FF2B5EF4-FFF2-40B4-BE49-F238E27FC236}">
                <a16:creationId xmlns:a16="http://schemas.microsoft.com/office/drawing/2014/main" id="{FC55D5A6-DB57-4F94-81CC-C45F99410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657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明确部件集合、结构标签、数据协议和实验划分方式。</a:t>
            </a:r>
          </a:p>
        </p:txBody>
      </p:sp>
      <p:sp>
        <p:nvSpPr>
          <p:cNvPr id="15" name="drawio2pptx:shape:15">
            <a:extLst xmlns:a="http://schemas.openxmlformats.org/drawingml/2006/main">
              <a:ext uri="{FF2B5EF4-FFF2-40B4-BE49-F238E27FC236}">
                <a16:creationId xmlns:a16="http://schemas.microsoft.com/office/drawing/2014/main" id="{D83A2AB9-4531-4A4F-A3A8-EBD247E1F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191000"/>
            <a:ext cx="133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drawio2pptx:shape:16">
            <a:extLst xmlns:a="http://schemas.openxmlformats.org/drawingml/2006/main">
              <a:ext uri="{FF2B5EF4-FFF2-40B4-BE49-F238E27FC236}">
                <a16:creationId xmlns:a16="http://schemas.microsoft.com/office/drawing/2014/main" id="{EA49499E-8507-4B61-B215-9EB51D8EE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457700"/>
            <a:ext cx="2286000" cy="6286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drawio2pptx:shape:17">
            <a:extLst xmlns:a="http://schemas.openxmlformats.org/drawingml/2006/main">
              <a:ext uri="{FF2B5EF4-FFF2-40B4-BE49-F238E27FC236}">
                <a16:creationId xmlns:a16="http://schemas.microsoft.com/office/drawing/2014/main" id="{5B99D1B3-AEF8-42DD-9DF5-E1A5DBE0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45770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>
                <a:solidFill>
                  <a:srgbClr val="1F497D"/>
                </a:solidFill>
                <a:latin typeface="微软雅黑"/>
                <a:ea typeface="微软雅黑"/>
                <a:cs typeface="微软雅黑"/>
              </a:rPr>
              <a:t>2026.07-2026.09</a:t>
            </a:r>
          </a:p>
        </p:txBody>
      </p:sp>
      <p:sp>
        <p:nvSpPr>
          <p:cNvPr id="18" name="drawio2pptx:shape:18">
            <a:extLst xmlns:a="http://schemas.openxmlformats.org/drawingml/2006/main">
              <a:ext uri="{FF2B5EF4-FFF2-40B4-BE49-F238E27FC236}">
                <a16:creationId xmlns:a16="http://schemas.microsoft.com/office/drawing/2014/main" id="{F5A4D5F5-530D-4CAA-89AE-09909505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6245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基线模型训练</a:t>
            </a:r>
          </a:p>
        </p:txBody>
      </p:sp>
      <p:sp>
        <p:nvSpPr>
          <p:cNvPr id="19" name="drawio2pptx:shape:19">
            <a:extLst xmlns:a="http://schemas.openxmlformats.org/drawingml/2006/main">
              <a:ext uri="{FF2B5EF4-FFF2-40B4-BE49-F238E27FC236}">
                <a16:creationId xmlns:a16="http://schemas.microsoft.com/office/drawing/2014/main" id="{0E44AC85-28F8-4FE3-9E0F-18B613775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43450"/>
            <a:ext cx="657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先在较低分辨率下跑通训练、保存、加载和推理全链路。</a:t>
            </a:r>
          </a:p>
        </p:txBody>
      </p:sp>
      <p:sp>
        <p:nvSpPr>
          <p:cNvPr id="20" name="drawio2pptx:shape:20">
            <a:extLst xmlns:a="http://schemas.openxmlformats.org/drawingml/2006/main">
              <a:ext uri="{FF2B5EF4-FFF2-40B4-BE49-F238E27FC236}">
                <a16:creationId xmlns:a16="http://schemas.microsoft.com/office/drawing/2014/main" id="{18721F24-AD65-4B01-A8FF-27703DCE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219700"/>
            <a:ext cx="133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drawio2pptx:shape:21">
            <a:extLst xmlns:a="http://schemas.openxmlformats.org/drawingml/2006/main">
              <a:ext uri="{FF2B5EF4-FFF2-40B4-BE49-F238E27FC236}">
                <a16:creationId xmlns:a16="http://schemas.microsoft.com/office/drawing/2014/main" id="{6735222A-85AD-4959-A939-ABA8D0354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486400"/>
            <a:ext cx="2286000" cy="6286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drawio2pptx:shape:22">
            <a:extLst xmlns:a="http://schemas.openxmlformats.org/drawingml/2006/main">
              <a:ext uri="{FF2B5EF4-FFF2-40B4-BE49-F238E27FC236}">
                <a16:creationId xmlns:a16="http://schemas.microsoft.com/office/drawing/2014/main" id="{8567B524-B5C5-4ACD-9449-B0D0FE3D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48640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>
                <a:solidFill>
                  <a:srgbClr val="1F497D"/>
                </a:solidFill>
                <a:latin typeface="微软雅黑"/>
                <a:ea typeface="微软雅黑"/>
                <a:cs typeface="微软雅黑"/>
              </a:rPr>
              <a:t>2026.10-2026.12</a:t>
            </a:r>
          </a:p>
        </p:txBody>
      </p:sp>
      <p:sp>
        <p:nvSpPr>
          <p:cNvPr id="23" name="drawio2pptx:shape:23">
            <a:extLst xmlns:a="http://schemas.openxmlformats.org/drawingml/2006/main">
              <a:ext uri="{FF2B5EF4-FFF2-40B4-BE49-F238E27FC236}">
                <a16:creationId xmlns:a16="http://schemas.microsoft.com/office/drawing/2014/main" id="{30AE41CB-92A0-4C60-BEB8-0BD981954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9115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主模型与核心对比</a:t>
            </a:r>
          </a:p>
        </p:txBody>
      </p:sp>
      <p:sp>
        <p:nvSpPr>
          <p:cNvPr id="24" name="drawio2pptx:shape:24">
            <a:extLst xmlns:a="http://schemas.openxmlformats.org/drawingml/2006/main">
              <a:ext uri="{FF2B5EF4-FFF2-40B4-BE49-F238E27FC236}">
                <a16:creationId xmlns:a16="http://schemas.microsoft.com/office/drawing/2014/main" id="{607618B5-B20B-4141-A37D-BC2B11B82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772150"/>
            <a:ext cx="657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完成 VAE 与潜空间扩散训练，开展整字留出条件下的核心实验。</a:t>
            </a:r>
          </a:p>
        </p:txBody>
      </p:sp>
      <p:sp>
        <p:nvSpPr>
          <p:cNvPr id="25" name="drawio2pptx:shape:25">
            <a:extLst xmlns:a="http://schemas.openxmlformats.org/drawingml/2006/main">
              <a:ext uri="{FF2B5EF4-FFF2-40B4-BE49-F238E27FC236}">
                <a16:creationId xmlns:a16="http://schemas.microsoft.com/office/drawing/2014/main" id="{E37FBF9F-CCF3-4540-BCEA-0FE8151A8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6248400"/>
            <a:ext cx="133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drawio2pptx:shape:26">
            <a:extLst xmlns:a="http://schemas.openxmlformats.org/drawingml/2006/main">
              <a:ext uri="{FF2B5EF4-FFF2-40B4-BE49-F238E27FC236}">
                <a16:creationId xmlns:a16="http://schemas.microsoft.com/office/drawing/2014/main" id="{4CA57488-7C32-4415-9A5B-D165006E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6515100"/>
            <a:ext cx="2286000" cy="6286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drawio2pptx:shape:27">
            <a:extLst xmlns:a="http://schemas.openxmlformats.org/drawingml/2006/main">
              <a:ext uri="{FF2B5EF4-FFF2-40B4-BE49-F238E27FC236}">
                <a16:creationId xmlns:a16="http://schemas.microsoft.com/office/drawing/2014/main" id="{CC73E9EC-F330-45D7-8681-29671EAE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651510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>
                <a:solidFill>
                  <a:srgbClr val="1F497D"/>
                </a:solidFill>
                <a:latin typeface="微软雅黑"/>
                <a:ea typeface="微软雅黑"/>
                <a:cs typeface="微软雅黑"/>
              </a:rPr>
              <a:t>2027.01-2027.02</a:t>
            </a:r>
          </a:p>
        </p:txBody>
      </p:sp>
      <p:sp>
        <p:nvSpPr>
          <p:cNvPr id="28" name="drawio2pptx:shape:28">
            <a:extLst xmlns:a="http://schemas.openxmlformats.org/drawingml/2006/main">
              <a:ext uri="{FF2B5EF4-FFF2-40B4-BE49-F238E27FC236}">
                <a16:creationId xmlns:a16="http://schemas.microsoft.com/office/drawing/2014/main" id="{D9CFA904-70DA-4646-BB22-27A7EB68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41985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扩展验证与演示整合</a:t>
            </a:r>
          </a:p>
        </p:txBody>
      </p:sp>
      <p:sp>
        <p:nvSpPr>
          <p:cNvPr id="29" name="drawio2pptx:shape:29">
            <a:extLst xmlns:a="http://schemas.openxmlformats.org/drawingml/2006/main">
              <a:ext uri="{FF2B5EF4-FFF2-40B4-BE49-F238E27FC236}">
                <a16:creationId xmlns:a16="http://schemas.microsoft.com/office/drawing/2014/main" id="{0DB09FD5-893C-42A4-8A47-29EC4E0A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800850"/>
            <a:ext cx="657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选取少量 OOV 样本进行图像条件适配与演示整合。</a:t>
            </a:r>
          </a:p>
        </p:txBody>
      </p:sp>
      <p:sp>
        <p:nvSpPr>
          <p:cNvPr id="30" name="drawio2pptx:shape:30">
            <a:extLst xmlns:a="http://schemas.openxmlformats.org/drawingml/2006/main">
              <a:ext uri="{FF2B5EF4-FFF2-40B4-BE49-F238E27FC236}">
                <a16:creationId xmlns:a16="http://schemas.microsoft.com/office/drawing/2014/main" id="{14EFA7BC-C6CE-4B8B-9A8A-BE80CE91D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7277100"/>
            <a:ext cx="133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drawio2pptx:shape:31">
            <a:extLst xmlns:a="http://schemas.openxmlformats.org/drawingml/2006/main">
              <a:ext uri="{FF2B5EF4-FFF2-40B4-BE49-F238E27FC236}">
                <a16:creationId xmlns:a16="http://schemas.microsoft.com/office/drawing/2014/main" id="{F1466CCF-80A9-45C1-AAD8-54FF2359C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7543800"/>
            <a:ext cx="2286000" cy="6286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drawio2pptx:shape:32">
            <a:extLst xmlns:a="http://schemas.openxmlformats.org/drawingml/2006/main">
              <a:ext uri="{FF2B5EF4-FFF2-40B4-BE49-F238E27FC236}">
                <a16:creationId xmlns:a16="http://schemas.microsoft.com/office/drawing/2014/main" id="{F6E8AAA8-DEB8-4D54-B7FA-EC5490CF3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754380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>
                <a:solidFill>
                  <a:srgbClr val="1F497D"/>
                </a:solidFill>
                <a:latin typeface="微软雅黑"/>
                <a:ea typeface="微软雅黑"/>
                <a:cs typeface="微软雅黑"/>
              </a:rPr>
              <a:t>2027.03-2027.05</a:t>
            </a:r>
          </a:p>
        </p:txBody>
      </p:sp>
      <p:sp>
        <p:nvSpPr>
          <p:cNvPr id="33" name="drawio2pptx:shape:33">
            <a:extLst xmlns:a="http://schemas.openxmlformats.org/drawingml/2006/main">
              <a:ext uri="{FF2B5EF4-FFF2-40B4-BE49-F238E27FC236}">
                <a16:creationId xmlns:a16="http://schemas.microsoft.com/office/drawing/2014/main" id="{E6B8548E-B75C-4452-B46E-7E07EC16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744855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论文写作与答辩准备</a:t>
            </a:r>
          </a:p>
        </p:txBody>
      </p:sp>
      <p:sp>
        <p:nvSpPr>
          <p:cNvPr id="34" name="drawio2pptx:shape:34">
            <a:extLst xmlns:a="http://schemas.openxmlformats.org/drawingml/2006/main">
              <a:ext uri="{FF2B5EF4-FFF2-40B4-BE49-F238E27FC236}">
                <a16:creationId xmlns:a16="http://schemas.microsoft.com/office/drawing/2014/main" id="{73FB762C-B9F9-4B9F-889E-FB188F010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7829550"/>
            <a:ext cx="657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完成图表整理、结果复核、论文写作和答辩材料收束。</a:t>
            </a:r>
          </a:p>
        </p:txBody>
      </p:sp>
      <p:sp>
        <p:nvSpPr>
          <p:cNvPr id="35" name="drawio2pptx:shape:35">
            <a:extLst xmlns:a="http://schemas.openxmlformats.org/drawingml/2006/main">
              <a:ext uri="{FF2B5EF4-FFF2-40B4-BE49-F238E27FC236}">
                <a16:creationId xmlns:a16="http://schemas.microsoft.com/office/drawing/2014/main" id="{C88EBD1F-FAFB-43B5-B1E8-0433FB94B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2857500"/>
            <a:ext cx="4762500" cy="5905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drawio2pptx:shape:36">
            <a:extLst xmlns:a="http://schemas.openxmlformats.org/drawingml/2006/main">
              <a:ext uri="{FF2B5EF4-FFF2-40B4-BE49-F238E27FC236}">
                <a16:creationId xmlns:a16="http://schemas.microsoft.com/office/drawing/2014/main" id="{458519E1-6CB6-471F-B51A-E270543C5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15850" y="3028950"/>
            <a:ext cx="4305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预期成果</a:t>
            </a:r>
          </a:p>
        </p:txBody>
      </p:sp>
      <p:sp>
        <p:nvSpPr>
          <p:cNvPr id="37" name="drawio2pptx:shape:37">
            <a:extLst xmlns:a="http://schemas.openxmlformats.org/drawingml/2006/main">
              <a:ext uri="{FF2B5EF4-FFF2-40B4-BE49-F238E27FC236}">
                <a16:creationId xmlns:a16="http://schemas.microsoft.com/office/drawing/2014/main" id="{30870BDD-7317-4BC6-8F12-9F594BBC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15850" y="3448050"/>
            <a:ext cx="4305300" cy="510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1. 形成覆盖数据准备、模型训练、评测和推理的研究原型。
2. 完成条件 U-Net 基线与潜空间扩散主模型的系统对比。
3. 建立以整字留出切分为核心的评测协议。
4. 通过小规模 OOV 扩展验证统一条件接口的可迁移性。
5. 完成硕士开题后的持续研究与论文写作材料。</a:t>
            </a:r>
          </a:p>
        </p:txBody>
      </p:sp>
    </p:spTree>
    <p:extLst>
      <p:ext uri="{BB962C8B-B14F-4D97-AF65-F5344CB8AC3E}">
        <p14:creationId xmlns:p14="http://schemas.microsoft.com/office/powerpoint/2010/main" val="143069787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rawio2pptx:shape:2">
            <a:extLst xmlns:a="http://schemas.openxmlformats.org/drawingml/2006/main">
              <a:ext uri="{FF2B5EF4-FFF2-40B4-BE49-F238E27FC236}">
                <a16:creationId xmlns:a16="http://schemas.microsoft.com/office/drawing/2014/main" id="{C7D89429-094E-4D63-9689-468D0FDA3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drawio2pptx:shape:3">
            <a:extLst xmlns:a="http://schemas.openxmlformats.org/drawingml/2006/main">
              <a:ext uri="{FF2B5EF4-FFF2-40B4-BE49-F238E27FC236}">
                <a16:creationId xmlns:a16="http://schemas.microsoft.com/office/drawing/2014/main" id="{79400874-0B77-492B-8427-C2D15E62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97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drawio2pptx:shape:4">
            <a:extLst xmlns:a="http://schemas.openxmlformats.org/drawingml/2006/main">
              <a:ext uri="{FF2B5EF4-FFF2-40B4-BE49-F238E27FC236}">
                <a16:creationId xmlns:a16="http://schemas.microsoft.com/office/drawing/2014/main" id="{5089EA23-6A1E-47B5-B8CF-C418C951B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0"/>
            <a:ext cx="18288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drawio2pptx:shape:5">
            <a:extLst xmlns:a="http://schemas.openxmlformats.org/drawingml/2006/main">
              <a:ext uri="{FF2B5EF4-FFF2-40B4-BE49-F238E27FC236}">
                <a16:creationId xmlns:a16="http://schemas.microsoft.com/office/drawing/2014/main" id="{FF2D94BF-33F6-4A11-A45E-E9B8A6E4F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43250"/>
            <a:ext cx="1257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50" b="1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感谢各位老师的聆听与指导</a:t>
            </a:r>
          </a:p>
        </p:txBody>
      </p:sp>
      <p:sp>
        <p:nvSpPr>
          <p:cNvPr id="6" name="drawio2pptx:shape:6">
            <a:extLst xmlns:a="http://schemas.openxmlformats.org/drawingml/2006/main">
              <a:ext uri="{FF2B5EF4-FFF2-40B4-BE49-F238E27FC236}">
                <a16:creationId xmlns:a16="http://schemas.microsoft.com/office/drawing/2014/main" id="{7515CC02-5CE9-4485-98DD-F83BD27A9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4767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650" b="1" i="0" u="none">
                <a:solidFill>
                  <a:srgbClr val="1F497D"/>
                </a:solidFill>
                <a:latin typeface="微软雅黑"/>
                <a:ea typeface="微软雅黑"/>
                <a:cs typeface="微软雅黑"/>
              </a:rPr>
              <a:t>Q &amp; A</a:t>
            </a:r>
          </a:p>
        </p:txBody>
      </p:sp>
      <p:sp>
        <p:nvSpPr>
          <p:cNvPr id="7" name="drawio2pptx:shape:7">
            <a:extLst xmlns:a="http://schemas.openxmlformats.org/drawingml/2006/main">
              <a:ext uri="{FF2B5EF4-FFF2-40B4-BE49-F238E27FC236}">
                <a16:creationId xmlns:a16="http://schemas.microsoft.com/office/drawing/2014/main" id="{94943163-0CB9-473B-B158-7A827D22C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6572250"/>
            <a:ext cx="1143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i="0" u="none">
                <a:solidFill>
                  <a:srgbClr val="4A5568"/>
                </a:solidFill>
                <a:latin typeface="微软雅黑"/>
                <a:ea typeface="微软雅黑"/>
                <a:cs typeface="微软雅黑"/>
              </a:rPr>
              <a:t>汇报人：黄子涵    指导教师：白凤波    2026 年 4 月</a:t>
            </a:r>
          </a:p>
        </p:txBody>
      </p:sp>
      <p:sp>
        <p:nvSpPr>
          <p:cNvPr id="8" name="drawio2pptx:shape:8">
            <a:extLst xmlns:a="http://schemas.openxmlformats.org/drawingml/2006/main">
              <a:ext uri="{FF2B5EF4-FFF2-40B4-BE49-F238E27FC236}">
                <a16:creationId xmlns:a16="http://schemas.microsoft.com/office/drawing/2014/main" id="{06512ECE-7581-4EFC-BE91-C23A9B46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7334250"/>
            <a:ext cx="800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19050" rIns="0" bIns="1905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>
                <a:solidFill>
                  <a:srgbClr val="1A1A2E"/>
                </a:solidFill>
                <a:latin typeface="微软雅黑"/>
                <a:ea typeface="微软雅黑"/>
                <a:cs typeface="微软雅黑"/>
              </a:rPr>
              <a:t>请各位老师批评指正</a:t>
            </a:r>
          </a:p>
        </p:txBody>
      </p:sp>
    </p:spTree>
    <p:extLst>
      <p:ext uri="{BB962C8B-B14F-4D97-AF65-F5344CB8AC3E}">
        <p14:creationId xmlns:p14="http://schemas.microsoft.com/office/powerpoint/2010/main" val="180415619"/>
      </p:ext>
    </p:extLst>
  </p:cSld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2026-04-21T07:45:25.4120000Z</dcterms:created>
  <dcterms:modified xsi:type="dcterms:W3CDTF">2026-04-21T07:45:25.4120000Z</dcterms:modified>
</coreProperties>
</file>